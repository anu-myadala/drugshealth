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-1371600"/>
            <a:ext cx="4572000" cy="4572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2286000"/>
            <a:ext cx="2743200" cy="2743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0" y="4114800"/>
            <a:ext cx="3200400" cy="32004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0F4F8"/>
                </a:solidFill>
              </a:rPr>
              <a:t>GLP-1 Gastrointestinal Adverse Events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2C39A"/>
                </a:solidFill>
              </a:rPr>
              <a:t>A Pharmacovigilance Data Mining Study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34640"/>
            <a:ext cx="274320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BCD1"/>
                </a:solidFill>
              </a:rPr>
              <a:t>FDA FAERS 2023Q1 – 2026Q1  ·  13 Quarters  ·  Star-Schema Data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2C39A"/>
                </a:solidFill>
              </a:rPr>
              <a:t>CMPE 255 — Data Mining  ·  Dr. Bhaskar  ·  SJSU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371600" cy="34747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950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Semaglutide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3931920"/>
            <a:ext cx="1371600" cy="34747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3950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Tirzepatide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3931920"/>
            <a:ext cx="1371600" cy="34747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3950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Liraglutide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3931920"/>
            <a:ext cx="1371600" cy="3474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950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Dulaglutide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0" cy="34747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502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Exenatide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77724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52628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</a:rPr>
              <a:t>Biological Mechanism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864608"/>
            <a:ext cx="749807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0F4F8"/>
                </a:solidFill>
              </a:rPr>
              <a:t>GLP-1 receptor agonists slow gastric emptying via vagal nerve suppression and direct gut motility inhibition — the intended anti-obesity mechanism. This same mechanism predisposes patients to gastroparesis, bowel obstruction, and severe pancreatitis, particularly in high-risk subpopulations.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Problem Statement &amp; Research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F0F4F8"/>
                </a:solidFill>
              </a:rPr>
              <a:t>▸  GLP-1 receptor agonists (Semaglutide, Tirzepatide, Liraglutide) are among the fastest-growing drug classes globally — yet their gastrointestinal risk profile remains incompletely characterized in real-world populations.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F0F4F8"/>
                </a:solidFill>
              </a:rPr>
              <a:t>▸  FDA labels do not fully quantify the incidence or risk factors for severe GI events (gastroparesis, bowel obstruction, pancreatitis, ileus) in high-risk subpopulations.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F0F4F8"/>
                </a:solidFill>
              </a:rPr>
              <a:t>▸  Target: Quantify GI adverse event risk using 3+ years of FDA FAERS spontaneous reporting data via the Proportional Reporting Ratio (PRR) — the core pharmacovigilance signal metric.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F0F4F8"/>
                </a:solidFill>
              </a:rPr>
              <a:t>▸  Classification target: Predict which GLP-1 adverse event reports will escalate to Hospitalization / Life-Threatening status (severity_flag = 1).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F0F4F8"/>
                </a:solidFill>
              </a:rPr>
              <a:t>▸  Association target: Discover concurrent medication combinations that amplify GI risk (e.g., {GLP-1 + Opioid} → {Severe GI Event}).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F0F4F8"/>
                </a:solidFill>
              </a:rPr>
              <a:t>▸  Hypothesis: GLP-1 users exhibit PRR &gt; 2 for severe GI terms vs metformin controls, constituting a WHO-UMC regulatory pharmacovigilance signal.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Data Sources — FDA FAERS ASCII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2023Q1</a:t>
            </a:r>
          </a:p>
        </p:txBody>
      </p:sp>
      <p:sp>
        <p:nvSpPr>
          <p:cNvPr id="8" name="Rectangle 7"/>
          <p:cNvSpPr/>
          <p:nvPr/>
        </p:nvSpPr>
        <p:spPr>
          <a:xfrm>
            <a:off x="2075688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2023Q2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94176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9896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2023Q3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12664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8384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2023Q4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1152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2024Q1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2024Q2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68128" y="146304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13848" y="150876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2024Q3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965960"/>
            <a:ext cx="146304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01168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0F4F8"/>
                </a:solidFill>
              </a:rPr>
              <a:t>2024Q4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5688" y="1965960"/>
            <a:ext cx="1463040" cy="3840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1408" y="201168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2025Q1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94176" y="1965960"/>
            <a:ext cx="1463040" cy="3840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9896" y="201168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2025Q2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12664" y="1965960"/>
            <a:ext cx="1463040" cy="3840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201168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2025Q3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31152" y="1965960"/>
            <a:ext cx="1463040" cy="3840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201168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2025Q4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965960"/>
            <a:ext cx="1463040" cy="3840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2011680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2026Q1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2606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Tables Used Per Quarter: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880360"/>
            <a:ext cx="100584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8986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290779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Demographics: age, sex, weight, country, event 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447288"/>
            <a:ext cx="100584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46557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DRUG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347472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Medications: active ingredient, route, dose, role code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014216"/>
            <a:ext cx="100584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0325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REAC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404164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Reactions: MedDRA preferred terms (GI filtering)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81144"/>
            <a:ext cx="100584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59943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OUTC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460857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Outcomes: DE/LT/HO/DS severity codes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148072"/>
            <a:ext cx="100584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166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THER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517550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Therapy dates: drug start → time-to-onset calculation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98079" y="1463040"/>
            <a:ext cx="438912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0" y="1508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Dataset Scope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2C39A"/>
                </a:solidFill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0" y="202996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Quarters (2023–2026)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267919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2C39A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61120" y="27432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GLP-1 Active Ingredients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39242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2C39A"/>
                </a:solidFill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0" y="345643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Control Drug Classes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410565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2C39A"/>
                </a:solidFill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41696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GI MedDRA Terms Filtered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48188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2C39A"/>
                </a:solidFill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4882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FAERS Tables Per Quarter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55321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2C39A"/>
                </a:solidFill>
              </a:rPr>
              <a:t>~3.5yr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61120" y="559612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Surveillance Window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DATA WAREHOUSE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Star Schema Data Warehouse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2651760"/>
            <a:ext cx="2743200" cy="1463040"/>
          </a:xfrm>
          <a:prstGeom prst="rect">
            <a:avLst/>
          </a:prstGeom>
          <a:solidFill>
            <a:srgbClr val="02C39A"/>
          </a:solidFill>
          <a:ln w="254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26974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A1628"/>
                </a:solidFill>
              </a:rPr>
              <a:t>FACT_ADVERSE_EVENT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312724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primaryid (PK)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3101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time_key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49300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drug_key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67588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reaction_key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85876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severity_flag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404164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gi_severe_flag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2245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628"/>
                </a:solidFill>
              </a:rPr>
              <a:t>· polypharmacy_count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417320"/>
            <a:ext cx="292608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463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</a:rPr>
              <a:t>DIM_PATIENT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80136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primaryid (FK)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04825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age_yr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29514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wt_kg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5420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sex_clean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reporter_country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0358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event_dt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28117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BCD1"/>
                </a:solidFill>
              </a:rPr>
              <a:t>FK 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80560"/>
            <a:ext cx="292608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2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</a:rPr>
              <a:t>DIM_DRUG_PROFILE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64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primaryid (FK)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1114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glp1_drug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3583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is_glp1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6052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is_control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85216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concurrent_opioid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43434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BCD1"/>
                </a:solidFill>
              </a:rPr>
              <a:t>FK 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1417320"/>
            <a:ext cx="292608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0" y="1463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</a:rPr>
              <a:t>DIM_REACTION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180136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primaryid (FK)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204825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pt (MedDRA)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29514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is_gi_severe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54203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gi_term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27889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is_gi_broad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28117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BCD1"/>
                </a:solidFill>
              </a:rPr>
              <a:t>FK 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0" y="4480560"/>
            <a:ext cx="292608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0" y="4526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</a:rPr>
              <a:t>DIM_TIME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4864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time_key (PK)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511149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quarter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535838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year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5605272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fda_dt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3960" y="585216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drug_start_dt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609904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F0F4F8"/>
                </a:solidFill>
              </a:rPr>
              <a:t>· time_to_onset_days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3434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BCD1"/>
                </a:solidFill>
              </a:rPr>
              <a:t>FK 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ABCD1"/>
                </a:solidFill>
              </a:rPr>
              <a:t>Storage: SQLite (dev)  /  PostgreSQL (prod)  ·  ETL: Python / Pandas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Data Preprocessing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286000" cy="777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9047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</a:rPr>
              <a:t>1. DEDUPLICATION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490472"/>
            <a:ext cx="9052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FAERS receives duplicate reports (doctor + patient for same event). Group by caseid, keep record with latest fda_dt (FDA receive date). Applied globally across all 13 quarters after concatenation.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2286000" cy="7772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45059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</a:rPr>
              <a:t>2. DRUG FILTERING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450592"/>
            <a:ext cx="9052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Filter prod_ai column for GLP-1 active ingredients: SEMAGLUTIDE, LIRAGLUTIDE, DULAGLUTIDE, TIRZEPATIDE, EXENATIDE. Control group: METFORMIN, SITAGLIPTIN, EMPAGLIFLOZIN, DAPAGLIFLOZIN, GLIPIZIDE, GLIMEPIRIDE.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2286000" cy="777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1071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</a:rPr>
              <a:t>3. MEDDRA REACTION FILTERING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410712"/>
            <a:ext cx="9052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Filter REAC.pt (Preferred Term) for GI-specific terms: GASTROPARESIS, PANCREATITIS, INTESTINAL OBSTRUCTION, BOWEL OBSTRUCTION, ILEUS, DELAYED GASTRIC EMPTYING, PARALYTIC ILEUS, NECROTISING PANCREATITIS.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2286000" cy="777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37083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</a:rPr>
              <a:t>4. IMPUTATION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370832"/>
            <a:ext cx="9052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Missing age and weight: median imputation grouped by sex_clean × cohort. Fallback: global median. Missing primary drug name: row dropped. Age standardized to years (YR/MON/WK/DY/DEC/HR codes handled).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257800"/>
            <a:ext cx="2286000" cy="77724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330952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628"/>
                </a:solidFill>
              </a:rPr>
              <a:t>5. FEATURE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5330952"/>
            <a:ext cx="9052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Polypharmacy_Count: distinct drugs per patient. Concurrent_Opioid flag (OXYCODONE, HYDROCODONE, MORPHINE, FENTANYL, etc.). Time_to_Onset_Days: min(drug start date) → event date. Age × Weight interaction. Log(polypharmacy).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EDA &amp; Statistical Testing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9047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96167"/>
                </a:solidFill>
              </a:rPr>
              <a:t>3.25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PRR (GLP-1 vs Ctrl)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141732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49047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</a:rPr>
              <a:t>p&lt;0.001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116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Chi-Square p-value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41732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49047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9C74F"/>
                </a:solidFill>
              </a:rPr>
              <a:t>p=0.7034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116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Mann-Whitney 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047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96167"/>
                </a:solidFill>
              </a:rPr>
              <a:t>10.03%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GLP-1 GI Event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41732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49047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</a:rPr>
              <a:t>3.08%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0116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Control GI Event 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87000" y="1417320"/>
            <a:ext cx="18288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78440" y="149047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9C74F"/>
                </a:solidFill>
              </a:rPr>
              <a:t>✅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20116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WHO-UMC PRR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5146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Chi-Square Test of Independence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78892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H₀: GI event incidence is independent of GLP-1 vs Control drug use.
Result: χ²(1) = 350.0928, p &lt;0.001.
Cramér's V = 0.1161 — Moderate effect size.
Conclusion: Reject H₀ — significant association between GLP-1 use and GI events.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514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</a:rPr>
              <a:t>PRR &amp; Mann-Whitney U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78892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PRR = 3.25 (95% CI 2.847–3.719) vs Metformin control.
PRR &gt; 2 + χ² &gt; 4 + n ≥ 3 → WHO-UMC pharmacovigilance signal detected.
Mann-Whitney U: Weight of severe GI patients (100.5 kg median) vs
non-severe (101.1 kg median), p 0.7034189646835174.
Effect size r = -0.0054 — Higher weight ↔ severe GI risk.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</a:rPr>
              <a:t>→ See dashboard for interactive PRR forest plot, age distributions &amp; quarterly trend charts</a:t>
            </a:r>
          </a:p>
        </p:txBody>
      </p:sp>
      <p:pic>
        <p:nvPicPr>
          <p:cNvPr id="29" name="Picture 28" descr="ag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92040"/>
            <a:ext cx="5486400" cy="1737360"/>
          </a:xfrm>
          <a:prstGeom prst="rect">
            <a:avLst/>
          </a:prstGeom>
        </p:spPr>
      </p:pic>
      <p:pic>
        <p:nvPicPr>
          <p:cNvPr id="30" name="Picture 29" descr="prr_forest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4892040"/>
            <a:ext cx="566928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Interactive Dashboard — glp1_dashboard.html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📊 Quarterly Trend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GLP-1 reports &amp; GI rate by quarter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5544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🌡️ PRR Forest Plot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PRR per drug vs Metformin 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📦 Weight Boxplots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Severe vs non-severe GI event weight distribution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46304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5544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2C39A"/>
                </a:solidFill>
              </a:rPr>
              <a:t>☀️ Severity Sunburst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0116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Drug → GI event → outcome hierarchy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49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</a:rPr>
              <a:t>🎯 Cluster Scatter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K-Means PCA 2D patient phenotype map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65760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49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</a:rPr>
              <a:t>📈 ROC Curves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206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LR vs Random Forest AUC comparison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65760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749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</a:rPr>
              <a:t>⚕️ Risk Calculator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06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Patient inputs → RF model → hospitalization probability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3657600"/>
            <a:ext cx="27432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374904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9C74F"/>
                </a:solidFill>
              </a:rPr>
              <a:t>🔗 Apriori Bubbles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20624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0F4F8"/>
                </a:solidFill>
              </a:rPr>
              <a:t>Drug co-occurrence rules: support vs confidence vs lift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ABCD1"/>
                </a:solidFill>
              </a:rPr>
              <a:t>Technology stack: Python · Plotly · Pandas · scikit-learn  |  Deployment: Static HTML (GitHub Pages ready)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DATA MINING · ASSOCIATION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Apriori Algorithm — Drug Co-occurrence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</a:rPr>
              <a:t>Implementation: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Market basket: each patient = 1 transaction containing their concurrent drug list + outcome label.
Items: top-40 concurrent medications + 'HOSPITALIZED' + 'GI_SEVERE_EVENT' flags.
Parameters: min_support=0.02, min_confidence=0.40, min_lift=1.3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310896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7249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</a:rPr>
              <a:t>Antecedent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697480"/>
            <a:ext cx="219456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72491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</a:rPr>
              <a:t>Consequent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2697480"/>
            <a:ext cx="9144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72491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</a:rPr>
              <a:t>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697480"/>
            <a:ext cx="109728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72491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</a:rPr>
              <a:t>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2697480"/>
            <a:ext cx="82296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27249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</a:rPr>
              <a:t>Lift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44952"/>
            <a:ext cx="8229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998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{Semaglutide, Ondansetron}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0998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{Hospitalization}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309981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09981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3099816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96167"/>
                </a:solidFill>
              </a:rPr>
              <a:t>2.85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57530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{GLP-1, Opioid}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5753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{GI Severe Event}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6440" y="357530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57530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575304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96167"/>
                </a:solidFill>
              </a:rPr>
              <a:t>3.12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995928"/>
            <a:ext cx="8229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05079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{Polypharmacy ≥8}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050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{Serious Outcome}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405079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05079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0.74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050792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9C74F"/>
                </a:solidFill>
              </a:rPr>
              <a:t>2.44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471416"/>
            <a:ext cx="822960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5262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{Tirzepatide, Metoclopramide}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45262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{Gastroparesis}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45262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5262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0.66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4526280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9C74F"/>
                </a:solidFill>
              </a:rPr>
              <a:t>2.31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46904"/>
            <a:ext cx="8229600" cy="45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00176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{Liraglutide, Pantoprazole}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50017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{Hospitalization}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500176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0017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0.62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5001768"/>
            <a:ext cx="731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9C74F"/>
                </a:solidFill>
              </a:rPr>
              <a:t>2.18</a:t>
            </a:r>
          </a:p>
        </p:txBody>
      </p:sp>
      <p:pic>
        <p:nvPicPr>
          <p:cNvPr id="48" name="Picture 47" descr="apriori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417320"/>
            <a:ext cx="3200400" cy="41148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57200" y="6126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9C74F"/>
                </a:solidFill>
              </a:rPr>
              <a:t>Key Insight: Patients co-prescribed opioids with GLP-1s face 3.1× higher GI severe event reporting — both drug classes independently delay gastric emptying, creating compounding risk.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DATA MINING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K-Means Patient Phenotype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0F4F8"/>
                </a:solidFill>
              </a:rPr>
              <a:t>Features: Age, Weight, Polypharmacy Count, Concurrent Opioid, Time-to-Onset, Sex
Optimal k=3 (silhouette method)  ·  Silhouette = 0.341  ·  Davies-Bouldin = 0.872
StandardScaler normalization applied before KMeans (n_init=10, random_state=42)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2560320" cy="2468880"/>
          </a:xfrm>
          <a:prstGeom prst="rect">
            <a:avLst/>
          </a:prstGeom>
          <a:solidFill>
            <a:srgbClr val="1E293B"/>
          </a:solidFill>
          <a:ln w="254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2560320" cy="34747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5915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Cluster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Age ~52y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906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Weight ~88kg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1985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Polypharmacy ~3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49040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Opioid ~8%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78224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GI Severe ~6%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074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Hospitalization ~14%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331720"/>
            <a:ext cx="2560320" cy="2468880"/>
          </a:xfrm>
          <a:prstGeom prst="rect">
            <a:avLst/>
          </a:prstGeom>
          <a:solidFill>
            <a:srgbClr val="1E293B"/>
          </a:solidFill>
          <a:ln w="254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2331720"/>
            <a:ext cx="2560320" cy="347472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35915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Cluster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Age ~62y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0906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Weight ~98kg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41985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Polypharmacy ~5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3749040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Opioid ~18%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4078224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GI Severe ~14%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4074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Hospitalization ~28%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2331720"/>
            <a:ext cx="2560320" cy="2468880"/>
          </a:xfrm>
          <a:prstGeom prst="rect">
            <a:avLst/>
          </a:prstGeom>
          <a:solidFill>
            <a:srgbClr val="1E293B"/>
          </a:solidFill>
          <a:ln w="254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2331720"/>
            <a:ext cx="2560320" cy="347472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0" y="235915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Cluster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76148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Age ~71y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3090672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Weight ~112kg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3419856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Polypharmacy ~9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3749040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Opioid ~34%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4078224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GI Severe ~28%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407408"/>
            <a:ext cx="2286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0F4F8"/>
                </a:solidFill>
              </a:rPr>
              <a:t>· Hospitalization ~44%</a:t>
            </a:r>
          </a:p>
        </p:txBody>
      </p:sp>
      <p:pic>
        <p:nvPicPr>
          <p:cNvPr id="34" name="Picture 33" descr="kmeans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417320"/>
            <a:ext cx="3200400" cy="3383280"/>
          </a:xfrm>
          <a:prstGeom prst="rect">
            <a:avLst/>
          </a:prstGeom>
        </p:spPr>
      </p:pic>
      <p:pic>
        <p:nvPicPr>
          <p:cNvPr id="35" name="Picture 34" descr="kmeans_profile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937760"/>
            <a:ext cx="11430000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DATA MINING ·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Logistic Regression &amp; Random Forest — Severity Prediction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7432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447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ABCD1"/>
                </a:solidFill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417320"/>
            <a:ext cx="27432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4447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2C39A"/>
                </a:solidFill>
              </a:rPr>
              <a:t>Logistic Regression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17320"/>
            <a:ext cx="27432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44752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2C39A"/>
                </a:solidFill>
              </a:rPr>
              <a:t>Random Forest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64792"/>
            <a:ext cx="8229600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196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ABCD1"/>
                </a:solidFill>
              </a:rPr>
              <a:t>ROC-AUC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8196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9C74F"/>
                </a:solidFill>
              </a:rPr>
              <a:t>0.7234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8196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2C39A"/>
                </a:solidFill>
              </a:rPr>
              <a:t>0.8437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4942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ABCD1"/>
                </a:solidFill>
              </a:rPr>
              <a:t>F1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24942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9C74F"/>
                </a:solidFill>
              </a:rPr>
              <a:t>0.6512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4942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2C39A"/>
                </a:solidFill>
              </a:rPr>
              <a:t>0.7731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24328"/>
            <a:ext cx="8229600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67919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ABCD1"/>
                </a:solidFill>
              </a:rPr>
              <a:t>Recall*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7919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9C74F"/>
                </a:solidFill>
              </a:rPr>
              <a:t>0.6841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7919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2C39A"/>
                </a:solidFill>
              </a:rPr>
              <a:t>0.7912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54096"/>
            <a:ext cx="8229600" cy="4114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108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ABCD1"/>
                </a:solidFill>
              </a:rPr>
              <a:t>Precision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08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0.6218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108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0F4F8"/>
                </a:solidFill>
              </a:rPr>
              <a:t>0.7558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83864"/>
            <a:ext cx="8229600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5387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ABCD1"/>
                </a:solidFill>
              </a:rPr>
              <a:t>5-Fold CV AUC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387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F9C74F"/>
                </a:solidFill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35387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2C39A"/>
                </a:solidFill>
              </a:rPr>
              <a:t>0.838 ±0.018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ABCD1"/>
                </a:solidFill>
              </a:rPr>
              <a:t>* Recall is the primary metric — in medical surveillance, missing a high-risk patient (FN) is more costly than a false alarm (FP).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2C39A"/>
                </a:solidFill>
              </a:rPr>
              <a:t>LR Key Insight (Coefficients):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34340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Concurrent Opioid: OR ~3.2  ·  Polypharmacy: OR ~1.18 per drug  ·  GI Severe Flag: OR ~4.1  ·  Age &gt;65: OR ~2.1
RF Top Features: Polypharmacy count (0.18) &gt; Age (0.15) &gt; Weight (0.14) &gt; Opioid flag (0.12)</a:t>
            </a:r>
          </a:p>
        </p:txBody>
      </p:sp>
      <p:pic>
        <p:nvPicPr>
          <p:cNvPr id="35" name="Picture 34" descr="classific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417320"/>
            <a:ext cx="3383280" cy="3200400"/>
          </a:xfrm>
          <a:prstGeom prst="rect">
            <a:avLst/>
          </a:prstGeom>
        </p:spPr>
      </p:pic>
      <p:pic>
        <p:nvPicPr>
          <p:cNvPr id="36" name="Picture 35" descr="lr_coeffic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663440"/>
            <a:ext cx="33832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RESULTS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Results &amp; Model Evaluation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0574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90472"/>
            <a:ext cx="1874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96167"/>
                </a:solidFill>
              </a:rPr>
              <a:t>3.25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GLP-1 PRR
vs Metformin | WHO-UMC Signal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17320"/>
            <a:ext cx="20574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490472"/>
            <a:ext cx="1874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</a:rPr>
              <a:t>0.844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1168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RF ROC-AUC
Random Forest | 80/20 split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17320"/>
            <a:ext cx="20574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490472"/>
            <a:ext cx="1874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9C74F"/>
                </a:solidFill>
              </a:rPr>
              <a:t>0.791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201168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RF Recall
Primary metric | min false negatives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1417320"/>
            <a:ext cx="20574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490472"/>
            <a:ext cx="1874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2C39A"/>
                </a:solidFill>
              </a:rPr>
              <a:t>0.341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011680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ABCD1"/>
                </a:solidFill>
              </a:rPr>
              <a:t>Silhouette
K-Means k=3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06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F0F4F8"/>
                </a:solidFill>
              </a:rPr>
              <a:t>▸  PRR Analysis: GLP-1 agonists meet the WHO-UMC pharmacovigilance signal threshold (PRR &gt; 2, χ² &gt; 4, n ≥ 3) for gastroparesis, bowel obstruction, and pancreatitis vs metformin-class controls across 13 FAERS quarters.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F0F4F8"/>
                </a:solidFill>
              </a:rPr>
              <a:t>▸  Apriori Finding: {GLP-1 + Opioid} → {GI Severe Event} shows lift ~3.1 — the strongest drug-combination signal. Clinicians should proactively monitor this combination.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F0F4F8"/>
                </a:solidFill>
              </a:rPr>
              <a:t>▸  K-Means (k=3): Older females (65+y) with ≥6 concurrent medications and concurrent opioid form the High-Risk Vulnerable cluster with 28% GI event rate and 44% hospitalization rate.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F0F4F8"/>
                </a:solidFill>
              </a:rPr>
              <a:t>▸  Random Forest outperforms Logistic Regression on all metrics — Recall 0.79 vs 0.68, AUC 0.84 vs 0.72 — while LR provides interpretable OR coefficients for clinical communication.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F0F4F8"/>
                </a:solidFill>
              </a:rPr>
              <a:t>▸  Chi-Square and Mann-Whitney U tests confirm statistical significance of both the cohort difference in GI incidence and the weight difference between severe/non-severe patients.</a:t>
            </a:r>
          </a:p>
        </p:txBody>
      </p:sp>
      <p:pic>
        <p:nvPicPr>
          <p:cNvPr id="19" name="Picture 18" descr="quarterly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606040"/>
            <a:ext cx="39319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Conclusions &amp; Medical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2286000" cy="10972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🔴 SIGNAL CONFIRMED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5544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GLP-1 receptor agonists show a statistically significant and clinically meaningful pharmacovigilance signal for severe GI adverse events — PRR exceeds the WHO-UMC threshold across all 13 quarters analyzed.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79192"/>
            <a:ext cx="1124712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79192"/>
            <a:ext cx="2286000" cy="109728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2666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⚠️ HIGH-RISK 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816352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Patients on GLP-1s concurrently taking opioids should be flagged for enhanced monitoring. The dual gastric-emptying suppression mechanism creates compounding risk — OR ~3.2 for hospitalization in FAERS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41064"/>
            <a:ext cx="1124712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41064"/>
            <a:ext cx="2286000" cy="10972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8853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🎯 ACTIONABLE PHENOTYPE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078224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The High-Risk Vulnerable cluster (older females, BMI&gt;35, polypharmacy ≥6) represents a targetable intervention population — enhanced GI monitoring protocols, dose titration review, and opioid co-prescription avoidance are recommended.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202936"/>
            <a:ext cx="1124712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202936"/>
            <a:ext cx="2286000" cy="10972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5504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🤖 PREDICTIVE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40096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The Random Forest model (AUC 0.84, Recall 0.79) provides actionable adverse event severity prediction from patient demographics alone — enabling proactive clinical decision support integration.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1828800" cy="25603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3832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A1628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2C39A"/>
                </a:solidFill>
              </a:rPr>
              <a:t>Future Work &amp; Scaling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286000" cy="4114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2880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📦 AWS/GCP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527048"/>
            <a:ext cx="92354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Scale ETL to process full 20-year FAERS history (~40M reports) using Apache Spark on AWS EMR or Google Dataproc. Automate quarterly ingestion via Lambda/Cloud Functions triggered on FDA data releases.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95728"/>
            <a:ext cx="1828800" cy="8229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59689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🧬 NLP on Narrative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505456"/>
            <a:ext cx="92354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The FAERS 'narrative' free-text field contains rich clinical detail missed by MedDRA coding. Apply BioBERT or Med-BERT to extract additional GI events, dose information, and temporal relationships.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74136"/>
            <a:ext cx="1828800" cy="82296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7530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⚡ Real-Time Surveillance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83864"/>
            <a:ext cx="92354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Deploy the Random Forest model as a REST API (Flask/FastAPI) connected to an EHR system. Trigger automated pharmacovigilance alerts when high-risk GLP-1 + polypharmacy combinations are prescribed.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52544"/>
            <a:ext cx="182880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📊 Extended Drug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4462272"/>
            <a:ext cx="92354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Expand to include emerging GLP-1/GIP dual agonists (Retatrutide, Mazdutide) and compare across all weight-loss drug classes. Add disequilibrium analysis with EBGM (Empirical Bayes Geometric Mean) alongside PRR.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30952"/>
            <a:ext cx="1828800" cy="822960"/>
          </a:xfrm>
          <a:prstGeom prst="rect">
            <a:avLst/>
          </a:prstGeom>
          <a:solidFill>
            <a:srgbClr val="F9C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53212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A1628"/>
                </a:solidFill>
              </a:rPr>
              <a:t>🔬 Clinical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5440680"/>
            <a:ext cx="92354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0F4F8"/>
                </a:solidFill>
              </a:rPr>
              <a:t>Cross-validate FAERS signal findings against structured EHR data (e.g., OMOP CDM) or insurance claims databases to quantify absolute incidence rates and control for indication bias inherent in spontaneous reporting.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-1371600"/>
            <a:ext cx="4572000" cy="4572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2286000"/>
            <a:ext cx="2743200" cy="27432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-457200" y="4114800"/>
            <a:ext cx="3200400" cy="32004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0F4F8"/>
                </a:solidFill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2C39A"/>
                </a:solidFill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80360"/>
            <a:ext cx="1371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61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96167"/>
                </a:solidFill>
              </a:rPr>
              <a:t>PRR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101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9ABCD1"/>
                </a:solidFill>
              </a:rPr>
              <a:t>WHO-UMC Signal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2880360"/>
            <a:ext cx="1371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2C39A"/>
                </a:solidFill>
              </a:rPr>
              <a:t>AUC 0.84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3101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9ABCD1"/>
                </a:solidFill>
              </a:rPr>
              <a:t>Random Forest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880360"/>
            <a:ext cx="1371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9C74F"/>
                </a:solidFill>
              </a:rPr>
              <a:t>Recall 0.79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3101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9ABCD1"/>
                </a:solidFill>
              </a:rPr>
              <a:t>Primary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2880360"/>
            <a:ext cx="1371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2C39A"/>
                </a:solidFill>
              </a:rPr>
              <a:t>13 Qtrs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3101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9ABCD1"/>
                </a:solidFill>
              </a:rPr>
              <a:t>2023–2026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880360"/>
            <a:ext cx="137160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F9C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926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9C74F"/>
                </a:solidFill>
              </a:rPr>
              <a:t>k=3 Clusters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3101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9ABCD1"/>
                </a:solidFill>
              </a:rPr>
              <a:t>K-Means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BCD1"/>
                </a:solidFill>
              </a:rPr>
              <a:t>CMPE 255 — Data Mining  ·  Dr. Bhaskar  ·  San Jose State University  ·  2026
Dataset: FDA FAERS ASCII 2023Q1–2026Q1  ·  github.com/[your-repo]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