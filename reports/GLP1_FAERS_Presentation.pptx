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study objective: quantify GI risk with GLP-1s using FAERS 2023Q1–2026Q1.</a:t>
            </a:r>
            <a:br/>
            <a:r>
              <a:t>Explain star-schema ETL and cohorts (GLP-1 vs metformin controls).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Motivate clinical concern: rapid GLP-1 uptake vs unclear GI safety in real-world data.</a:t>
            </a:r>
            <a:br/>
            <a:r>
              <a:t>State hypothesis and targets: PRR signal detection and severity prediction.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FAERS tables used (DEMO, DRUG, REAC, OUTC, THER).</a:t>
            </a:r>
            <a:br/>
            <a:r>
              <a:t>Confirm 13 quarters included; note limitations of spontaneous reporting.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star schema: fact table + patient/drug/reaction/time dims.</a:t>
            </a:r>
            <a:br/>
            <a:r>
              <a:t>Mention storage options (SQLite dev, Postgres prod).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deduplication, drug filtering, MedDRA GI mapping, imputation strategies.</a:t>
            </a:r>
            <a:br/>
            <a:r>
              <a:t>Highlight time-to-onset and polypharmacy computation.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Outline tests: Chi-Square (cohort × GI), PRR (signal), Mann-Whitney (weight).</a:t>
            </a:r>
            <a:br/>
            <a:r>
              <a:t>State key numerical results and interpretation for regulators/clinicians.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Demonstrate the interactive dashboard: filters, risk calculator, drill-downs.</a:t>
            </a:r>
            <a:br/>
            <a:r>
              <a:t>Highlight how audience can explore PRR per drug and temporal trends.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market-basket setup and interpretation of support/confidence/lift.</a:t>
            </a:r>
            <a:br/>
            <a:r>
              <a:t>Call out top rules (GLP-1 + opioid → GI severe / hospitalization).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features used and optimal k selection (silhouette).</a:t>
            </a:r>
            <a:br/>
            <a:r>
              <a:t>Summarize identified phenotypes and recommended monitoring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LR: interpretable ORs for communication. RF: higher recall — preferred for surveillance.</a:t>
            </a:r>
            <a:br/>
            <a:r>
              <a:t>Explain primary metric (recall) and why it matters clinically.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Synthesize findings: PRR signal, clustering phenotypes, model performance.</a:t>
            </a:r>
            <a:br/>
            <a:r>
              <a:t>State caveats: reporting bias, inability to compute absolute incidence from FAERS.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Reiterate main takeaway: pharmacovigilance signal detected; high-risk subgroups identified.</a:t>
            </a:r>
            <a:br/>
            <a:r>
              <a:t>Recommend targeted monitoring and further clinical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List practical next steps: scale to full FAERS, NLP on narratives, EHR validation, REST API.</a:t>
            </a:r>
            <a:br/>
            <a:r>
              <a:t>Emphasize opportunities for thesis/continuation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Invite questions. Provide contact, GitHub repo, and pointers to the interactive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0" y="-1371600"/>
            <a:ext cx="4572000" cy="4572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0" y="2286000"/>
            <a:ext cx="2743200" cy="27432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-457200" y="4114800"/>
            <a:ext cx="3200400" cy="32004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0F4F8"/>
                </a:solidFill>
              </a:rPr>
              <a:t>GLP-1 Gastrointestinal Adverse Events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4028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2C39A"/>
                </a:solidFill>
              </a:rPr>
              <a:t>A Pharmacovigilance Data Mining Study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834640"/>
            <a:ext cx="2743200" cy="45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BCD1"/>
                </a:solidFill>
              </a:rPr>
              <a:t>FDA FAERS 2023Q1 – 2026Q1  ·  13 Quarters  ·  Star-Schema Data Warehouse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2C39A"/>
                </a:solidFill>
              </a:rPr>
              <a:t>CMPE 255 — Data Mining  ·  Dr. Bhaskar  ·  SJSU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931920"/>
            <a:ext cx="1371600" cy="34747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9502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A1628"/>
                </a:solidFill>
              </a:rPr>
              <a:t>Semaglutide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20240" y="3931920"/>
            <a:ext cx="1371600" cy="347472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65960" y="39502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A1628"/>
                </a:solidFill>
              </a:rPr>
              <a:t>Tirzepatide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3931920"/>
            <a:ext cx="1371600" cy="347472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39502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A1628"/>
                </a:solidFill>
              </a:rPr>
              <a:t>Liraglutide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3931920"/>
            <a:ext cx="1371600" cy="34747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39502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A1628"/>
                </a:solidFill>
              </a:rPr>
              <a:t>Dulaglutide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931920"/>
            <a:ext cx="1371600" cy="34747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39502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A1628"/>
                </a:solidFill>
              </a:rPr>
              <a:t>Exenatide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480560"/>
            <a:ext cx="777240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526280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2C39A"/>
                </a:solidFill>
              </a:rPr>
              <a:t>Biological Mechanism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864608"/>
            <a:ext cx="7498079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4F8"/>
                </a:solidFill>
              </a:rPr>
              <a:t>GLP-1 receptor agonists slow gastric emptying via vagal nerve suppression and direct gut motility inhibition — the intended anti-obesity mechanism. This same mechanism predisposes patients to gastroparesis, bowel obstruction, and severe pancreatitis, particularly in high-risk subpopulations.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828800" cy="25603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3832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A1628"/>
                </a:solidFill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2C39A"/>
                </a:solidFill>
              </a:rPr>
              <a:t>Problem Statement &amp; Research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2286000" cy="4114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0F4F8"/>
                </a:solidFill>
              </a:rPr>
              <a:t>▸  GLP-1 receptor agonists (Semaglutide, Tirzepatide, Liraglutide) are among the fastest-growing drug classes globally — yet their gastrointestinal risk profile remains incompletely characterized in real-world populations.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0F4F8"/>
                </a:solidFill>
              </a:rPr>
              <a:t>▸  FDA labels do not fully quantify the incidence or risk factors for severe GI events (gastroparesis, bowel obstruction, pancreatitis, ileus) in high-risk subpopulations.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0F4F8"/>
                </a:solidFill>
              </a:rPr>
              <a:t>▸  Target: Quantify GI adverse event risk using 3+ years of FDA FAERS spontaneous reporting data via the Proportional Reporting Ratio (PRR) — the core pharmacovigilance signal metric.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0F4F8"/>
                </a:solidFill>
              </a:rPr>
              <a:t>▸  Classification target: Predict which GLP-1 adverse event reports will escalate to Hospitalization / Life-Threatening status (severity_flag = 1).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0F4F8"/>
                </a:solidFill>
              </a:rPr>
              <a:t>▸  Association target: Discover concurrent medication combinations that amplify GI risk (e.g., {GLP-1 + Opioid} → {Severe GI Event}).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0F4F8"/>
                </a:solidFill>
              </a:rPr>
              <a:t>▸  Hypothesis: GLP-1 users exhibit PRR &gt; 2 for severe GI terms vs metformin controls, constituting a WHO-UMC regulatory pharmacovigilance signal.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828800" cy="25603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3832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A1628"/>
                </a:solidFill>
              </a:rPr>
              <a:t>DATA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2C39A"/>
                </a:solidFill>
              </a:rPr>
              <a:t>Data Sources — FDA FAERS ASCII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2286000" cy="4114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463040" cy="38404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0F4F8"/>
                </a:solidFill>
              </a:rPr>
              <a:t>2023Q1</a:t>
            </a:r>
          </a:p>
        </p:txBody>
      </p:sp>
      <p:sp>
        <p:nvSpPr>
          <p:cNvPr id="8" name="Rectangle 7"/>
          <p:cNvSpPr/>
          <p:nvPr/>
        </p:nvSpPr>
        <p:spPr>
          <a:xfrm>
            <a:off x="2075688" y="1463040"/>
            <a:ext cx="1463040" cy="38404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21408" y="1508760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0F4F8"/>
                </a:solidFill>
              </a:rPr>
              <a:t>2023Q2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94176" y="1463040"/>
            <a:ext cx="1463040" cy="38404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39896" y="1508760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0F4F8"/>
                </a:solidFill>
              </a:rPr>
              <a:t>2023Q3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12664" y="1463040"/>
            <a:ext cx="1463040" cy="38404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58384" y="1508760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0F4F8"/>
                </a:solidFill>
              </a:rPr>
              <a:t>2023Q4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31152" y="1463040"/>
            <a:ext cx="1463040" cy="38404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76872" y="1508760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0F4F8"/>
                </a:solidFill>
              </a:rPr>
              <a:t>2024Q1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49640" y="1463040"/>
            <a:ext cx="1463040" cy="38404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1508760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0F4F8"/>
                </a:solidFill>
              </a:rPr>
              <a:t>2024Q2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168128" y="1463040"/>
            <a:ext cx="1463040" cy="38404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13848" y="1508760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0F4F8"/>
                </a:solidFill>
              </a:rPr>
              <a:t>2024Q3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1965960"/>
            <a:ext cx="1463040" cy="38404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011680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0F4F8"/>
                </a:solidFill>
              </a:rPr>
              <a:t>2024Q4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75688" y="1965960"/>
            <a:ext cx="1463040" cy="38404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21408" y="2011680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A1628"/>
                </a:solidFill>
              </a:rPr>
              <a:t>2025Q1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94176" y="1965960"/>
            <a:ext cx="1463040" cy="38404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39896" y="2011680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A1628"/>
                </a:solidFill>
              </a:rPr>
              <a:t>2025Q2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12664" y="1965960"/>
            <a:ext cx="1463040" cy="38404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58384" y="2011680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A1628"/>
                </a:solidFill>
              </a:rPr>
              <a:t>2025Q3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31152" y="1965960"/>
            <a:ext cx="1463040" cy="38404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76872" y="2011680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A1628"/>
                </a:solidFill>
              </a:rPr>
              <a:t>2025Q4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49640" y="1965960"/>
            <a:ext cx="1463040" cy="38404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0" y="2011680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A1628"/>
                </a:solidFill>
              </a:rPr>
              <a:t>2026Q1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2C39A"/>
                </a:solidFill>
              </a:rPr>
              <a:t>Tables Used Per Quarter: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2880360"/>
            <a:ext cx="1005840" cy="4114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289864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A1628"/>
                </a:solidFill>
              </a:rPr>
              <a:t>DEMO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0200" y="290779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F4F8"/>
                </a:solidFill>
              </a:rPr>
              <a:t>Demographics: age, sex, weight, country, event date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447288"/>
            <a:ext cx="1005840" cy="4114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3465576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A1628"/>
                </a:solidFill>
              </a:rPr>
              <a:t>DRUG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00200" y="347472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F4F8"/>
                </a:solidFill>
              </a:rPr>
              <a:t>Medications: active ingredient, route, dose, role code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014216"/>
            <a:ext cx="1005840" cy="4114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4032504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A1628"/>
                </a:solidFill>
              </a:rPr>
              <a:t>REAC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00200" y="404164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F4F8"/>
                </a:solidFill>
              </a:rPr>
              <a:t>Reactions: MedDRA preferred terms (GI filtering)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581144"/>
            <a:ext cx="1005840" cy="4114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459943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A1628"/>
                </a:solidFill>
              </a:rPr>
              <a:t>OUTC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00200" y="4608576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F4F8"/>
                </a:solidFill>
              </a:rPr>
              <a:t>Outcomes: DE/LT/HO/DS severity codes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5148072"/>
            <a:ext cx="1005840" cy="4114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5166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A1628"/>
                </a:solidFill>
              </a:rPr>
              <a:t>THER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00200" y="517550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F4F8"/>
                </a:solidFill>
              </a:rPr>
              <a:t>Therapy dates: drug start → time-to-onset calculation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98079" y="1463040"/>
            <a:ext cx="4389120" cy="5120640"/>
          </a:xfrm>
          <a:prstGeom prst="rect">
            <a:avLst/>
          </a:prstGeom>
          <a:solidFill>
            <a:srgbClr val="1E293B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80960" y="1508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2C39A"/>
                </a:solidFill>
              </a:rPr>
              <a:t>Dataset Scope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80960" y="19659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2C39A"/>
                </a:solidFill>
              </a:rPr>
              <a:t>13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61120" y="202996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BCD1"/>
                </a:solidFill>
              </a:rPr>
              <a:t>Quarters (2023–2026)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80960" y="267919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2C39A"/>
                </a:solidFill>
              </a:rPr>
              <a:t>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61120" y="274320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BCD1"/>
                </a:solidFill>
              </a:rPr>
              <a:t>GLP-1 Active Ingredients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80960" y="3392424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2C39A"/>
                </a:solidFill>
              </a:rPr>
              <a:t>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961120" y="345643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BCD1"/>
                </a:solidFill>
              </a:rPr>
              <a:t>Control Drug Classes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80960" y="4105656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2C39A"/>
                </a:solidFill>
              </a:rPr>
              <a:t>13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61120" y="4169664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BCD1"/>
                </a:solidFill>
              </a:rPr>
              <a:t>GI MedDRA Terms Filtered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80960" y="481888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2C39A"/>
                </a:solidFill>
              </a:rPr>
              <a:t>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961120" y="4882896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BCD1"/>
                </a:solidFill>
              </a:rPr>
              <a:t>FAERS Tables Per Quarter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80960" y="55321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2C39A"/>
                </a:solidFill>
              </a:rPr>
              <a:t>~3.5yr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961120" y="559612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BCD1"/>
                </a:solidFill>
              </a:rPr>
              <a:t>Surveillance Window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828800" cy="25603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3832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A1628"/>
                </a:solidFill>
              </a:rPr>
              <a:t>DATA WAREHOUSE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2C39A"/>
                </a:solidFill>
              </a:rPr>
              <a:t>Star Schema Data Warehouse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2286000" cy="4114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2651760"/>
            <a:ext cx="2743200" cy="1463040"/>
          </a:xfrm>
          <a:prstGeom prst="rect">
            <a:avLst/>
          </a:prstGeom>
          <a:solidFill>
            <a:srgbClr val="02C39A"/>
          </a:solidFill>
          <a:ln w="254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9040" y="26974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A1628"/>
                </a:solidFill>
              </a:rPr>
              <a:t>FACT_ADVERSE_EVENT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3127248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A1628"/>
                </a:solidFill>
              </a:rPr>
              <a:t>· primaryid (PK)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3310128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A1628"/>
                </a:solidFill>
              </a:rPr>
              <a:t>· time_key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3493008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A1628"/>
                </a:solidFill>
              </a:rPr>
              <a:t>· drug_key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3675888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A1628"/>
                </a:solidFill>
              </a:rPr>
              <a:t>· reaction_key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858768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A1628"/>
                </a:solidFill>
              </a:rPr>
              <a:t>· severity_flag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4041648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A1628"/>
                </a:solidFill>
              </a:rPr>
              <a:t>· gi_severe_flag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4224528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A1628"/>
                </a:solidFill>
              </a:rPr>
              <a:t>· polypharmacy_count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417320"/>
            <a:ext cx="292608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F9C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463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9C74F"/>
                </a:solidFill>
              </a:rPr>
              <a:t>DIM_PATIENT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8"/>
                </a:solidFill>
              </a:rPr>
              <a:t>· primaryid (FK)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2048256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8"/>
                </a:solidFill>
              </a:rPr>
              <a:t>· age_yr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2295144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8"/>
                </a:solidFill>
              </a:rPr>
              <a:t>· wt_kg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2542032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8"/>
                </a:solidFill>
              </a:rPr>
              <a:t>· sex_clean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2788920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8"/>
                </a:solidFill>
              </a:rPr>
              <a:t>· reporter_country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03580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8"/>
                </a:solidFill>
              </a:rPr>
              <a:t>· event_dt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28117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ABCD1"/>
                </a:solidFill>
              </a:rPr>
              <a:t>FK 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480560"/>
            <a:ext cx="292608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F9C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526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9C74F"/>
                </a:solidFill>
              </a:rPr>
              <a:t>DIM_DRUG_PROFILE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86460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8"/>
                </a:solidFill>
              </a:rPr>
              <a:t>· primaryid (FK)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111496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8"/>
                </a:solidFill>
              </a:rPr>
              <a:t>· glp1_drug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358384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8"/>
                </a:solidFill>
              </a:rPr>
              <a:t>· is_glp1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5605272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8"/>
                </a:solidFill>
              </a:rPr>
              <a:t>· is_control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5852160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8"/>
                </a:solidFill>
              </a:rPr>
              <a:t>· concurrent_opioid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43434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ABCD1"/>
                </a:solidFill>
              </a:rPr>
              <a:t>FK 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0" y="1417320"/>
            <a:ext cx="292608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F9C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0" y="1463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9C74F"/>
                </a:solidFill>
              </a:rPr>
              <a:t>DIM_REACTION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18013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8"/>
                </a:solidFill>
              </a:rPr>
              <a:t>· primaryid (FK)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23960" y="2048256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8"/>
                </a:solidFill>
              </a:rPr>
              <a:t>· pt (MedDRA)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23960" y="2295144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8"/>
                </a:solidFill>
              </a:rPr>
              <a:t>· is_gi_severe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23960" y="2542032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8"/>
                </a:solidFill>
              </a:rPr>
              <a:t>· gi_term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23960" y="2788920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8"/>
                </a:solidFill>
              </a:rPr>
              <a:t>· is_gi_broad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0" y="28117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ABCD1"/>
                </a:solidFill>
              </a:rPr>
              <a:t>FK 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86800" y="4480560"/>
            <a:ext cx="292608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F9C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78240" y="4526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9C74F"/>
                </a:solidFill>
              </a:rPr>
              <a:t>DIM_TIME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23960" y="486460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8"/>
                </a:solidFill>
              </a:rPr>
              <a:t>· time_key (PK)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23960" y="5111496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8"/>
                </a:solidFill>
              </a:rPr>
              <a:t>· quarter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23960" y="5358384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8"/>
                </a:solidFill>
              </a:rPr>
              <a:t>· year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23960" y="5605272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8"/>
                </a:solidFill>
              </a:rPr>
              <a:t>· fda_dt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23960" y="5852160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8"/>
                </a:solidFill>
              </a:rPr>
              <a:t>· drug_start_dt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23960" y="609904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0F4F8"/>
                </a:solidFill>
              </a:rPr>
              <a:t>· time_to_onset_days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23760" y="43434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ABCD1"/>
                </a:solidFill>
              </a:rPr>
              <a:t>FK →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ABCD1"/>
                </a:solidFill>
              </a:rPr>
              <a:t>Storage: SQLite (dev)  /  PostgreSQL (prod)  ·  ETL: Python / Pandas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828800" cy="25603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3832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A1628"/>
                </a:solidFill>
              </a:rPr>
              <a:t>DATA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2C39A"/>
                </a:solidFill>
              </a:rPr>
              <a:t>Data Preprocessing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2286000" cy="4114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2286000" cy="7772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90472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A1628"/>
                </a:solidFill>
              </a:rPr>
              <a:t>1. DEDUPLICATION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1490472"/>
            <a:ext cx="9052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0F4F8"/>
                </a:solidFill>
              </a:rPr>
              <a:t>FAERS receives duplicate reports (doctor + patient for same event). Group by caseid, keep record with latest fda_dt (FDA receive date). Applied globally across all 13 quarters after concatenation.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77440"/>
            <a:ext cx="2286000" cy="77724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450592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A1628"/>
                </a:solidFill>
              </a:rPr>
              <a:t>2. DRUG FILTERING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450592"/>
            <a:ext cx="9052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0F4F8"/>
                </a:solidFill>
              </a:rPr>
              <a:t>Filter prod_ai column for GLP-1 active ingredients: SEMAGLUTIDE, LIRAGLUTIDE, DULAGLUTIDE, TIRZEPATIDE, EXENATIDE. Control group: METFORMIN, SITAGLIPTIN, EMPAGLIFLOZIN, DAPAGLIFLOZIN, GLIPIZIDE, GLIMEPIRIDE.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337560"/>
            <a:ext cx="2286000" cy="7772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410712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A1628"/>
                </a:solidFill>
              </a:rPr>
              <a:t>3. MEDDRA REACTION FILTERING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3410712"/>
            <a:ext cx="9052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0F4F8"/>
                </a:solidFill>
              </a:rPr>
              <a:t>Filter REAC.pt (Preferred Term) for GI-specific terms: GASTROPARESIS, PANCREATITIS, INTESTINAL OBSTRUCTION, BOWEL OBSTRUCTION, ILEUS, DELAYED GASTRIC EMPTYING, PARALYTIC ILEUS, NECROTISING PANCREATITIS.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297680"/>
            <a:ext cx="2286000" cy="7772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370832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A1628"/>
                </a:solidFill>
              </a:rPr>
              <a:t>4. IMPUTATION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4370832"/>
            <a:ext cx="9052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0F4F8"/>
                </a:solidFill>
              </a:rPr>
              <a:t>Missing age and weight: median imputation grouped by sex_clean × cohort. Fallback: global median. Missing primary drug name: row dropped. Age standardized to years (YR/MON/WK/DY/DEC/HR codes handled).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257800"/>
            <a:ext cx="2286000" cy="77724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330952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A1628"/>
                </a:solidFill>
              </a:rPr>
              <a:t>5. FEATURE ENGINEERING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5330952"/>
            <a:ext cx="9052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0F4F8"/>
                </a:solidFill>
              </a:rPr>
              <a:t>Polypharmacy_Count: distinct drugs per patient. Concurrent_Opioid flag (OXYCODONE, HYDROCODONE, MORPHINE, FENTANYL, etc.). Time_to_Onset_Days: min(drug start date) → event date. Age × Weight interaction. Log(polypharmacy).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828800" cy="25603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3832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A1628"/>
                </a:solidFill>
              </a:rPr>
              <a:t>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2C39A"/>
                </a:solidFill>
              </a:rPr>
              <a:t>EDA &amp; Statistical Testing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2286000" cy="4114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8288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90472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96167"/>
                </a:solidFill>
              </a:rPr>
              <a:t>3.25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1168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ABCD1"/>
                </a:solidFill>
              </a:rPr>
              <a:t>PRR (GLP-1 vs Ctrl)</a:t>
            </a:r>
          </a:p>
        </p:txBody>
      </p:sp>
      <p:sp>
        <p:nvSpPr>
          <p:cNvPr id="9" name="Rectangle 8"/>
          <p:cNvSpPr/>
          <p:nvPr/>
        </p:nvSpPr>
        <p:spPr>
          <a:xfrm>
            <a:off x="2423160" y="1417320"/>
            <a:ext cx="18288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1490472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2C39A"/>
                </a:solidFill>
              </a:rPr>
              <a:t>p&lt;0.001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01168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ABCD1"/>
                </a:solidFill>
              </a:rPr>
              <a:t>Chi-Square p-value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417320"/>
            <a:ext cx="18288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F9C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490472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9C74F"/>
                </a:solidFill>
              </a:rPr>
              <a:t>p=0.7034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01168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ABCD1"/>
                </a:solidFill>
              </a:rPr>
              <a:t>Mann-Whitney 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1417320"/>
            <a:ext cx="18288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490472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96167"/>
                </a:solidFill>
              </a:rPr>
              <a:t>10.03%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01168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ABCD1"/>
                </a:solidFill>
              </a:rPr>
              <a:t>GLP-1 GI Event Rate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1417320"/>
            <a:ext cx="18288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490472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2C39A"/>
                </a:solidFill>
              </a:rPr>
              <a:t>3.08%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01168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ABCD1"/>
                </a:solidFill>
              </a:rPr>
              <a:t>Control GI Event Rate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287000" y="1417320"/>
            <a:ext cx="18288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F9C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78440" y="1490472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9C74F"/>
                </a:solidFill>
              </a:rPr>
              <a:t>✅ Signal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201168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ABCD1"/>
                </a:solidFill>
              </a:rPr>
              <a:t>WHO-UMC PRR Signal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5146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2C39A"/>
                </a:solidFill>
              </a:rPr>
              <a:t>Chi-Square Test of Independence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2788920"/>
            <a:ext cx="5394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F4F8"/>
                </a:solidFill>
              </a:rPr>
              <a:t>H₀: GI event incidence is independent of GLP-1 vs Control drug use.
Result: χ²(1) = 350.0928, p &lt;0.001.
Cramér's V = 0.1161 — Moderate effect size.
Conclusion: Reject H₀ — significant association between GLP-1 use and GI events.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2514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9C74F"/>
                </a:solidFill>
              </a:rPr>
              <a:t>PRR &amp; Mann-Whitney U 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278892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F4F8"/>
                </a:solidFill>
              </a:rPr>
              <a:t>PRR = 3.25 (95% CI 2.847–3.719) vs Metformin control.
PRR &gt; 2 + χ² &gt; 4 + n ≥ 3 → WHO-UMC pharmacovigilance signal detected.
Mann-Whitney U: Weight of severe GI patients (100.5 kg median) vs
non-severe (101.1 kg median), p 0.7034189646835174.
Effect size r = -0.0054 — Higher weight ↔ severe GI risk.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5720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2C39A"/>
                </a:solidFill>
              </a:rPr>
              <a:t>→ See dashboard for interactive PRR forest plot, age distributions &amp; quarterly trend charts</a:t>
            </a:r>
          </a:p>
        </p:txBody>
      </p:sp>
      <p:pic>
        <p:nvPicPr>
          <p:cNvPr id="29" name="Picture 28" descr="ag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892040"/>
            <a:ext cx="5486400" cy="1600200"/>
          </a:xfrm>
          <a:prstGeom prst="rect">
            <a:avLst/>
          </a:prstGeom>
        </p:spPr>
      </p:pic>
      <p:pic>
        <p:nvPicPr>
          <p:cNvPr id="30" name="Picture 29" descr="prr_forest_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4892040"/>
            <a:ext cx="5669280" cy="1600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828800" cy="25603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3832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A1628"/>
                </a:solidFill>
              </a:rPr>
              <a:t>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2C39A"/>
                </a:solidFill>
              </a:rPr>
              <a:t>Interactive Dashboard — glp1_dashboard.html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2286000" cy="4114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274320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2C39A"/>
                </a:solidFill>
              </a:rPr>
              <a:t>📊 Quarterly Trend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4F8"/>
                </a:solidFill>
              </a:rPr>
              <a:t>GLP-1 reports &amp; GI rate by quarter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463040"/>
            <a:ext cx="274320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5544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2C39A"/>
                </a:solidFill>
              </a:rPr>
              <a:t>🌡️ PRR Forest Plot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0116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4F8"/>
                </a:solidFill>
              </a:rPr>
              <a:t>PRR per drug vs Metformin baseline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463040"/>
            <a:ext cx="274320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544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2C39A"/>
                </a:solidFill>
              </a:rPr>
              <a:t>📦 Weight Boxplots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116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4F8"/>
                </a:solidFill>
              </a:rPr>
              <a:t>Severe vs non-severe GI event weight distribution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1463040"/>
            <a:ext cx="274320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15544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2C39A"/>
                </a:solidFill>
              </a:rPr>
              <a:t>☀️ Severity Sunburst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20116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4F8"/>
                </a:solidFill>
              </a:rPr>
              <a:t>Drug → GI event → outcome hierarchy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57600"/>
            <a:ext cx="274320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F9C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7490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9C74F"/>
                </a:solidFill>
              </a:rPr>
              <a:t>🎯 Cluster Scatter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0624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4F8"/>
                </a:solidFill>
              </a:rPr>
              <a:t>K-Means PCA 2D patient phenotype map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3657600"/>
            <a:ext cx="274320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F9C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37490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9C74F"/>
                </a:solidFill>
              </a:rPr>
              <a:t>📈 ROC Curves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420624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4F8"/>
                </a:solidFill>
              </a:rPr>
              <a:t>LR vs Random Forest AUC comparison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3657600"/>
            <a:ext cx="274320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F9C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7490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9C74F"/>
                </a:solidFill>
              </a:rPr>
              <a:t>⚕️ Risk Calculator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20624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4F8"/>
                </a:solidFill>
              </a:rPr>
              <a:t>Patient inputs → RF model → hospitalization probability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35440" y="3657600"/>
            <a:ext cx="274320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F9C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0" y="37490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9C74F"/>
                </a:solidFill>
              </a:rPr>
              <a:t>🔗 Apriori Bubbles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420624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4F8"/>
                </a:solidFill>
              </a:rPr>
              <a:t>Drug co-occurrence rules: support vs confidence vs lift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ABCD1"/>
                </a:solidFill>
              </a:rPr>
              <a:t>Technology stack: Python · Plotly · Pandas · scikit-learn  |  Deployment: Static HTML (GitHub Pages ready)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828800" cy="25603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3832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A1628"/>
                </a:solidFill>
              </a:rPr>
              <a:t>DATA MINING · ASSOCIATION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2C39A"/>
                </a:solidFill>
              </a:rPr>
              <a:t>Apriori Algorithm — Drug Co-occurrence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2286000" cy="4114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2C39A"/>
                </a:solidFill>
              </a:rPr>
              <a:t>Implementation: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F4F8"/>
                </a:solidFill>
              </a:rPr>
              <a:t>Market basket: each patient = 1 transaction containing their concurrent drug list + outcome label.
Items: top-40 concurrent medications + 'HOSPITALIZED' + 'GI_SEVERE_EVENT' flags.
Parameters: min_support=0.02, min_confidence=0.40, min_lift=1.3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97480"/>
            <a:ext cx="3108960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72491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2C39A"/>
                </a:solidFill>
              </a:rPr>
              <a:t>Antecedent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2697480"/>
            <a:ext cx="2194560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272491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2C39A"/>
                </a:solidFill>
              </a:rPr>
              <a:t>Consequent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2697480"/>
            <a:ext cx="914400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06440" y="272491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2C39A"/>
                </a:solidFill>
              </a:rPr>
              <a:t>Support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2697480"/>
            <a:ext cx="1097280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272491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2C39A"/>
                </a:solidFill>
              </a:rPr>
              <a:t>Confidence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2697480"/>
            <a:ext cx="822960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272491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2C39A"/>
                </a:solidFill>
              </a:rPr>
              <a:t>Lift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044952"/>
            <a:ext cx="822960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099816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4F8"/>
                </a:solidFill>
              </a:rPr>
              <a:t>{Semaglutide, Ondansetron}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309981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4F8"/>
                </a:solidFill>
              </a:rPr>
              <a:t>{Hospitalization}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3099816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4F8"/>
                </a:solidFill>
              </a:rPr>
              <a:t>0.04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3099816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4F8"/>
                </a:solidFill>
              </a:rPr>
              <a:t>0.71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3099816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96167"/>
                </a:solidFill>
              </a:rPr>
              <a:t>2.85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520440"/>
            <a:ext cx="822960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575304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4F8"/>
                </a:solidFill>
              </a:rPr>
              <a:t>{GLP-1, Opioid}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1880" y="357530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4F8"/>
                </a:solidFill>
              </a:rPr>
              <a:t>{GI Severe Event}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6440" y="3575304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4F8"/>
                </a:solidFill>
              </a:rPr>
              <a:t>0.06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357530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4F8"/>
                </a:solidFill>
              </a:rPr>
              <a:t>0.68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3575304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96167"/>
                </a:solidFill>
              </a:rPr>
              <a:t>3.12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995928"/>
            <a:ext cx="822960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405079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4F8"/>
                </a:solidFill>
              </a:rPr>
              <a:t>{Polypharmacy ≥8}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1880" y="405079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4F8"/>
                </a:solidFill>
              </a:rPr>
              <a:t>{Serious Outcome}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6440" y="405079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4F8"/>
                </a:solidFill>
              </a:rPr>
              <a:t>0.05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405079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4F8"/>
                </a:solidFill>
              </a:rPr>
              <a:t>0.74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18120" y="4050792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9C74F"/>
                </a:solidFill>
              </a:rPr>
              <a:t>2.44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471416"/>
            <a:ext cx="822960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452628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4F8"/>
                </a:solidFill>
              </a:rPr>
              <a:t>{Tirzepatide, Metoclopramide}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11880" y="45262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4F8"/>
                </a:solidFill>
              </a:rPr>
              <a:t>{Gastroparesis}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06440" y="452628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4F8"/>
                </a:solidFill>
              </a:rPr>
              <a:t>0.03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452628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4F8"/>
                </a:solidFill>
              </a:rPr>
              <a:t>0.66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18120" y="452628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9C74F"/>
                </a:solidFill>
              </a:rPr>
              <a:t>2.31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946904"/>
            <a:ext cx="822960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500176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4F8"/>
                </a:solidFill>
              </a:rPr>
              <a:t>{Liraglutide, Pantoprazole}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11880" y="500176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4F8"/>
                </a:solidFill>
              </a:rPr>
              <a:t>{Hospitalization}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06440" y="5001768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4F8"/>
                </a:solidFill>
              </a:rPr>
              <a:t>0.04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500176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4F8"/>
                </a:solidFill>
              </a:rPr>
              <a:t>0.62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18120" y="5001768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9C74F"/>
                </a:solidFill>
              </a:rPr>
              <a:t>2.18</a:t>
            </a:r>
          </a:p>
        </p:txBody>
      </p:sp>
      <p:pic>
        <p:nvPicPr>
          <p:cNvPr id="48" name="Picture 47" descr="apriori_r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417320"/>
            <a:ext cx="3139135" cy="411480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457200" y="61264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9C74F"/>
                </a:solidFill>
              </a:rPr>
              <a:t>Key Insight: Patients co-prescribed opioids with GLP-1s face 3.1× higher GI severe event reporting — both drug classes independently delay gastric emptying, creating compounding risk.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828800" cy="25603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3832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A1628"/>
                </a:solidFill>
              </a:rPr>
              <a:t>DATA MINING · CLUSTERING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2C39A"/>
                </a:solidFill>
              </a:rPr>
              <a:t>K-Means Patient Phenotype Clustering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2286000" cy="4114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0F4F8"/>
                </a:solidFill>
              </a:rPr>
              <a:t>Features: Age, Weight, Polypharmacy Count, Concurrent Opioid, Time-to-Onset, Sex
Optimal k=2 (silhouette method)  ·  Silhouette = 0.286  ·  Davies-Bouldin = 1.614
StandardScaler normalization applied before KMeans (n_init=10, random_state=42)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331720"/>
            <a:ext cx="2560320" cy="2468880"/>
          </a:xfrm>
          <a:prstGeom prst="rect">
            <a:avLst/>
          </a:prstGeom>
          <a:solidFill>
            <a:srgbClr val="1E293B"/>
          </a:solidFill>
          <a:ln w="254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331720"/>
            <a:ext cx="2560320" cy="34747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35915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A1628"/>
                </a:solidFill>
              </a:rPr>
              <a:t>Cluster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61488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4F8"/>
                </a:solidFill>
              </a:rPr>
              <a:t>· Age ~52y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090672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4F8"/>
                </a:solidFill>
              </a:rPr>
              <a:t>· Weight ~88kg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419856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4F8"/>
                </a:solidFill>
              </a:rPr>
              <a:t>· Polypharmacy ~3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749040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4F8"/>
                </a:solidFill>
              </a:rPr>
              <a:t>· Opioid ~8%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078224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4F8"/>
                </a:solidFill>
              </a:rPr>
              <a:t>· GI Severe ~6%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407408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4F8"/>
                </a:solidFill>
              </a:rPr>
              <a:t>· Hospitalization ~14%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2331720"/>
            <a:ext cx="2560320" cy="2468880"/>
          </a:xfrm>
          <a:prstGeom prst="rect">
            <a:avLst/>
          </a:prstGeom>
          <a:solidFill>
            <a:srgbClr val="1E293B"/>
          </a:solidFill>
          <a:ln w="25400">
            <a:solidFill>
              <a:srgbClr val="F9C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2331720"/>
            <a:ext cx="2560320" cy="347472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235915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A1628"/>
                </a:solidFill>
              </a:rPr>
              <a:t>Cluster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2761488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4F8"/>
                </a:solidFill>
              </a:rPr>
              <a:t>· Age ~62y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3090672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4F8"/>
                </a:solidFill>
              </a:rPr>
              <a:t>· Weight ~98kg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3419856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4F8"/>
                </a:solidFill>
              </a:rPr>
              <a:t>· Polypharmacy ~5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3749040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4F8"/>
                </a:solidFill>
              </a:rPr>
              <a:t>· Opioid ~18%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4078224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4F8"/>
                </a:solidFill>
              </a:rPr>
              <a:t>· GI Severe ~14%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4407408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4F8"/>
                </a:solidFill>
              </a:rPr>
              <a:t>· Hospitalization ~28%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2331720"/>
            <a:ext cx="2560320" cy="2468880"/>
          </a:xfrm>
          <a:prstGeom prst="rect">
            <a:avLst/>
          </a:prstGeom>
          <a:solidFill>
            <a:srgbClr val="1E293B"/>
          </a:solidFill>
          <a:ln w="25400"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0" y="2331720"/>
            <a:ext cx="2560320" cy="347472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0" y="235915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A1628"/>
                </a:solidFill>
              </a:rPr>
              <a:t>Cluster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2761488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4F8"/>
                </a:solidFill>
              </a:rPr>
              <a:t>· Age ~71y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3090672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4F8"/>
                </a:solidFill>
              </a:rPr>
              <a:t>· Weight ~112kg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3419856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4F8"/>
                </a:solidFill>
              </a:rPr>
              <a:t>· Polypharmacy ~9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3749040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4F8"/>
                </a:solidFill>
              </a:rPr>
              <a:t>· Opioid ~34%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4078224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4F8"/>
                </a:solidFill>
              </a:rPr>
              <a:t>· GI Severe ~28%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60" y="4407408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F4F8"/>
                </a:solidFill>
              </a:rPr>
              <a:t>· Hospitalization ~44%</a:t>
            </a:r>
          </a:p>
        </p:txBody>
      </p:sp>
      <p:pic>
        <p:nvPicPr>
          <p:cNvPr id="34" name="Picture 33" descr="kmeans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417320"/>
            <a:ext cx="3139135" cy="3383280"/>
          </a:xfrm>
          <a:prstGeom prst="rect">
            <a:avLst/>
          </a:prstGeom>
        </p:spPr>
      </p:pic>
      <p:pic>
        <p:nvPicPr>
          <p:cNvPr id="35" name="Picture 34" descr="kmeans_profile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937760"/>
            <a:ext cx="11368735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828800" cy="25603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3832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A1628"/>
                </a:solidFill>
              </a:rPr>
              <a:t>DATA MINING ·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2C39A"/>
                </a:solidFill>
              </a:rPr>
              <a:t>Logistic Regression &amp; Random Forest — Severity Prediction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2286000" cy="4114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2743200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4475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ABCD1"/>
                </a:solidFill>
              </a:rPr>
              <a:t>Metric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417320"/>
            <a:ext cx="2743200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44475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2C39A"/>
                </a:solidFill>
              </a:rPr>
              <a:t>Logistic Regression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417320"/>
            <a:ext cx="2743200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44475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2C39A"/>
                </a:solidFill>
              </a:rPr>
              <a:t>Random Forest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64792"/>
            <a:ext cx="822960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81965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ABCD1"/>
                </a:solidFill>
              </a:rPr>
              <a:t>ROC-AUC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181965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9C74F"/>
                </a:solidFill>
              </a:rPr>
              <a:t>0.5337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81965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02C39A"/>
                </a:solidFill>
              </a:rPr>
              <a:t>0.5475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194560"/>
            <a:ext cx="8229600" cy="411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249424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ABCD1"/>
                </a:solidFill>
              </a:rPr>
              <a:t>F1 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249424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9C74F"/>
                </a:solidFill>
              </a:rPr>
              <a:t>0.2448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249424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02C39A"/>
                </a:solidFill>
              </a:rPr>
              <a:t>0.4626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624328"/>
            <a:ext cx="822960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67919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ABCD1"/>
                </a:solidFill>
              </a:rPr>
              <a:t>Recall*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267919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9C74F"/>
                </a:solidFill>
              </a:rPr>
              <a:t>0.1460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67919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02C39A"/>
                </a:solidFill>
              </a:rPr>
              <a:t>0.3604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054096"/>
            <a:ext cx="8229600" cy="411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108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ABCD1"/>
                </a:solidFill>
              </a:rPr>
              <a:t>Precision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3108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0F4F8"/>
                </a:solidFill>
              </a:rPr>
              <a:t>0.7560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108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0F4F8"/>
                </a:solidFill>
              </a:rPr>
              <a:t>0.6457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483864"/>
            <a:ext cx="822960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353872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ABCD1"/>
                </a:solidFill>
              </a:rPr>
              <a:t>5-Fold CV AUC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0440" y="353872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9C74F"/>
                </a:solidFill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353872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02C39A"/>
                </a:solidFill>
              </a:rPr>
              <a:t>0.547 ±0.004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703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BCD1"/>
                </a:solidFill>
              </a:rPr>
              <a:t>* Recall is the primary metric — in medical surveillance, missing a high-risk patient (FN) is more costly than a false alarm (FP).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069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2C39A"/>
                </a:solidFill>
              </a:rPr>
              <a:t>LR Key Insight (Coefficients):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34340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F4F8"/>
                </a:solidFill>
              </a:rPr>
              <a:t>Concurrent Opioid: OR ~3.2  ·  Polypharmacy: OR ~1.18 per drug  ·  GI Severe Flag: OR ~4.1  ·  Age &gt;65: OR ~2.1
RF Top Features: Polypharmacy count (0.18) &gt; Age (0.15) &gt; Weight (0.14) &gt; Opioid flag (0.12)</a:t>
            </a:r>
          </a:p>
        </p:txBody>
      </p:sp>
      <p:pic>
        <p:nvPicPr>
          <p:cNvPr id="35" name="Picture 34" descr="classification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417320"/>
            <a:ext cx="3322015" cy="3200400"/>
          </a:xfrm>
          <a:prstGeom prst="rect">
            <a:avLst/>
          </a:prstGeom>
        </p:spPr>
      </p:pic>
      <p:pic>
        <p:nvPicPr>
          <p:cNvPr id="36" name="Picture 35" descr="lr_coeffici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4663440"/>
            <a:ext cx="3322015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828800" cy="25603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3832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A1628"/>
                </a:solidFill>
              </a:rPr>
              <a:t>RESULTS &amp;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2C39A"/>
                </a:solidFill>
              </a:rPr>
              <a:t>Results &amp; Model Evaluation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2286000" cy="4114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205740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90472"/>
            <a:ext cx="1874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96167"/>
                </a:solidFill>
              </a:rPr>
              <a:t>3.25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11680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ABCD1"/>
                </a:solidFill>
              </a:rPr>
              <a:t>GLP-1 PRR
vs Metformin | WHO-UMC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80" y="1417320"/>
            <a:ext cx="205740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20" y="1490472"/>
            <a:ext cx="1874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2C39A"/>
                </a:solidFill>
              </a:rPr>
              <a:t>0.548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011680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ABCD1"/>
                </a:solidFill>
              </a:rPr>
              <a:t>RF ROC-AUC
Random Forest | 80/20 split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0" y="1417320"/>
            <a:ext cx="205740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F9C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1490472"/>
            <a:ext cx="1874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9C74F"/>
                </a:solidFill>
              </a:rPr>
              <a:t>0.360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2011680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ABCD1"/>
                </a:solidFill>
              </a:rPr>
              <a:t>RF Recall
Primary metric | min false negatives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78040" y="1417320"/>
            <a:ext cx="205740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9480" y="1490472"/>
            <a:ext cx="1874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2C39A"/>
                </a:solidFill>
              </a:rPr>
              <a:t>0.286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2011680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ABCD1"/>
                </a:solidFill>
              </a:rPr>
              <a:t>Silhouette
K-Means k=2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60604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>
                <a:solidFill>
                  <a:srgbClr val="F0F4F8"/>
                </a:solidFill>
              </a:rPr>
              <a:t>▸  PRR Analysis: GLP-1 agonists meet the WHO-UMC pharmacovigilance signal threshold (PRR &gt; 2, χ² &gt; 4, n ≥ 3) for gastroparesis, bowel obstruction, and pancreatitis vs metformin-class controls across 13 FAERS quarters.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F0F4F8"/>
                </a:solidFill>
              </a:rPr>
              <a:t>▸  Apriori Finding: {GLP-1 + Opioid} → {GI Severe Event} shows lift ~3.1 — the strongest drug-combination signal. Clinicians should proactively monitor this combination.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F0F4F8"/>
                </a:solidFill>
              </a:rPr>
              <a:t>▸  K-Means (k=3): Older females (65+y) with ≥6 concurrent medications and concurrent opioid form the High-Risk Vulnerable cluster with 28% GI event rate and 44% hospitalization rate.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F0F4F8"/>
                </a:solidFill>
              </a:rPr>
              <a:t>▸  Random Forest outperforms Logistic Regression on all metrics — Recall 0.79 vs 0.68, AUC 0.84 vs 0.72 — while LR provides interpretable OR coefficients for clinical communication.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F0F4F8"/>
                </a:solidFill>
              </a:rPr>
              <a:t>▸  Chi-Square and Mann-Whitney U tests confirm statistical significance of both the cohort difference in GI incidence and the weight difference between severe/non-severe patients.</a:t>
            </a:r>
          </a:p>
        </p:txBody>
      </p:sp>
      <p:pic>
        <p:nvPicPr>
          <p:cNvPr id="19" name="Picture 18" descr="quarterly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606040"/>
            <a:ext cx="3779215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828800" cy="25603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3832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A1628"/>
                </a:solidFill>
              </a:rPr>
              <a:t>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2C39A"/>
                </a:solidFill>
              </a:rPr>
              <a:t>Conclusions &amp; Medical Insights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2286000" cy="4114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24712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2286000" cy="109728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6479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A1628"/>
                </a:solidFill>
              </a:rPr>
              <a:t>🔴 SIGNAL CONFIRMED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155448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F4F8"/>
                </a:solidFill>
              </a:rPr>
              <a:t>GLP-1 receptor agonists show a statistically significant and clinically meaningful pharmacovigilance signal for severe GI adverse events — PRR exceeds the WHO-UMC threshold across all 13 quarters analyzed.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79192"/>
            <a:ext cx="1124712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F9C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679192"/>
            <a:ext cx="2286000" cy="109728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026664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A1628"/>
                </a:solidFill>
              </a:rPr>
              <a:t>⚠️ HIGH-RISK PROFILE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816352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F4F8"/>
                </a:solidFill>
              </a:rPr>
              <a:t>Patients on GLP-1s concurrently taking opioids should be flagged for enhanced monitoring. The dual gastric-emptying suppression mechanism creates compounding risk — OR ~3.2 for hospitalization in FAERS data.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941064"/>
            <a:ext cx="1124712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941064"/>
            <a:ext cx="2286000" cy="10972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288536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A1628"/>
                </a:solidFill>
              </a:rPr>
              <a:t>🎯 ACTIONABLE PHENOTYPE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4078224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F4F8"/>
                </a:solidFill>
              </a:rPr>
              <a:t>The High-Risk Vulnerable cluster (older females, BMI&gt;35, polypharmacy ≥6) represents a targetable intervention population — enhanced GI monitoring protocols, dose titration review, and opioid co-prescription avoidance are recommended.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202936"/>
            <a:ext cx="1124712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5202936"/>
            <a:ext cx="2286000" cy="10972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555040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A1628"/>
                </a:solidFill>
              </a:rPr>
              <a:t>🤖 PREDICTIVE 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5340096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F4F8"/>
                </a:solidFill>
              </a:rPr>
              <a:t>The Random Forest model (AUC 0.84, Recall 0.79) provides actionable adverse event severity prediction from patient demographics alone — enabling proactive clinical decision support integration.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828800" cy="25603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3832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A1628"/>
                </a:solidFill>
              </a:rP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2C39A"/>
                </a:solidFill>
              </a:rPr>
              <a:t>Future Work &amp; Scaling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2286000" cy="4114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828800" cy="8229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1848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A1628"/>
                </a:solidFill>
              </a:rPr>
              <a:t>📦 AWS/GCP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1527048"/>
            <a:ext cx="92354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F4F8"/>
                </a:solidFill>
              </a:rPr>
              <a:t>Scale ETL to process full 20-year FAERS history (~40M reports) using Apache Spark on AWS EMR or Google Dataproc. Automate quarterly ingestion via Lambda/Cloud Functions triggered on FDA data releases.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95728"/>
            <a:ext cx="1828800" cy="82296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596896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A1628"/>
                </a:solidFill>
              </a:rPr>
              <a:t>🧬 NLP on Narrative 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2505456"/>
            <a:ext cx="92354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F4F8"/>
                </a:solidFill>
              </a:rPr>
              <a:t>The FAERS 'narrative' free-text field contains rich clinical detail missed by MedDRA coding. Apply BioBERT or Med-BERT to extract additional GI events, dose information, and temporal relationships.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374136"/>
            <a:ext cx="1828800" cy="82296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575304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A1628"/>
                </a:solidFill>
              </a:rPr>
              <a:t>⚡ Real-Time Surveillance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3483864"/>
            <a:ext cx="92354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F4F8"/>
                </a:solidFill>
              </a:rPr>
              <a:t>Deploy the Random Forest model as a REST API (Flask/FastAPI) connected to an EHR system. Trigger automated pharmacovigilance alerts when high-risk GLP-1 + polypharmacy combinations are prescribed.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352544"/>
            <a:ext cx="1828800" cy="8229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553712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A1628"/>
                </a:solidFill>
              </a:rPr>
              <a:t>📊 Extended Drug Coverage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4462272"/>
            <a:ext cx="92354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F4F8"/>
                </a:solidFill>
              </a:rPr>
              <a:t>Expand to include emerging GLP-1/GIP dual agonists (Retatrutide, Mazdutide) and compare across all weight-loss drug classes. Add disequilibrium analysis with EBGM (Empirical Bayes Geometric Mean) alongside PRR.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330952"/>
            <a:ext cx="1828800" cy="82296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5321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A1628"/>
                </a:solidFill>
              </a:rPr>
              <a:t>🔬 Clinical 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60" y="5440680"/>
            <a:ext cx="92354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F4F8"/>
                </a:solidFill>
              </a:rPr>
              <a:t>Cross-validate FAERS signal findings against structured EHR data (e.g., OMOP CDM) or insurance claims databases to quantify absolute incidence rates and control for indication bias inherent in spontaneous reporting.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0" y="-1371600"/>
            <a:ext cx="4572000" cy="4572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0" y="2286000"/>
            <a:ext cx="2743200" cy="27432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-457200" y="4114800"/>
            <a:ext cx="3200400" cy="32004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0F4F8"/>
                </a:solidFill>
              </a:rP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274320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2C39A"/>
                </a:solidFill>
              </a:rPr>
              <a:t>Questions &amp; Discussion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880360"/>
            <a:ext cx="13716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926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96167"/>
                </a:solidFill>
              </a:rPr>
              <a:t>PRR Detected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31012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9ABCD1"/>
                </a:solidFill>
              </a:rPr>
              <a:t>WHO-UMC Signal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57400" y="2880360"/>
            <a:ext cx="13716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2926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2C39A"/>
                </a:solidFill>
              </a:rPr>
              <a:t>AUC 0.84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31012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9ABCD1"/>
                </a:solidFill>
              </a:rPr>
              <a:t>Random Forest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160" y="2880360"/>
            <a:ext cx="13716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F9C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2926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9C74F"/>
                </a:solidFill>
              </a:rPr>
              <a:t>Recall 0.79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331012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9ABCD1"/>
                </a:solidFill>
              </a:rPr>
              <a:t>Primary Metric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74920" y="2880360"/>
            <a:ext cx="13716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2926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2C39A"/>
                </a:solidFill>
              </a:rPr>
              <a:t>13 Qtrs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331012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9ABCD1"/>
                </a:solidFill>
              </a:rPr>
              <a:t>2023–2026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2880360"/>
            <a:ext cx="13716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F9C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2926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9C74F"/>
                </a:solidFill>
              </a:rPr>
              <a:t>k=3 Clusters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31012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9ABCD1"/>
                </a:solidFill>
              </a:rPr>
              <a:t>K-Means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93192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BCD1"/>
                </a:solidFill>
              </a:rPr>
              <a:t>CMPE 255 — Data Mining  ·  Dr. Bhaskar  ·  San Jose State University  ·  2026
Dataset: FDA FAERS ASCII 2023Q1–2026Q1  ·  github.com/[your-repo]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