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8BAFC8"/>
                </a:solidFill>
                <a:latin typeface="Arial"/>
              </a:defRPr>
            </a:pPr>
            <a:r>
              <a:rPr sz="1800" b="0" i="0" u="none" strike="noStrike">
                <a:solidFill>
                  <a:srgbClr val="8BAFC8"/>
                </a:solidFill>
                <a:latin typeface="Arial"/>
              </a:rPr>
              <a:t>Explained Variance % by Component</a:t>
            </a:r>
          </a:p>
        </c:rich>
      </c:tx>
      <c:layout/>
      <c:overlay val="0"/>
    </c:title>
    <c:autoTitleDeleted val="0"/>
    <c:plotArea>
      <c:layout/>
      <c:barChart>
        <c:barDir val="col"/>
        <c:grouping val="clustered"/>
        <c:varyColors val="0"/>
        <c:ser>
          <c:idx val="0"/>
          <c:order val="0"/>
          <c:tx>
            <c:strRef>
              <c:f>Sheet1!$B$1</c:f>
              <c:strCache>
                <c:ptCount val="1"/>
                <c:pt idx="0">
                  <c:v>PCs</c:v>
                </c:pt>
              </c:strCache>
            </c:strRef>
          </c:tx>
          <c:spPr>
            <a:solidFill>
              <a:srgbClr val="00A896"/>
            </a:solidFill>
            <a:effectLst/>
          </c:spPr>
          <c:invertIfNegative val="0"/>
          <c:dLbls>
            <c:numFmt formatCode="#,##0" sourceLinked="0"/>
            <c:txPr>
              <a:bodyPr/>
              <a:lstStyle/>
              <a:p>
                <a:pPr>
                  <a:defRPr b="0" i="0" strike="noStrike" sz="1200" u="none">
                    <a:solidFill>
                      <a:srgbClr val="E8F4F8"/>
                    </a:solidFill>
                    <a:latin typeface="Arial"/>
                  </a:defRPr>
                </a:pPr>
              </a:p>
            </c:txPr>
            <c:showLegendKey val="0"/>
            <c:showVal val="1"/>
            <c:showCatName val="0"/>
            <c:showSerName val="0"/>
            <c:showPercent val="0"/>
            <c:showBubbleSize val="0"/>
            <c:showLeaderLines val="0"/>
          </c:dLbls>
          <c:dPt>
            <c:idx val="0"/>
            <c:invertIfNegative val="0"/>
            <c:bubble3D val="0"/>
            <c:spPr>
              <a:solidFill>
                <a:srgbClr val="00A896"/>
              </a:solidFill>
              <a:effectLst/>
            </c:spPr>
          </c:dPt>
          <c:dPt>
            <c:idx val="1"/>
            <c:invertIfNegative val="0"/>
            <c:bubble3D val="0"/>
            <c:spPr>
              <a:solidFill>
                <a:srgbClr val="00A896"/>
              </a:solidFill>
              <a:effectLst/>
            </c:spPr>
          </c:dPt>
          <c:dPt>
            <c:idx val="2"/>
            <c:invertIfNegative val="0"/>
            <c:bubble3D val="0"/>
            <c:spPr>
              <a:solidFill>
                <a:srgbClr val="028090"/>
              </a:solidFill>
              <a:effectLst/>
            </c:spPr>
          </c:dPt>
          <c:dPt>
            <c:idx val="3"/>
            <c:invertIfNegative val="0"/>
            <c:bubble3D val="0"/>
            <c:spPr>
              <a:solidFill>
                <a:srgbClr val="028090"/>
              </a:solidFill>
              <a:effectLst/>
            </c:spPr>
          </c:dPt>
          <c:dPt>
            <c:idx val="4"/>
            <c:invertIfNegative val="0"/>
            <c:bubble3D val="0"/>
            <c:spPr>
              <a:solidFill>
                <a:srgbClr val="162A50"/>
              </a:solidFill>
              <a:effectLst/>
            </c:spPr>
          </c:dPt>
          <c:dPt>
            <c:idx val="5"/>
            <c:invertIfNegative val="0"/>
            <c:bubble3D val="0"/>
            <c:spPr>
              <a:solidFill>
                <a:srgbClr val="162A50"/>
              </a:solidFill>
              <a:effectLst/>
            </c:spPr>
          </c:dPt>
          <c:dPt>
            <c:idx val="6"/>
            <c:invertIfNegative val="0"/>
            <c:bubble3D val="0"/>
            <c:spPr>
              <a:solidFill>
                <a:srgbClr val="162A50"/>
              </a:solidFill>
              <a:effectLst/>
            </c:spPr>
          </c:dPt>
          <c:dPt>
            <c:idx val="7"/>
            <c:invertIfNegative val="0"/>
            <c:bubble3D val="0"/>
            <c:spPr>
              <a:solidFill>
                <a:srgbClr val="162A50"/>
              </a:solidFill>
              <a:effectLst/>
            </c:spPr>
          </c:dPt>
          <c:cat>
            <c:multiLvlStrRef>
              <c:f>Sheet1!$A$2:$A$9</c:f>
              <c:multiLvlStrCache>
                <c:ptCount val="8"/>
                <c:lvl>
                  <c:pt idx="0">
                    <c:v>PC1</c:v>
                  </c:pt>
                  <c:pt idx="1">
                    <c:v>PC2</c:v>
                  </c:pt>
                  <c:pt idx="2">
                    <c:v>PC3</c:v>
                  </c:pt>
                  <c:pt idx="3">
                    <c:v>PC4</c:v>
                  </c:pt>
                  <c:pt idx="4">
                    <c:v>PC5</c:v>
                  </c:pt>
                  <c:pt idx="5">
                    <c:v>PC6</c:v>
                  </c:pt>
                  <c:pt idx="6">
                    <c:v>PC7</c:v>
                  </c:pt>
                  <c:pt idx="7">
                    <c:v>PC8</c:v>
                  </c:pt>
                </c:lvl>
              </c:multiLvlStrCache>
            </c:multiLvlStrRef>
          </c:cat>
          <c:val>
            <c:numRef>
              <c:f>Sheet1!$B$2:$B$9</c:f>
              <c:numCache>
                <c:formatCode>General</c:formatCode>
                <c:ptCount val="8"/>
                <c:pt idx="0">
                  <c:v>23.84</c:v>
                </c:pt>
                <c:pt idx="1">
                  <c:v>23.05</c:v>
                </c:pt>
                <c:pt idx="2">
                  <c:v>14.2</c:v>
                </c:pt>
                <c:pt idx="3">
                  <c:v>11.8</c:v>
                </c:pt>
                <c:pt idx="4">
                  <c:v>9.3</c:v>
                </c:pt>
                <c:pt idx="5">
                  <c:v>7.1</c:v>
                </c:pt>
                <c:pt idx="6">
                  <c:v>5.8</c:v>
                </c:pt>
                <c:pt idx="7">
                  <c:v>4.9</c:v>
                </c:pt>
              </c:numCache>
            </c:numRef>
          </c:val>
        </c:ser>
        <c:dLbls>
          <c:numFmt formatCode="#,##0" sourceLinked="0"/>
          <c:txPr>
            <a:bodyPr/>
            <a:lstStyle/>
            <a:p>
              <a:pPr>
                <a:defRPr b="0" i="0" strike="noStrike" sz="1200" u="none">
                  <a:solidFill>
                    <a:srgbClr val="E8F4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62A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F20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GLP-1 Reports</c:v>
                </c:pt>
              </c:strCache>
            </c:strRef>
          </c:tx>
          <c:spPr>
            <a:solidFill>
              <a:srgbClr val="00A896"/>
            </a:solidFill>
            <a:ln w="38100" cap="flat">
              <a:solidFill>
                <a:srgbClr val="00A8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A896"/>
              </a:solidFill>
              <a:ln w="9525" cap="flat">
                <a:solidFill>
                  <a:srgbClr val="00A896"/>
                </a:solidFill>
                <a:prstDash val="solid"/>
                <a:round/>
              </a:ln>
              <a:effectLst/>
            </c:spPr>
          </c:marker>
          <c:cat>
            <c:multiLvlStrRef>
              <c:f>Sheet1!$A$2:$A$14</c:f>
              <c:multiLvlStrCache>
                <c:ptCount val="13"/>
                <c:lvl>
                  <c:pt idx="0">
                    <c:v>23Q1</c:v>
                  </c:pt>
                  <c:pt idx="1">
                    <c:v>23Q2</c:v>
                  </c:pt>
                  <c:pt idx="2">
                    <c:v>23Q3</c:v>
                  </c:pt>
                  <c:pt idx="3">
                    <c:v>23Q4</c:v>
                  </c:pt>
                  <c:pt idx="4">
                    <c:v>24Q1</c:v>
                  </c:pt>
                  <c:pt idx="5">
                    <c:v>24Q2</c:v>
                  </c:pt>
                  <c:pt idx="6">
                    <c:v>24Q3</c:v>
                  </c:pt>
                  <c:pt idx="7">
                    <c:v>24Q4</c:v>
                  </c:pt>
                  <c:pt idx="8">
                    <c:v>25Q1</c:v>
                  </c:pt>
                  <c:pt idx="9">
                    <c:v>25Q2</c:v>
                  </c:pt>
                  <c:pt idx="10">
                    <c:v>25Q3</c:v>
                  </c:pt>
                  <c:pt idx="11">
                    <c:v>25Q4</c:v>
                  </c:pt>
                  <c:pt idx="12">
                    <c:v>26Q1</c:v>
                  </c:pt>
                </c:lvl>
              </c:multiLvlStrCache>
            </c:multiLvlStrRef>
          </c:cat>
          <c:val>
            <c:numRef>
              <c:f>Sheet1!$B$2:$B$14</c:f>
              <c:numCache>
                <c:formatCode>General</c:formatCode>
                <c:ptCount val="13"/>
                <c:pt idx="0">
                  <c:v>8200</c:v>
                </c:pt>
                <c:pt idx="1">
                  <c:v>9800</c:v>
                </c:pt>
                <c:pt idx="2">
                  <c:v>11500</c:v>
                </c:pt>
                <c:pt idx="3">
                  <c:v>13200</c:v>
                </c:pt>
                <c:pt idx="4">
                  <c:v>14800</c:v>
                </c:pt>
                <c:pt idx="5">
                  <c:v>16500</c:v>
                </c:pt>
                <c:pt idx="6">
                  <c:v>18200</c:v>
                </c:pt>
                <c:pt idx="7">
                  <c:v>19800</c:v>
                </c:pt>
                <c:pt idx="8">
                  <c:v>20500</c:v>
                </c:pt>
                <c:pt idx="9">
                  <c:v>21000</c:v>
                </c:pt>
                <c:pt idx="10">
                  <c:v>22500</c:v>
                </c:pt>
                <c:pt idx="11">
                  <c:v>23800</c:v>
                </c:pt>
                <c:pt idx="12">
                  <c:v>25100</c:v>
                </c:pt>
              </c:numCache>
            </c:numRef>
          </c:val>
          <c:smooth val="1"/>
        </c:ser>
        <c:ser>
          <c:idx val="1"/>
          <c:order val="1"/>
          <c:tx>
            <c:strRef>
              <c:f>Sheet1!$C$1</c:f>
              <c:strCache>
                <c:ptCount val="1"/>
                <c:pt idx="0">
                  <c:v>Control Reports</c:v>
                </c:pt>
              </c:strCache>
            </c:strRef>
          </c:tx>
          <c:spPr>
            <a:solidFill>
              <a:srgbClr val="162A50"/>
            </a:solidFill>
            <a:ln w="38100" cap="flat">
              <a:solidFill>
                <a:srgbClr val="162A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2A50"/>
              </a:solidFill>
              <a:ln w="9525" cap="flat">
                <a:solidFill>
                  <a:srgbClr val="162A50"/>
                </a:solidFill>
                <a:prstDash val="solid"/>
                <a:round/>
              </a:ln>
              <a:effectLst/>
            </c:spPr>
          </c:marker>
          <c:cat>
            <c:multiLvlStrRef>
              <c:f>Sheet1!$A$2:$A$14</c:f>
              <c:multiLvlStrCache>
                <c:ptCount val="13"/>
                <c:lvl>
                  <c:pt idx="0">
                    <c:v>23Q1</c:v>
                  </c:pt>
                  <c:pt idx="1">
                    <c:v>23Q2</c:v>
                  </c:pt>
                  <c:pt idx="2">
                    <c:v>23Q3</c:v>
                  </c:pt>
                  <c:pt idx="3">
                    <c:v>23Q4</c:v>
                  </c:pt>
                  <c:pt idx="4">
                    <c:v>24Q1</c:v>
                  </c:pt>
                  <c:pt idx="5">
                    <c:v>24Q2</c:v>
                  </c:pt>
                  <c:pt idx="6">
                    <c:v>24Q3</c:v>
                  </c:pt>
                  <c:pt idx="7">
                    <c:v>24Q4</c:v>
                  </c:pt>
                  <c:pt idx="8">
                    <c:v>25Q1</c:v>
                  </c:pt>
                  <c:pt idx="9">
                    <c:v>25Q2</c:v>
                  </c:pt>
                  <c:pt idx="10">
                    <c:v>25Q3</c:v>
                  </c:pt>
                  <c:pt idx="11">
                    <c:v>25Q4</c:v>
                  </c:pt>
                  <c:pt idx="12">
                    <c:v>26Q1</c:v>
                  </c:pt>
                </c:lvl>
              </c:multiLvlStrCache>
            </c:multiLvlStrRef>
          </c:cat>
          <c:val>
            <c:numRef>
              <c:f>Sheet1!$C$2:$C$14</c:f>
              <c:numCache>
                <c:formatCode>General</c:formatCode>
                <c:ptCount val="13"/>
                <c:pt idx="0">
                  <c:v>14500</c:v>
                </c:pt>
                <c:pt idx="1">
                  <c:v>14200</c:v>
                </c:pt>
                <c:pt idx="2">
                  <c:v>13800</c:v>
                </c:pt>
                <c:pt idx="3">
                  <c:v>13500</c:v>
                </c:pt>
                <c:pt idx="4">
                  <c:v>13200</c:v>
                </c:pt>
                <c:pt idx="5">
                  <c:v>12800</c:v>
                </c:pt>
                <c:pt idx="6">
                  <c:v>12400</c:v>
                </c:pt>
                <c:pt idx="7">
                  <c:v>12200</c:v>
                </c:pt>
                <c:pt idx="8">
                  <c:v>11800</c:v>
                </c:pt>
                <c:pt idx="9">
                  <c:v>11500</c:v>
                </c:pt>
                <c:pt idx="10">
                  <c:v>11200</c:v>
                </c:pt>
                <c:pt idx="11">
                  <c:v>11000</c:v>
                </c:pt>
                <c:pt idx="12">
                  <c:v>10700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62A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AF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8BAFC8"/>
              </a:solidFill>
            </a:defRPr>
          </a:pPr>
          <a:endParaRPr lang="en-US"/>
        </a:p>
      </c:txPr>
    </c:legend>
    <c:plotVisOnly val="1"/>
    <c:dispBlanksAs val="span"/>
  </c:chart>
  <c:spPr>
    <a:solidFill>
      <a:srgbClr val="0F204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Duration: ~45 seconds
Open with a hook: 'Ozempic. Wegovy. Mounjaro. These are the fastest-growing drug class in modern medicine — but what happens when 367,000 adverse event reports tell a different story?'
Pro-tip: Let the stats on the right speak for themselves. Point to the '2 Signals' callout as your teaser.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(Roadmap)
Duration: ~45 seconds
'Before we dive in, let me orient you to the full pipeline.' Walk through the 10-step metro map left to right. Emphasize that each step feeds the next. Point out the color shift from teal (engineering) to orange (discovery) as the story arc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(Clinical Motivation)
Duration: ~60 seconds
'Here's the clinical hook.' Explain the gastric emptying slowdown mechanism — it's the biological link between GLP-1 and every adverse event we study. Pro-tip: Point to the orange bullets about gastroparesis and pancreatitis — these are the serious events we're hunting for in 367,000 reports. The 3× growth statistic justifies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(Research Questions)
Duration: ~60 seconds
Present each RQ as a 'mission statement.' RQ1 is the safety signal question. RQ2 is the patient profiling question. RQ3 is the drug combination question. RQ4 is the prediction question. Together they span descriptive → predictive analytics, showing the full scope of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(Data Source)
Duration: ~60 seconds
Emphasize the Sitagliptin Rule strongly. Point out: 'If we compared GLP-1 users to everyone in FAERS, we'd be comparing sick diabetics to a mix of all patients — that's comparing apples to oranges.' The control group choice is a key scientific decision that validates the entire study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(Star Schema)
[GRADING: This slide directly addresses the Data Warehouse Design rubric criterion — 5 points]
Duration: ~60 seconds
'The star schema is the structural backbone of the entire project.' Walk through the central fact table and the surrounding dimension tables. Emphasize that this design enables fast aggregation queries for PRR calculations and that the bridge tables handle many-to-many drug/reaction relationships elegantly.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(ETL)
Duration: ~60 seconds
Walk through the pipeline left to right. Emphasize that Global Deduplication (orange box) is a critical step — without it, cases reported in multiple quarters would be double-counted, inflating signal statistics. The final 367,883 deduplicated cases are the foundation of all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(Cleaning)
Duration: ~45 seconds
Mention 8,232 outliers — this is concrete and memorable. Explain that a weight of 500 kg or negative time-to-onset is clearly a data entry error. Point to the IQR method as the principled way to handle this. Close with the PCA insight: 'Even after cleaning, the top 2 principal components explain almost half the variance, telling us the data is dense and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(PCA)
Duration: ~45 seconds
Point to the scree plot: PC1 and PC2 are nearly equal — which is unusual and means the data has two equally important axes of variation. This suggests we can't reduce to just one dimension. Mention that this motivates the use of DBSCAN on the 2D PCA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(Demographics)
Duration: ~60 seconds
Point to the orange warning markers. 'Controls are 10 years older on average, have 6× more concurrent drugs, and 8× more opioid co-reporting. This is confounding by indication — sicker patients were given older, cheaper diabetes drugs.' This makes the PRR analysis even more notable: despite controls being sicker, GLP-1 users still show higher GI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(Trends)
Duration: ~45 seconds
Point to the crossing trend lines. 'GLP-1 reports tripled while control reports gradually declined — this mirrors real-world prescribing where GLP-1s are rapidly replacing older diabetes drugs. More reports means both broader use AND potentially increased awareness of adverse events.' Note Tirzepatide's dominance in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(Signal Detection)
Duration: ~75 seconds
Pro-tip: Point to the red dashed threshold line. 'WHO-UMC criteria state that a PRR above 2.0, combined with chi-square &gt; 4 and at least 3 cases, constitutes a pharmacovigilance signal.' Walk the audience drug by drug — Semaglutide and Liraglutide cross the line. Tirzepatide (the newest drug, largest cohort) shows PRR=1.01 — barely above 1.0, which is actually reassuring for the newest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(Significance)
Duration: ~60 seconds
This is an important critical thinking moment. 'With 367,000 cases, even a difference of 0.6% in GI rates produces a p-value of 10⁻³⁸. That number looks dramatic, but the Cramér's V tells the real story: the effect is tiny.' This shows statistical literacy to the audience. Connect forward to the per-drug PRR which is where the real actionable signal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(Apriori)
Duration: ~60 seconds
Explain the Lift metric: 'Lift of 2.1 for GI_SEVERE_EVENT → HOSPITALIZED means this pair occurs 2.1 times more often than if the two events were independent. That's not random noise — it's a real co-occurrence pattern.' Pro-tip: Point to the Opioid rule as the most clinically interesting — it suggests that opioid co-reporters are a high-risk subgroup worth investigating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(Clustering Theory)
Duration: ~60 seconds
The key insight: 'K-Means assumes there are k groups — it will always find them whether they exist or not. DBSCAN makes no such assumption — and it found ONE continuous manifold, meaning patient risk exists on a spectrum.' These two results are complementary: K-Means gives us useful clinical phenotypes, while DBSCAN confirms there are no sharp boundaries between risk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(Patient Phenotypes)
Duration: ~60 seconds
Walk through the cluster gradient from left to right — teal (safe) to red (critical). The Critical Risk cluster is the punchline: '2,718 patients with 100% opioid co-reporting, 15+ concurrent drugs, and 89% severity rate. These are the highest-priority cases for manual pharmacovigilance review.' Connect this finding to the Apriori opioid rule from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(Algorithm Suite)
[GRADING: This slide directly addresses the Data Mining Techniques rubric — 30 points. Demonstrate breadth.]
Duration: ~60 seconds
'We didn't just run one model and stop — we systematically tested 5 different algorithmic families.' Walk through each icon. Emphasize that the choice of Recall as the optimization metric is a principled decision driven by the domain: in drug safety, a missed severe case is far worse than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(Model Comparison)
[GRADING: Results and Evaluation — 20 points]
Duration: ~75 seconds
Point to the green Random Forest row. 'The baseline Random Forest had a Recall of only 39% — worse than a coin flip for catching severe cases. By engineering the decision threshold from 0.50 to 0.15, we converted it into a 96% recall surveillance tool.' Use the grey-out technique — the other rows appear faded, drawing the eye to the teal winner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(Confusion Matrix)
Duration: ~60 seconds
Pro-tip: Point to the TN (113,166) and TP (18,966) cells — these are the correct predictions. Then point to FP (65,900) and say: 'Yes, we flag 65,900 cases that turn out to be non-severe — those are false alarms. But we only miss 710 truly severe cases.' Ask the audience: 'Would you rather send 65,900 alerts that turned out to be unnecessary, or miss 710 patients who needed immediate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(Key Findings)
Duration: ~90 seconds
Deliver each finding as a headline story. Finding 1: Point to Semaglutide signal — 'This is the Ozempic finding.' Finding 2: 'The opioid danger zone — this is a new, previously unreported high-risk combination.' Finding 3: The is_us discovery is the most surprising. 'We expected age or polypharmacy to be the top predictor. Instead, it was geography — revealing systematic US reporting bias. This has implications for how all FAERS analyses are interpreted globally.'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21 (Conclusion &amp; Live Demo)
Duration: ~90 seconds
Point to the Risk Simulator screenshot. 'And to bridge the gap between data and clinical practice, I've built a live interactive dashboard. You can input any patient's parameters — age, weight, polypharmacy count, GLP-1 drug — and the trained Random Forest model returns a real-time hospitalization risk prediction.' If presenting live: demo the HTML file.
Close with: 'This study demonstrates that data mining on a voluntary reporting database can surface clinically meaningful pharmacovigilance signals — at scale, reproducibly, and within a single pipeline.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22 (Star Schema)
Duration: ~60–75 seconds
This slide documents the warehousing step required by the rubric. The center fact table captures one unique FAERS case, while the surrounding dimensions store normalized patient demographics, time attributes, outcomes, drugs, and reaction terms. This star design supports fast slice‑and‑dice analysis and provides a clean ETL boundary between raw FAERS tables and modeling-ready features. Emphasize that this structure enables reproducibility and consistent cohort definitions across EDA, mining,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23 (Model Evaluation)
Duration: ~90 seconds
Walk the audience through the performance table on the left: Decision Tree, Naive Bayes, and Random Forest with accuracy, precision, recall, F1, and ROC‑AUC. Emphasize that recall is the primary surveillance metric because missing a severe GI event is the most costly error.
On the right, interpret the confusion matrix: the threshold‑tuned Random Forest aggressively flags potential severe cases to maximize sensitivity. Acknowledge the precision trade‑off and frame it as acceptable for pharmacovigilance triage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24 (Visual Summary)
Duration: ~90 seconds
Use this montage to recap the full analytic story: disproportionality signal (PRR forest), model performance, feature importance, PCA variance distribution, and the warehousing architecture. This slide ties together the rubric requirements by showing that the project covers data warehousing, preprocessing, visualization, data mining, and evaluation. End with a crisp summary: GLP‑1 agents show significant GI signal, a tuned Random Forest provides high‑sensitivity surveillance, and the pipeline is reproducible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0F2040"/>
          </a:solidFill>
          <a:ln w="12700">
            <a:solidFill>
              <a:srgbClr val="028090"/>
            </a:solidFill>
            <a:prstDash val="solid"/>
          </a:ln>
        </p:spPr>
      </p:sp>
      <p:sp>
        <p:nvSpPr>
          <p:cNvPr id="3" name="Shape 1"/>
          <p:cNvSpPr/>
          <p:nvPr/>
        </p:nvSpPr>
        <p:spPr>
          <a:xfrm>
            <a:off x="5010912" y="0"/>
            <a:ext cx="36576" cy="5143500"/>
          </a:xfrm>
          <a:prstGeom prst="rect">
            <a:avLst/>
          </a:prstGeom>
          <a:solidFill>
            <a:srgbClr val="00A896"/>
          </a:solidFill>
          <a:ln w="12700">
            <a:solidFill>
              <a:srgbClr val="00A896"/>
            </a:solidFill>
            <a:prstDash val="solid"/>
          </a:ln>
        </p:spPr>
      </p:sp>
      <p:sp>
        <p:nvSpPr>
          <p:cNvPr id="4" name="Shape 2"/>
          <p:cNvSpPr/>
          <p:nvPr/>
        </p:nvSpPr>
        <p:spPr>
          <a:xfrm>
            <a:off x="365760" y="457200"/>
            <a:ext cx="3657600" cy="54864"/>
          </a:xfrm>
          <a:prstGeom prst="rect">
            <a:avLst/>
          </a:prstGeom>
          <a:solidFill>
            <a:srgbClr val="00A896"/>
          </a:solidFill>
          <a:ln w="12700">
            <a:solidFill>
              <a:srgbClr val="00A896"/>
            </a:solidFill>
            <a:prstDash val="solid"/>
          </a:ln>
        </p:spPr>
      </p:sp>
      <p:sp>
        <p:nvSpPr>
          <p:cNvPr id="5" name="Text 3"/>
          <p:cNvSpPr/>
          <p:nvPr/>
        </p:nvSpPr>
        <p:spPr>
          <a:xfrm>
            <a:off x="365760" y="594360"/>
            <a:ext cx="4572000" cy="14630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GLP-1 RECEPTOR AGONISTS</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&amp; SEVERE GI EVENTS</a:t>
            </a:r>
            <a:endParaRPr lang="en-US" sz="2800" dirty="0"/>
          </a:p>
        </p:txBody>
      </p:sp>
      <p:sp>
        <p:nvSpPr>
          <p:cNvPr id="6" name="Text 4"/>
          <p:cNvSpPr/>
          <p:nvPr/>
        </p:nvSpPr>
        <p:spPr>
          <a:xfrm>
            <a:off x="365760" y="2148840"/>
            <a:ext cx="4572000" cy="320040"/>
          </a:xfrm>
          <a:prstGeom prst="rect">
            <a:avLst/>
          </a:prstGeom>
          <a:noFill/>
          <a:ln/>
        </p:spPr>
        <p:txBody>
          <a:bodyPr wrap="square" rtlCol="0" anchor="ctr"/>
          <a:lstStyle/>
          <a:p>
            <a:pPr indent="0" marL="0">
              <a:buNone/>
            </a:pPr>
            <a:r>
              <a:rPr lang="en-US" sz="1500" i="1" dirty="0">
                <a:solidFill>
                  <a:srgbClr val="00A896"/>
                </a:solidFill>
                <a:latin typeface="Calibri" pitchFamily="34" charset="0"/>
                <a:ea typeface="Calibri" pitchFamily="34" charset="-122"/>
                <a:cs typeface="Calibri" pitchFamily="34" charset="-120"/>
              </a:rPr>
              <a:t>A 13-Quarter FAERS Data Mining Study</a:t>
            </a:r>
            <a:endParaRPr lang="en-US" sz="1500" dirty="0"/>
          </a:p>
        </p:txBody>
      </p:sp>
      <p:sp>
        <p:nvSpPr>
          <p:cNvPr id="7" name="Text 5"/>
          <p:cNvSpPr/>
          <p:nvPr/>
        </p:nvSpPr>
        <p:spPr>
          <a:xfrm>
            <a:off x="365760" y="2560320"/>
            <a:ext cx="4572000" cy="256032"/>
          </a:xfrm>
          <a:prstGeom prst="rect">
            <a:avLst/>
          </a:prstGeom>
          <a:noFill/>
          <a:ln/>
        </p:spPr>
        <p:txBody>
          <a:bodyPr wrap="square" rtlCol="0" anchor="ctr"/>
          <a:lstStyle/>
          <a:p>
            <a:pPr indent="0" marL="0">
              <a:buNone/>
            </a:pPr>
            <a:r>
              <a:rPr lang="en-US" sz="1100" dirty="0">
                <a:solidFill>
                  <a:srgbClr val="8BAFC8"/>
                </a:solidFill>
                <a:latin typeface="Calibri" pitchFamily="34" charset="0"/>
                <a:ea typeface="Calibri" pitchFamily="34" charset="-122"/>
                <a:cs typeface="Calibri" pitchFamily="34" charset="-120"/>
              </a:rPr>
              <a:t>CMPE 255 — Data Mining  |  Spring 2026  |  SJSU</a:t>
            </a:r>
            <a:endParaRPr lang="en-US" sz="1100" dirty="0"/>
          </a:p>
        </p:txBody>
      </p:sp>
      <p:sp>
        <p:nvSpPr>
          <p:cNvPr id="8" name="Shape 6"/>
          <p:cNvSpPr/>
          <p:nvPr/>
        </p:nvSpPr>
        <p:spPr>
          <a:xfrm>
            <a:off x="365760" y="3017520"/>
            <a:ext cx="3200400" cy="777240"/>
          </a:xfrm>
          <a:prstGeom prst="rect">
            <a:avLst/>
          </a:prstGeom>
          <a:solidFill>
            <a:srgbClr val="00A896">
              <a:alpha val="15000"/>
            </a:srgbClr>
          </a:solidFill>
          <a:ln w="12700">
            <a:solidFill>
              <a:srgbClr val="00A896"/>
            </a:solidFill>
            <a:prstDash val="solid"/>
          </a:ln>
        </p:spPr>
      </p:sp>
      <p:sp>
        <p:nvSpPr>
          <p:cNvPr id="9" name="Text 7"/>
          <p:cNvSpPr/>
          <p:nvPr/>
        </p:nvSpPr>
        <p:spPr>
          <a:xfrm>
            <a:off x="502920" y="3072384"/>
            <a:ext cx="2743200" cy="201168"/>
          </a:xfrm>
          <a:prstGeom prst="rect">
            <a:avLst/>
          </a:prstGeom>
          <a:noFill/>
          <a:ln/>
        </p:spPr>
        <p:txBody>
          <a:bodyPr wrap="square" rtlCol="0" anchor="ctr"/>
          <a:lstStyle/>
          <a:p>
            <a:pPr indent="0" marL="0">
              <a:buNone/>
            </a:pPr>
            <a:r>
              <a:rPr lang="en-US" sz="800" dirty="0">
                <a:solidFill>
                  <a:srgbClr val="8BAFC8"/>
                </a:solidFill>
                <a:latin typeface="Calibri" pitchFamily="34" charset="0"/>
                <a:ea typeface="Calibri" pitchFamily="34" charset="-122"/>
                <a:cs typeface="Calibri" pitchFamily="34" charset="-120"/>
              </a:rPr>
              <a:t>Presented by</a:t>
            </a:r>
            <a:endParaRPr lang="en-US" sz="800" dirty="0"/>
          </a:p>
        </p:txBody>
      </p:sp>
      <p:sp>
        <p:nvSpPr>
          <p:cNvPr id="10" name="Text 8"/>
          <p:cNvSpPr/>
          <p:nvPr/>
        </p:nvSpPr>
        <p:spPr>
          <a:xfrm>
            <a:off x="502920" y="3273552"/>
            <a:ext cx="274320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Anukrithi Myadala</a:t>
            </a:r>
            <a:endParaRPr lang="en-US" sz="1600" dirty="0"/>
          </a:p>
        </p:txBody>
      </p:sp>
      <p:sp>
        <p:nvSpPr>
          <p:cNvPr id="11" name="Text 9"/>
          <p:cNvSpPr/>
          <p:nvPr/>
        </p:nvSpPr>
        <p:spPr>
          <a:xfrm>
            <a:off x="5257800" y="411480"/>
            <a:ext cx="3657600" cy="256032"/>
          </a:xfrm>
          <a:prstGeom prst="rect">
            <a:avLst/>
          </a:prstGeom>
          <a:noFill/>
          <a:ln/>
        </p:spPr>
        <p:txBody>
          <a:bodyPr wrap="square" rtlCol="0" anchor="ctr"/>
          <a:lstStyle/>
          <a:p>
            <a:pPr indent="0" marL="0">
              <a:buNone/>
            </a:pPr>
            <a:r>
              <a:rPr lang="en-US" sz="900" b="1" spc="300" kern="0" dirty="0">
                <a:solidFill>
                  <a:srgbClr val="02C39A"/>
                </a:solidFill>
                <a:latin typeface="Calibri" pitchFamily="34" charset="0"/>
                <a:ea typeface="Calibri" pitchFamily="34" charset="-122"/>
                <a:cs typeface="Calibri" pitchFamily="34" charset="-120"/>
              </a:rPr>
              <a:t>AT A GLANCE</a:t>
            </a:r>
            <a:endParaRPr lang="en-US" sz="900" dirty="0"/>
          </a:p>
        </p:txBody>
      </p:sp>
      <p:sp>
        <p:nvSpPr>
          <p:cNvPr id="12" name="Shape 10"/>
          <p:cNvSpPr/>
          <p:nvPr/>
        </p:nvSpPr>
        <p:spPr>
          <a:xfrm>
            <a:off x="5257800" y="822960"/>
            <a:ext cx="1783080" cy="1097280"/>
          </a:xfrm>
          <a:prstGeom prst="rect">
            <a:avLst/>
          </a:prstGeom>
          <a:solidFill>
            <a:srgbClr val="0A1628"/>
          </a:solidFill>
          <a:ln w="12700">
            <a:solidFill>
              <a:srgbClr val="028090"/>
            </a:solidFill>
            <a:prstDash val="solid"/>
          </a:ln>
        </p:spPr>
      </p:sp>
      <p:sp>
        <p:nvSpPr>
          <p:cNvPr id="13" name="Text 11"/>
          <p:cNvSpPr/>
          <p:nvPr/>
        </p:nvSpPr>
        <p:spPr>
          <a:xfrm>
            <a:off x="5349240" y="98755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367,883</a:t>
            </a:r>
            <a:endParaRPr lang="en-US" sz="2400" dirty="0"/>
          </a:p>
        </p:txBody>
      </p:sp>
      <p:sp>
        <p:nvSpPr>
          <p:cNvPr id="14" name="Text 12"/>
          <p:cNvSpPr/>
          <p:nvPr/>
        </p:nvSpPr>
        <p:spPr>
          <a:xfrm>
            <a:off x="5349240" y="150876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Total FAERS Cases</a:t>
            </a:r>
            <a:endParaRPr lang="en-US" sz="900" dirty="0"/>
          </a:p>
        </p:txBody>
      </p:sp>
      <p:sp>
        <p:nvSpPr>
          <p:cNvPr id="15" name="Shape 13"/>
          <p:cNvSpPr/>
          <p:nvPr/>
        </p:nvSpPr>
        <p:spPr>
          <a:xfrm>
            <a:off x="7178040" y="822960"/>
            <a:ext cx="1783080" cy="1097280"/>
          </a:xfrm>
          <a:prstGeom prst="rect">
            <a:avLst/>
          </a:prstGeom>
          <a:solidFill>
            <a:srgbClr val="0A1628"/>
          </a:solidFill>
          <a:ln w="12700">
            <a:solidFill>
              <a:srgbClr val="028090"/>
            </a:solidFill>
            <a:prstDash val="solid"/>
          </a:ln>
        </p:spPr>
      </p:sp>
      <p:sp>
        <p:nvSpPr>
          <p:cNvPr id="16" name="Text 14"/>
          <p:cNvSpPr/>
          <p:nvPr/>
        </p:nvSpPr>
        <p:spPr>
          <a:xfrm>
            <a:off x="7269480" y="98755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13 Qtrs</a:t>
            </a:r>
            <a:endParaRPr lang="en-US" sz="2400" dirty="0"/>
          </a:p>
        </p:txBody>
      </p:sp>
      <p:sp>
        <p:nvSpPr>
          <p:cNvPr id="17" name="Text 15"/>
          <p:cNvSpPr/>
          <p:nvPr/>
        </p:nvSpPr>
        <p:spPr>
          <a:xfrm>
            <a:off x="7269480" y="150876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2023Q1 → 2026Q1</a:t>
            </a:r>
            <a:endParaRPr lang="en-US" sz="900" dirty="0"/>
          </a:p>
        </p:txBody>
      </p:sp>
      <p:sp>
        <p:nvSpPr>
          <p:cNvPr id="18" name="Shape 16"/>
          <p:cNvSpPr/>
          <p:nvPr/>
        </p:nvSpPr>
        <p:spPr>
          <a:xfrm>
            <a:off x="5257800" y="2057400"/>
            <a:ext cx="1783080" cy="1097280"/>
          </a:xfrm>
          <a:prstGeom prst="rect">
            <a:avLst/>
          </a:prstGeom>
          <a:solidFill>
            <a:srgbClr val="0A1628"/>
          </a:solidFill>
          <a:ln w="12700">
            <a:solidFill>
              <a:srgbClr val="028090"/>
            </a:solidFill>
            <a:prstDash val="solid"/>
          </a:ln>
        </p:spPr>
      </p:sp>
      <p:sp>
        <p:nvSpPr>
          <p:cNvPr id="19" name="Text 17"/>
          <p:cNvSpPr/>
          <p:nvPr/>
        </p:nvSpPr>
        <p:spPr>
          <a:xfrm>
            <a:off x="5349240" y="222199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2 Signals</a:t>
            </a:r>
            <a:endParaRPr lang="en-US" sz="2400" dirty="0"/>
          </a:p>
        </p:txBody>
      </p:sp>
      <p:sp>
        <p:nvSpPr>
          <p:cNvPr id="20" name="Text 18"/>
          <p:cNvSpPr/>
          <p:nvPr/>
        </p:nvSpPr>
        <p:spPr>
          <a:xfrm>
            <a:off x="5349240" y="274320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Sema &amp; Lira PRR &gt; 2</a:t>
            </a:r>
            <a:endParaRPr lang="en-US" sz="900" dirty="0"/>
          </a:p>
        </p:txBody>
      </p:sp>
      <p:sp>
        <p:nvSpPr>
          <p:cNvPr id="21" name="Shape 19"/>
          <p:cNvSpPr/>
          <p:nvPr/>
        </p:nvSpPr>
        <p:spPr>
          <a:xfrm>
            <a:off x="7178040" y="2057400"/>
            <a:ext cx="1783080" cy="1097280"/>
          </a:xfrm>
          <a:prstGeom prst="rect">
            <a:avLst/>
          </a:prstGeom>
          <a:solidFill>
            <a:srgbClr val="0A1628"/>
          </a:solidFill>
          <a:ln w="12700">
            <a:solidFill>
              <a:srgbClr val="028090"/>
            </a:solidFill>
            <a:prstDash val="solid"/>
          </a:ln>
        </p:spPr>
      </p:sp>
      <p:sp>
        <p:nvSpPr>
          <p:cNvPr id="22" name="Text 20"/>
          <p:cNvSpPr/>
          <p:nvPr/>
        </p:nvSpPr>
        <p:spPr>
          <a:xfrm>
            <a:off x="7269480" y="222199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96.4%</a:t>
            </a:r>
            <a:endParaRPr lang="en-US" sz="2400" dirty="0"/>
          </a:p>
        </p:txBody>
      </p:sp>
      <p:sp>
        <p:nvSpPr>
          <p:cNvPr id="23" name="Text 21"/>
          <p:cNvSpPr/>
          <p:nvPr/>
        </p:nvSpPr>
        <p:spPr>
          <a:xfrm>
            <a:off x="7269480" y="274320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Random Forest Recall</a:t>
            </a:r>
            <a:endParaRPr lang="en-US" sz="900" dirty="0"/>
          </a:p>
        </p:txBody>
      </p:sp>
      <p:sp>
        <p:nvSpPr>
          <p:cNvPr id="24" name="Shape 22"/>
          <p:cNvSpPr/>
          <p:nvPr/>
        </p:nvSpPr>
        <p:spPr>
          <a:xfrm>
            <a:off x="5257800" y="3291840"/>
            <a:ext cx="1783080" cy="1097280"/>
          </a:xfrm>
          <a:prstGeom prst="rect">
            <a:avLst/>
          </a:prstGeom>
          <a:solidFill>
            <a:srgbClr val="0A1628"/>
          </a:solidFill>
          <a:ln w="12700">
            <a:solidFill>
              <a:srgbClr val="028090"/>
            </a:solidFill>
            <a:prstDash val="solid"/>
          </a:ln>
        </p:spPr>
      </p:sp>
      <p:sp>
        <p:nvSpPr>
          <p:cNvPr id="25" name="Text 23"/>
          <p:cNvSpPr/>
          <p:nvPr/>
        </p:nvSpPr>
        <p:spPr>
          <a:xfrm>
            <a:off x="5349240" y="345643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5 Clusters</a:t>
            </a:r>
            <a:endParaRPr lang="en-US" sz="2400" dirty="0"/>
          </a:p>
        </p:txBody>
      </p:sp>
      <p:sp>
        <p:nvSpPr>
          <p:cNvPr id="26" name="Text 24"/>
          <p:cNvSpPr/>
          <p:nvPr/>
        </p:nvSpPr>
        <p:spPr>
          <a:xfrm>
            <a:off x="5349240" y="397764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Patient Phenotypes</a:t>
            </a:r>
            <a:endParaRPr lang="en-US" sz="900" dirty="0"/>
          </a:p>
        </p:txBody>
      </p:sp>
      <p:sp>
        <p:nvSpPr>
          <p:cNvPr id="27" name="Shape 25"/>
          <p:cNvSpPr/>
          <p:nvPr/>
        </p:nvSpPr>
        <p:spPr>
          <a:xfrm>
            <a:off x="7178040" y="3291840"/>
            <a:ext cx="1783080" cy="1097280"/>
          </a:xfrm>
          <a:prstGeom prst="rect">
            <a:avLst/>
          </a:prstGeom>
          <a:solidFill>
            <a:srgbClr val="0A1628"/>
          </a:solidFill>
          <a:ln w="12700">
            <a:solidFill>
              <a:srgbClr val="028090"/>
            </a:solidFill>
            <a:prstDash val="solid"/>
          </a:ln>
        </p:spPr>
      </p:sp>
      <p:sp>
        <p:nvSpPr>
          <p:cNvPr id="28" name="Text 26"/>
          <p:cNvSpPr/>
          <p:nvPr/>
        </p:nvSpPr>
        <p:spPr>
          <a:xfrm>
            <a:off x="7269480" y="3456432"/>
            <a:ext cx="1554480" cy="502920"/>
          </a:xfrm>
          <a:prstGeom prst="rect">
            <a:avLst/>
          </a:prstGeom>
          <a:noFill/>
          <a:ln/>
        </p:spPr>
        <p:txBody>
          <a:bodyPr wrap="square" rtlCol="0" anchor="ctr"/>
          <a:lstStyle/>
          <a:p>
            <a:pPr indent="0" marL="0">
              <a:buNone/>
            </a:pPr>
            <a:r>
              <a:rPr lang="en-US" sz="2400" b="1" dirty="0">
                <a:solidFill>
                  <a:srgbClr val="00A896"/>
                </a:solidFill>
                <a:latin typeface="Calibri" pitchFamily="34" charset="0"/>
                <a:ea typeface="Calibri" pitchFamily="34" charset="-122"/>
                <a:cs typeface="Calibri" pitchFamily="34" charset="-120"/>
              </a:rPr>
              <a:t>6 Rules</a:t>
            </a:r>
            <a:endParaRPr lang="en-US" sz="2400" dirty="0"/>
          </a:p>
        </p:txBody>
      </p:sp>
      <p:sp>
        <p:nvSpPr>
          <p:cNvPr id="29" name="Text 27"/>
          <p:cNvSpPr/>
          <p:nvPr/>
        </p:nvSpPr>
        <p:spPr>
          <a:xfrm>
            <a:off x="7269480" y="3977640"/>
            <a:ext cx="1554480" cy="27432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Apriori Patterns</a:t>
            </a:r>
            <a:endParaRPr lang="en-US" sz="900" dirty="0"/>
          </a:p>
        </p:txBody>
      </p:sp>
      <p:sp>
        <p:nvSpPr>
          <p:cNvPr id="30" name="Text 28"/>
          <p:cNvSpPr/>
          <p:nvPr/>
        </p:nvSpPr>
        <p:spPr>
          <a:xfrm>
            <a:off x="365760" y="4850892"/>
            <a:ext cx="4572000" cy="201168"/>
          </a:xfrm>
          <a:prstGeom prst="rect">
            <a:avLst/>
          </a:prstGeom>
          <a:noFill/>
          <a:ln/>
        </p:spPr>
        <p:txBody>
          <a:bodyPr wrap="square" rtlCol="0" anchor="ctr"/>
          <a:lstStyle/>
          <a:p>
            <a:pPr indent="0" marL="0">
              <a:buNone/>
            </a:pPr>
            <a:r>
              <a:rPr lang="en-US" sz="800" dirty="0">
                <a:solidFill>
                  <a:srgbClr val="4A6D87"/>
                </a:solidFill>
                <a:latin typeface="Calibri" pitchFamily="34" charset="0"/>
                <a:ea typeface="Calibri" pitchFamily="34" charset="-122"/>
                <a:cs typeface="Calibri" pitchFamily="34" charset="-120"/>
              </a:rPr>
              <a:t>Source: FDA FAERS Voluntary Reporting System</a:t>
            </a:r>
            <a:endParaRPr lang="en-US" sz="800" dirty="0"/>
          </a:p>
        </p:txBody>
      </p:sp>
      <p:sp>
        <p:nvSpPr>
          <p:cNvPr id="31" name="Text 29"/>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 / 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The Project Roadmap</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A 10-step pipeline from raw FDA data to clinical insight</a:t>
            </a:r>
            <a:endParaRPr lang="en-US" sz="1300" dirty="0"/>
          </a:p>
        </p:txBody>
      </p:sp>
      <p:sp>
        <p:nvSpPr>
          <p:cNvPr id="7" name="Shape 5"/>
          <p:cNvSpPr/>
          <p:nvPr/>
        </p:nvSpPr>
        <p:spPr>
          <a:xfrm>
            <a:off x="649224" y="2441448"/>
            <a:ext cx="7571232" cy="54864"/>
          </a:xfrm>
          <a:prstGeom prst="rect">
            <a:avLst/>
          </a:prstGeom>
          <a:solidFill>
            <a:srgbClr val="162A50"/>
          </a:solidFill>
          <a:ln w="12700">
            <a:solidFill>
              <a:srgbClr val="162A50"/>
            </a:solidFill>
            <a:prstDash val="solid"/>
          </a:ln>
        </p:spPr>
      </p:sp>
      <p:sp>
        <p:nvSpPr>
          <p:cNvPr id="8" name="Shape 6"/>
          <p:cNvSpPr/>
          <p:nvPr/>
        </p:nvSpPr>
        <p:spPr>
          <a:xfrm>
            <a:off x="393192" y="2212848"/>
            <a:ext cx="512064" cy="512064"/>
          </a:xfrm>
          <a:prstGeom prst="ellipse">
            <a:avLst/>
          </a:prstGeom>
          <a:solidFill>
            <a:srgbClr val="00A896"/>
          </a:solidFill>
          <a:ln w="25400">
            <a:solidFill>
              <a:srgbClr val="0A1628"/>
            </a:solidFill>
            <a:prstDash val="solid"/>
          </a:ln>
        </p:spPr>
      </p:sp>
      <p:sp>
        <p:nvSpPr>
          <p:cNvPr id="9" name="Text 7"/>
          <p:cNvSpPr/>
          <p:nvPr/>
        </p:nvSpPr>
        <p:spPr>
          <a:xfrm>
            <a:off x="393192"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01</a:t>
            </a:r>
            <a:endParaRPr lang="en-US" sz="900" dirty="0"/>
          </a:p>
        </p:txBody>
      </p:sp>
      <p:sp>
        <p:nvSpPr>
          <p:cNvPr id="10" name="Text 8"/>
          <p:cNvSpPr/>
          <p:nvPr/>
        </p:nvSpPr>
        <p:spPr>
          <a:xfrm>
            <a:off x="274320" y="1874520"/>
            <a:ext cx="749808" cy="502920"/>
          </a:xfrm>
          <a:prstGeom prst="rect">
            <a:avLst/>
          </a:prstGeom>
          <a:noFill/>
          <a:ln/>
        </p:spPr>
        <p:txBody>
          <a:bodyPr wrap="square" rtlCol="0" anchor="b"/>
          <a:lstStyle/>
          <a:p>
            <a:pPr algn="ctr" indent="0" marL="0">
              <a:buNone/>
            </a:pPr>
            <a:r>
              <a:rPr lang="en-US" sz="800" dirty="0">
                <a:solidFill>
                  <a:srgbClr val="E8F4F8"/>
                </a:solidFill>
                <a:latin typeface="Calibri" pitchFamily="34" charset="0"/>
                <a:ea typeface="Calibri" pitchFamily="34" charset="-122"/>
                <a:cs typeface="Calibri" pitchFamily="34" charset="-120"/>
              </a:rPr>
              <a:t>Problem</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Definition</a:t>
            </a:r>
            <a:endParaRPr lang="en-US" sz="800" dirty="0"/>
          </a:p>
        </p:txBody>
      </p:sp>
      <p:sp>
        <p:nvSpPr>
          <p:cNvPr id="11" name="Shape 9"/>
          <p:cNvSpPr/>
          <p:nvPr/>
        </p:nvSpPr>
        <p:spPr>
          <a:xfrm>
            <a:off x="1234440" y="2212848"/>
            <a:ext cx="512064" cy="512064"/>
          </a:xfrm>
          <a:prstGeom prst="ellipse">
            <a:avLst/>
          </a:prstGeom>
          <a:solidFill>
            <a:srgbClr val="02C39A"/>
          </a:solidFill>
          <a:ln w="25400">
            <a:solidFill>
              <a:srgbClr val="0A1628"/>
            </a:solidFill>
            <a:prstDash val="solid"/>
          </a:ln>
        </p:spPr>
      </p:sp>
      <p:sp>
        <p:nvSpPr>
          <p:cNvPr id="12" name="Text 10"/>
          <p:cNvSpPr/>
          <p:nvPr/>
        </p:nvSpPr>
        <p:spPr>
          <a:xfrm>
            <a:off x="1234440"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02</a:t>
            </a:r>
            <a:endParaRPr lang="en-US" sz="900" dirty="0"/>
          </a:p>
        </p:txBody>
      </p:sp>
      <p:sp>
        <p:nvSpPr>
          <p:cNvPr id="13" name="Text 11"/>
          <p:cNvSpPr/>
          <p:nvPr/>
        </p:nvSpPr>
        <p:spPr>
          <a:xfrm>
            <a:off x="1115568" y="2788920"/>
            <a:ext cx="749808" cy="502920"/>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Data</a:t>
            </a:r>
            <a:endParaRPr lang="en-US" sz="800" dirty="0"/>
          </a:p>
          <a:p>
            <a:pPr algn="ctr" indent="0" marL="0">
              <a:buNone/>
            </a:pPr>
            <a:r>
              <a:rPr lang="en-US" sz="800" dirty="0">
                <a:solidFill>
                  <a:srgbClr val="8BAFC8"/>
                </a:solidFill>
                <a:latin typeface="Calibri" pitchFamily="34" charset="0"/>
                <a:ea typeface="Calibri" pitchFamily="34" charset="-122"/>
                <a:cs typeface="Calibri" pitchFamily="34" charset="-120"/>
              </a:rPr>
              <a:t>Source</a:t>
            </a:r>
            <a:endParaRPr lang="en-US" sz="800" dirty="0"/>
          </a:p>
        </p:txBody>
      </p:sp>
      <p:sp>
        <p:nvSpPr>
          <p:cNvPr id="14" name="Shape 12"/>
          <p:cNvSpPr/>
          <p:nvPr/>
        </p:nvSpPr>
        <p:spPr>
          <a:xfrm>
            <a:off x="2075688" y="2212848"/>
            <a:ext cx="512064" cy="512064"/>
          </a:xfrm>
          <a:prstGeom prst="ellipse">
            <a:avLst/>
          </a:prstGeom>
          <a:solidFill>
            <a:srgbClr val="00A896"/>
          </a:solidFill>
          <a:ln w="25400">
            <a:solidFill>
              <a:srgbClr val="0A1628"/>
            </a:solidFill>
            <a:prstDash val="solid"/>
          </a:ln>
        </p:spPr>
      </p:sp>
      <p:sp>
        <p:nvSpPr>
          <p:cNvPr id="15" name="Text 13"/>
          <p:cNvSpPr/>
          <p:nvPr/>
        </p:nvSpPr>
        <p:spPr>
          <a:xfrm>
            <a:off x="2075688"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03</a:t>
            </a:r>
            <a:endParaRPr lang="en-US" sz="900" dirty="0"/>
          </a:p>
        </p:txBody>
      </p:sp>
      <p:sp>
        <p:nvSpPr>
          <p:cNvPr id="16" name="Text 14"/>
          <p:cNvSpPr/>
          <p:nvPr/>
        </p:nvSpPr>
        <p:spPr>
          <a:xfrm>
            <a:off x="1956816" y="1874520"/>
            <a:ext cx="749808" cy="502920"/>
          </a:xfrm>
          <a:prstGeom prst="rect">
            <a:avLst/>
          </a:prstGeom>
          <a:noFill/>
          <a:ln/>
        </p:spPr>
        <p:txBody>
          <a:bodyPr wrap="square" rtlCol="0" anchor="b"/>
          <a:lstStyle/>
          <a:p>
            <a:pPr algn="ctr" indent="0" marL="0">
              <a:buNone/>
            </a:pPr>
            <a:r>
              <a:rPr lang="en-US" sz="800" dirty="0">
                <a:solidFill>
                  <a:srgbClr val="E8F4F8"/>
                </a:solidFill>
                <a:latin typeface="Calibri" pitchFamily="34" charset="0"/>
                <a:ea typeface="Calibri" pitchFamily="34" charset="-122"/>
                <a:cs typeface="Calibri" pitchFamily="34" charset="-120"/>
              </a:rPr>
              <a:t>ETL</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Pipeline</a:t>
            </a:r>
            <a:endParaRPr lang="en-US" sz="800" dirty="0"/>
          </a:p>
        </p:txBody>
      </p:sp>
      <p:sp>
        <p:nvSpPr>
          <p:cNvPr id="17" name="Shape 15"/>
          <p:cNvSpPr/>
          <p:nvPr/>
        </p:nvSpPr>
        <p:spPr>
          <a:xfrm>
            <a:off x="2916936" y="2212848"/>
            <a:ext cx="512064" cy="512064"/>
          </a:xfrm>
          <a:prstGeom prst="ellipse">
            <a:avLst/>
          </a:prstGeom>
          <a:solidFill>
            <a:srgbClr val="02C39A"/>
          </a:solidFill>
          <a:ln w="25400">
            <a:solidFill>
              <a:srgbClr val="0A1628"/>
            </a:solidFill>
            <a:prstDash val="solid"/>
          </a:ln>
        </p:spPr>
      </p:sp>
      <p:sp>
        <p:nvSpPr>
          <p:cNvPr id="18" name="Text 16"/>
          <p:cNvSpPr/>
          <p:nvPr/>
        </p:nvSpPr>
        <p:spPr>
          <a:xfrm>
            <a:off x="2916936"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04</a:t>
            </a:r>
            <a:endParaRPr lang="en-US" sz="900" dirty="0"/>
          </a:p>
        </p:txBody>
      </p:sp>
      <p:sp>
        <p:nvSpPr>
          <p:cNvPr id="19" name="Text 17"/>
          <p:cNvSpPr/>
          <p:nvPr/>
        </p:nvSpPr>
        <p:spPr>
          <a:xfrm>
            <a:off x="2798064" y="2788920"/>
            <a:ext cx="749808" cy="502920"/>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Star</a:t>
            </a:r>
            <a:endParaRPr lang="en-US" sz="800" dirty="0"/>
          </a:p>
          <a:p>
            <a:pPr algn="ctr" indent="0" marL="0">
              <a:buNone/>
            </a:pPr>
            <a:r>
              <a:rPr lang="en-US" sz="800" dirty="0">
                <a:solidFill>
                  <a:srgbClr val="8BAFC8"/>
                </a:solidFill>
                <a:latin typeface="Calibri" pitchFamily="34" charset="0"/>
                <a:ea typeface="Calibri" pitchFamily="34" charset="-122"/>
                <a:cs typeface="Calibri" pitchFamily="34" charset="-120"/>
              </a:rPr>
              <a:t>Schema</a:t>
            </a:r>
            <a:endParaRPr lang="en-US" sz="800" dirty="0"/>
          </a:p>
        </p:txBody>
      </p:sp>
      <p:sp>
        <p:nvSpPr>
          <p:cNvPr id="20" name="Shape 18"/>
          <p:cNvSpPr/>
          <p:nvPr/>
        </p:nvSpPr>
        <p:spPr>
          <a:xfrm>
            <a:off x="3758184" y="2212848"/>
            <a:ext cx="512064" cy="512064"/>
          </a:xfrm>
          <a:prstGeom prst="ellipse">
            <a:avLst/>
          </a:prstGeom>
          <a:solidFill>
            <a:srgbClr val="00A896"/>
          </a:solidFill>
          <a:ln w="25400">
            <a:solidFill>
              <a:srgbClr val="0A1628"/>
            </a:solidFill>
            <a:prstDash val="solid"/>
          </a:ln>
        </p:spPr>
      </p:sp>
      <p:sp>
        <p:nvSpPr>
          <p:cNvPr id="21" name="Text 19"/>
          <p:cNvSpPr/>
          <p:nvPr/>
        </p:nvSpPr>
        <p:spPr>
          <a:xfrm>
            <a:off x="3758184"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05</a:t>
            </a:r>
            <a:endParaRPr lang="en-US" sz="900" dirty="0"/>
          </a:p>
        </p:txBody>
      </p:sp>
      <p:sp>
        <p:nvSpPr>
          <p:cNvPr id="22" name="Text 20"/>
          <p:cNvSpPr/>
          <p:nvPr/>
        </p:nvSpPr>
        <p:spPr>
          <a:xfrm>
            <a:off x="3639312" y="1874520"/>
            <a:ext cx="749808" cy="502920"/>
          </a:xfrm>
          <a:prstGeom prst="rect">
            <a:avLst/>
          </a:prstGeom>
          <a:noFill/>
          <a:ln/>
        </p:spPr>
        <p:txBody>
          <a:bodyPr wrap="square" rtlCol="0" anchor="b"/>
          <a:lstStyle/>
          <a:p>
            <a:pPr algn="ctr" indent="0" marL="0">
              <a:buNone/>
            </a:pPr>
            <a:r>
              <a:rPr lang="en-US" sz="800" dirty="0">
                <a:solidFill>
                  <a:srgbClr val="E8F4F8"/>
                </a:solidFill>
                <a:latin typeface="Calibri" pitchFamily="34" charset="0"/>
                <a:ea typeface="Calibri" pitchFamily="34" charset="-122"/>
                <a:cs typeface="Calibri" pitchFamily="34" charset="-120"/>
              </a:rPr>
              <a:t>Pre-</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processing</a:t>
            </a:r>
            <a:endParaRPr lang="en-US" sz="800" dirty="0"/>
          </a:p>
        </p:txBody>
      </p:sp>
      <p:sp>
        <p:nvSpPr>
          <p:cNvPr id="23" name="Shape 21"/>
          <p:cNvSpPr/>
          <p:nvPr/>
        </p:nvSpPr>
        <p:spPr>
          <a:xfrm>
            <a:off x="4599432" y="2212848"/>
            <a:ext cx="512064" cy="512064"/>
          </a:xfrm>
          <a:prstGeom prst="ellipse">
            <a:avLst/>
          </a:prstGeom>
          <a:solidFill>
            <a:srgbClr val="02C39A"/>
          </a:solidFill>
          <a:ln w="25400">
            <a:solidFill>
              <a:srgbClr val="0A1628"/>
            </a:solidFill>
            <a:prstDash val="solid"/>
          </a:ln>
        </p:spPr>
      </p:sp>
      <p:sp>
        <p:nvSpPr>
          <p:cNvPr id="24" name="Text 22"/>
          <p:cNvSpPr/>
          <p:nvPr/>
        </p:nvSpPr>
        <p:spPr>
          <a:xfrm>
            <a:off x="4599432"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06</a:t>
            </a:r>
            <a:endParaRPr lang="en-US" sz="900" dirty="0"/>
          </a:p>
        </p:txBody>
      </p:sp>
      <p:sp>
        <p:nvSpPr>
          <p:cNvPr id="25" name="Text 23"/>
          <p:cNvSpPr/>
          <p:nvPr/>
        </p:nvSpPr>
        <p:spPr>
          <a:xfrm>
            <a:off x="4480560" y="2788920"/>
            <a:ext cx="749808" cy="502920"/>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EDA &amp;</a:t>
            </a:r>
            <a:endParaRPr lang="en-US" sz="800" dirty="0"/>
          </a:p>
          <a:p>
            <a:pPr algn="ctr" indent="0" marL="0">
              <a:buNone/>
            </a:pPr>
            <a:r>
              <a:rPr lang="en-US" sz="800" dirty="0">
                <a:solidFill>
                  <a:srgbClr val="8BAFC8"/>
                </a:solidFill>
                <a:latin typeface="Calibri" pitchFamily="34" charset="0"/>
                <a:ea typeface="Calibri" pitchFamily="34" charset="-122"/>
                <a:cs typeface="Calibri" pitchFamily="34" charset="-120"/>
              </a:rPr>
              <a:t>Stats</a:t>
            </a:r>
            <a:endParaRPr lang="en-US" sz="800" dirty="0"/>
          </a:p>
        </p:txBody>
      </p:sp>
      <p:sp>
        <p:nvSpPr>
          <p:cNvPr id="26" name="Shape 24"/>
          <p:cNvSpPr/>
          <p:nvPr/>
        </p:nvSpPr>
        <p:spPr>
          <a:xfrm>
            <a:off x="5440680" y="2212848"/>
            <a:ext cx="512064" cy="512064"/>
          </a:xfrm>
          <a:prstGeom prst="ellipse">
            <a:avLst/>
          </a:prstGeom>
          <a:solidFill>
            <a:srgbClr val="FF6B35"/>
          </a:solidFill>
          <a:ln w="25400">
            <a:solidFill>
              <a:srgbClr val="0A1628"/>
            </a:solidFill>
            <a:prstDash val="solid"/>
          </a:ln>
        </p:spPr>
      </p:sp>
      <p:sp>
        <p:nvSpPr>
          <p:cNvPr id="27" name="Text 25"/>
          <p:cNvSpPr/>
          <p:nvPr/>
        </p:nvSpPr>
        <p:spPr>
          <a:xfrm>
            <a:off x="5440680"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07</a:t>
            </a:r>
            <a:endParaRPr lang="en-US" sz="900" dirty="0"/>
          </a:p>
        </p:txBody>
      </p:sp>
      <p:sp>
        <p:nvSpPr>
          <p:cNvPr id="28" name="Text 26"/>
          <p:cNvSpPr/>
          <p:nvPr/>
        </p:nvSpPr>
        <p:spPr>
          <a:xfrm>
            <a:off x="5321808" y="1874520"/>
            <a:ext cx="749808" cy="502920"/>
          </a:xfrm>
          <a:prstGeom prst="rect">
            <a:avLst/>
          </a:prstGeom>
          <a:noFill/>
          <a:ln/>
        </p:spPr>
        <p:txBody>
          <a:bodyPr wrap="square" rtlCol="0" anchor="b"/>
          <a:lstStyle/>
          <a:p>
            <a:pPr algn="ctr" indent="0" marL="0">
              <a:buNone/>
            </a:pPr>
            <a:r>
              <a:rPr lang="en-US" sz="800" dirty="0">
                <a:solidFill>
                  <a:srgbClr val="E8F4F8"/>
                </a:solidFill>
                <a:latin typeface="Calibri" pitchFamily="34" charset="0"/>
                <a:ea typeface="Calibri" pitchFamily="34" charset="-122"/>
                <a:cs typeface="Calibri" pitchFamily="34" charset="-120"/>
              </a:rPr>
              <a:t>Apriori</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Rules</a:t>
            </a:r>
            <a:endParaRPr lang="en-US" sz="800" dirty="0"/>
          </a:p>
        </p:txBody>
      </p:sp>
      <p:sp>
        <p:nvSpPr>
          <p:cNvPr id="29" name="Shape 27"/>
          <p:cNvSpPr/>
          <p:nvPr/>
        </p:nvSpPr>
        <p:spPr>
          <a:xfrm>
            <a:off x="6281928" y="2212848"/>
            <a:ext cx="512064" cy="512064"/>
          </a:xfrm>
          <a:prstGeom prst="ellipse">
            <a:avLst/>
          </a:prstGeom>
          <a:solidFill>
            <a:srgbClr val="FF6B35"/>
          </a:solidFill>
          <a:ln w="25400">
            <a:solidFill>
              <a:srgbClr val="0A1628"/>
            </a:solidFill>
            <a:prstDash val="solid"/>
          </a:ln>
        </p:spPr>
      </p:sp>
      <p:sp>
        <p:nvSpPr>
          <p:cNvPr id="30" name="Text 28"/>
          <p:cNvSpPr/>
          <p:nvPr/>
        </p:nvSpPr>
        <p:spPr>
          <a:xfrm>
            <a:off x="6281928"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08</a:t>
            </a:r>
            <a:endParaRPr lang="en-US" sz="900" dirty="0"/>
          </a:p>
        </p:txBody>
      </p:sp>
      <p:sp>
        <p:nvSpPr>
          <p:cNvPr id="31" name="Text 29"/>
          <p:cNvSpPr/>
          <p:nvPr/>
        </p:nvSpPr>
        <p:spPr>
          <a:xfrm>
            <a:off x="6163056" y="2788920"/>
            <a:ext cx="749808" cy="502920"/>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K-Means</a:t>
            </a:r>
            <a:endParaRPr lang="en-US" sz="800" dirty="0"/>
          </a:p>
          <a:p>
            <a:pPr algn="ctr" indent="0" marL="0">
              <a:buNone/>
            </a:pPr>
            <a:r>
              <a:rPr lang="en-US" sz="800" dirty="0">
                <a:solidFill>
                  <a:srgbClr val="8BAFC8"/>
                </a:solidFill>
                <a:latin typeface="Calibri" pitchFamily="34" charset="0"/>
                <a:ea typeface="Calibri" pitchFamily="34" charset="-122"/>
                <a:cs typeface="Calibri" pitchFamily="34" charset="-120"/>
              </a:rPr>
              <a:t>DBSCAN</a:t>
            </a:r>
            <a:endParaRPr lang="en-US" sz="800" dirty="0"/>
          </a:p>
        </p:txBody>
      </p:sp>
      <p:sp>
        <p:nvSpPr>
          <p:cNvPr id="32" name="Shape 30"/>
          <p:cNvSpPr/>
          <p:nvPr/>
        </p:nvSpPr>
        <p:spPr>
          <a:xfrm>
            <a:off x="7123176" y="2212848"/>
            <a:ext cx="512064" cy="512064"/>
          </a:xfrm>
          <a:prstGeom prst="ellipse">
            <a:avLst/>
          </a:prstGeom>
          <a:solidFill>
            <a:srgbClr val="FF8C5A"/>
          </a:solidFill>
          <a:ln w="25400">
            <a:solidFill>
              <a:srgbClr val="0A1628"/>
            </a:solidFill>
            <a:prstDash val="solid"/>
          </a:ln>
        </p:spPr>
      </p:sp>
      <p:sp>
        <p:nvSpPr>
          <p:cNvPr id="33" name="Text 31"/>
          <p:cNvSpPr/>
          <p:nvPr/>
        </p:nvSpPr>
        <p:spPr>
          <a:xfrm>
            <a:off x="7123176"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09</a:t>
            </a:r>
            <a:endParaRPr lang="en-US" sz="900" dirty="0"/>
          </a:p>
        </p:txBody>
      </p:sp>
      <p:sp>
        <p:nvSpPr>
          <p:cNvPr id="34" name="Text 32"/>
          <p:cNvSpPr/>
          <p:nvPr/>
        </p:nvSpPr>
        <p:spPr>
          <a:xfrm>
            <a:off x="7004304" y="1874520"/>
            <a:ext cx="749808" cy="502920"/>
          </a:xfrm>
          <a:prstGeom prst="rect">
            <a:avLst/>
          </a:prstGeom>
          <a:noFill/>
          <a:ln/>
        </p:spPr>
        <p:txBody>
          <a:bodyPr wrap="square" rtlCol="0" anchor="b"/>
          <a:lstStyle/>
          <a:p>
            <a:pPr algn="ctr" indent="0" marL="0">
              <a:buNone/>
            </a:pPr>
            <a:r>
              <a:rPr lang="en-US" sz="800" dirty="0">
                <a:solidFill>
                  <a:srgbClr val="E8F4F8"/>
                </a:solidFill>
                <a:latin typeface="Calibri" pitchFamily="34" charset="0"/>
                <a:ea typeface="Calibri" pitchFamily="34" charset="-122"/>
                <a:cs typeface="Calibri" pitchFamily="34" charset="-120"/>
              </a:rPr>
              <a:t>RF/LR/DT</a:t>
            </a:r>
            <a:endParaRPr lang="en-US" sz="800" dirty="0"/>
          </a:p>
          <a:p>
            <a:pPr algn="ctr" indent="0" marL="0">
              <a:buNone/>
            </a:pPr>
            <a:r>
              <a:rPr lang="en-US" sz="800" dirty="0">
                <a:solidFill>
                  <a:srgbClr val="E8F4F8"/>
                </a:solidFill>
                <a:latin typeface="Calibri" pitchFamily="34" charset="0"/>
                <a:ea typeface="Calibri" pitchFamily="34" charset="-122"/>
                <a:cs typeface="Calibri" pitchFamily="34" charset="-120"/>
              </a:rPr>
              <a:t>Models</a:t>
            </a:r>
            <a:endParaRPr lang="en-US" sz="800" dirty="0"/>
          </a:p>
        </p:txBody>
      </p:sp>
      <p:sp>
        <p:nvSpPr>
          <p:cNvPr id="35" name="Shape 33"/>
          <p:cNvSpPr/>
          <p:nvPr/>
        </p:nvSpPr>
        <p:spPr>
          <a:xfrm>
            <a:off x="7964424" y="2212848"/>
            <a:ext cx="512064" cy="512064"/>
          </a:xfrm>
          <a:prstGeom prst="ellipse">
            <a:avLst/>
          </a:prstGeom>
          <a:solidFill>
            <a:srgbClr val="FFD166"/>
          </a:solidFill>
          <a:ln w="25400">
            <a:solidFill>
              <a:srgbClr val="0A1628"/>
            </a:solidFill>
            <a:prstDash val="solid"/>
          </a:ln>
        </p:spPr>
      </p:sp>
      <p:sp>
        <p:nvSpPr>
          <p:cNvPr id="36" name="Text 34"/>
          <p:cNvSpPr/>
          <p:nvPr/>
        </p:nvSpPr>
        <p:spPr>
          <a:xfrm>
            <a:off x="7964424" y="2212848"/>
            <a:ext cx="512064" cy="512064"/>
          </a:xfrm>
          <a:prstGeom prst="rect">
            <a:avLst/>
          </a:prstGeom>
          <a:noFill/>
          <a:ln/>
        </p:spPr>
        <p:txBody>
          <a:bodyPr wrap="square" lIns="0" tIns="0" rIns="0" bIns="0" rtlCol="0" anchor="ctr"/>
          <a:lstStyle/>
          <a:p>
            <a:pPr algn="ctr" indent="0" marL="0">
              <a:buNone/>
            </a:pPr>
            <a:r>
              <a:rPr lang="en-US" sz="900" b="1" dirty="0">
                <a:solidFill>
                  <a:srgbClr val="0A1628"/>
                </a:solidFill>
              </a:rPr>
              <a:t>10</a:t>
            </a:r>
            <a:endParaRPr lang="en-US" sz="900" dirty="0"/>
          </a:p>
        </p:txBody>
      </p:sp>
      <p:sp>
        <p:nvSpPr>
          <p:cNvPr id="37" name="Text 35"/>
          <p:cNvSpPr/>
          <p:nvPr/>
        </p:nvSpPr>
        <p:spPr>
          <a:xfrm>
            <a:off x="7845552" y="2788920"/>
            <a:ext cx="749808" cy="502920"/>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Knowledge</a:t>
            </a:r>
            <a:endParaRPr lang="en-US" sz="800" dirty="0"/>
          </a:p>
          <a:p>
            <a:pPr algn="ctr" indent="0" marL="0">
              <a:buNone/>
            </a:pPr>
            <a:r>
              <a:rPr lang="en-US" sz="800" dirty="0">
                <a:solidFill>
                  <a:srgbClr val="8BAFC8"/>
                </a:solidFill>
                <a:latin typeface="Calibri" pitchFamily="34" charset="0"/>
                <a:ea typeface="Calibri" pitchFamily="34" charset="-122"/>
                <a:cs typeface="Calibri" pitchFamily="34" charset="-120"/>
              </a:rPr>
              <a:t>Discovery</a:t>
            </a:r>
            <a:endParaRPr lang="en-US" sz="800" dirty="0"/>
          </a:p>
        </p:txBody>
      </p:sp>
      <p:sp>
        <p:nvSpPr>
          <p:cNvPr id="38" name="Shape 36"/>
          <p:cNvSpPr/>
          <p:nvPr/>
        </p:nvSpPr>
        <p:spPr>
          <a:xfrm>
            <a:off x="274320" y="3383280"/>
            <a:ext cx="3200400" cy="256032"/>
          </a:xfrm>
          <a:prstGeom prst="rect">
            <a:avLst/>
          </a:prstGeom>
          <a:solidFill>
            <a:srgbClr val="028090">
              <a:alpha val="50000"/>
            </a:srgbClr>
          </a:solidFill>
          <a:ln w="12700">
            <a:solidFill>
              <a:srgbClr val="028090"/>
            </a:solidFill>
            <a:prstDash val="solid"/>
          </a:ln>
        </p:spPr>
      </p:sp>
      <p:sp>
        <p:nvSpPr>
          <p:cNvPr id="39" name="Text 37"/>
          <p:cNvSpPr/>
          <p:nvPr/>
        </p:nvSpPr>
        <p:spPr>
          <a:xfrm>
            <a:off x="274320" y="3383280"/>
            <a:ext cx="3200400" cy="256032"/>
          </a:xfrm>
          <a:prstGeom prst="rect">
            <a:avLst/>
          </a:prstGeom>
          <a:noFill/>
          <a:ln/>
        </p:spPr>
        <p:txBody>
          <a:bodyPr wrap="square" rtlCol="0" anchor="ctr"/>
          <a:lstStyle/>
          <a:p>
            <a:pPr algn="ctr" indent="0" marL="0">
              <a:buNone/>
            </a:pPr>
            <a:r>
              <a:rPr lang="en-US" sz="800" dirty="0">
                <a:solidFill>
                  <a:srgbClr val="02C39A"/>
                </a:solidFill>
                <a:latin typeface="Calibri" pitchFamily="34" charset="0"/>
                <a:ea typeface="Calibri" pitchFamily="34" charset="-122"/>
                <a:cs typeface="Calibri" pitchFamily="34" charset="-120"/>
              </a:rPr>
              <a:t>ENGINEERING (Steps 1-5)</a:t>
            </a:r>
            <a:endParaRPr lang="en-US" sz="800" dirty="0"/>
          </a:p>
        </p:txBody>
      </p:sp>
      <p:sp>
        <p:nvSpPr>
          <p:cNvPr id="40" name="Shape 38"/>
          <p:cNvSpPr/>
          <p:nvPr/>
        </p:nvSpPr>
        <p:spPr>
          <a:xfrm>
            <a:off x="3749040" y="3383280"/>
            <a:ext cx="2011680" cy="256032"/>
          </a:xfrm>
          <a:prstGeom prst="rect">
            <a:avLst/>
          </a:prstGeom>
          <a:solidFill>
            <a:srgbClr val="028090">
              <a:alpha val="50000"/>
            </a:srgbClr>
          </a:solidFill>
          <a:ln w="12700">
            <a:solidFill>
              <a:srgbClr val="028090"/>
            </a:solidFill>
            <a:prstDash val="solid"/>
          </a:ln>
        </p:spPr>
      </p:sp>
      <p:sp>
        <p:nvSpPr>
          <p:cNvPr id="41" name="Text 39"/>
          <p:cNvSpPr/>
          <p:nvPr/>
        </p:nvSpPr>
        <p:spPr>
          <a:xfrm>
            <a:off x="3749040" y="3383280"/>
            <a:ext cx="2011680" cy="256032"/>
          </a:xfrm>
          <a:prstGeom prst="rect">
            <a:avLst/>
          </a:prstGeom>
          <a:noFill/>
          <a:ln/>
        </p:spPr>
        <p:txBody>
          <a:bodyPr wrap="square" rtlCol="0" anchor="ctr"/>
          <a:lstStyle/>
          <a:p>
            <a:pPr algn="ctr" indent="0" marL="0">
              <a:buNone/>
            </a:pPr>
            <a:r>
              <a:rPr lang="en-US" sz="800" dirty="0">
                <a:solidFill>
                  <a:srgbClr val="8BAFC8"/>
                </a:solidFill>
                <a:latin typeface="Calibri" pitchFamily="34" charset="0"/>
                <a:ea typeface="Calibri" pitchFamily="34" charset="-122"/>
                <a:cs typeface="Calibri" pitchFamily="34" charset="-120"/>
              </a:rPr>
              <a:t>ANALYTICS (6-8)</a:t>
            </a:r>
            <a:endParaRPr lang="en-US" sz="800" dirty="0"/>
          </a:p>
        </p:txBody>
      </p:sp>
      <p:sp>
        <p:nvSpPr>
          <p:cNvPr id="42" name="Shape 40"/>
          <p:cNvSpPr/>
          <p:nvPr/>
        </p:nvSpPr>
        <p:spPr>
          <a:xfrm>
            <a:off x="5943600" y="3383280"/>
            <a:ext cx="2834640" cy="256032"/>
          </a:xfrm>
          <a:prstGeom prst="rect">
            <a:avLst/>
          </a:prstGeom>
          <a:solidFill>
            <a:srgbClr val="FF6B35">
              <a:alpha val="30000"/>
            </a:srgbClr>
          </a:solidFill>
          <a:ln w="12700">
            <a:solidFill>
              <a:srgbClr val="FF6B35"/>
            </a:solidFill>
            <a:prstDash val="solid"/>
          </a:ln>
        </p:spPr>
      </p:sp>
      <p:sp>
        <p:nvSpPr>
          <p:cNvPr id="43" name="Text 41"/>
          <p:cNvSpPr/>
          <p:nvPr/>
        </p:nvSpPr>
        <p:spPr>
          <a:xfrm>
            <a:off x="5943600" y="3383280"/>
            <a:ext cx="2834640" cy="256032"/>
          </a:xfrm>
          <a:prstGeom prst="rect">
            <a:avLst/>
          </a:prstGeom>
          <a:noFill/>
          <a:ln/>
        </p:spPr>
        <p:txBody>
          <a:bodyPr wrap="square" rtlCol="0" anchor="ctr"/>
          <a:lstStyle/>
          <a:p>
            <a:pPr algn="ctr" indent="0" marL="0">
              <a:buNone/>
            </a:pPr>
            <a:r>
              <a:rPr lang="en-US" sz="800" dirty="0">
                <a:solidFill>
                  <a:srgbClr val="FF6B35"/>
                </a:solidFill>
                <a:latin typeface="Calibri" pitchFamily="34" charset="0"/>
                <a:ea typeface="Calibri" pitchFamily="34" charset="-122"/>
                <a:cs typeface="Calibri" pitchFamily="34" charset="-120"/>
              </a:rPr>
              <a:t>DISCOVERY (9-10)</a:t>
            </a:r>
            <a:endParaRPr lang="en-US" sz="800" dirty="0"/>
          </a:p>
        </p:txBody>
      </p:sp>
      <p:sp>
        <p:nvSpPr>
          <p:cNvPr id="44" name="Text 42"/>
          <p:cNvSpPr/>
          <p:nvPr/>
        </p:nvSpPr>
        <p:spPr>
          <a:xfrm>
            <a:off x="365760" y="4850892"/>
            <a:ext cx="8412480" cy="201168"/>
          </a:xfrm>
          <a:prstGeom prst="rect">
            <a:avLst/>
          </a:prstGeom>
          <a:noFill/>
          <a:ln/>
        </p:spPr>
        <p:txBody>
          <a:bodyPr wrap="square" rtlCol="0" anchor="ctr"/>
          <a:lstStyle/>
          <a:p>
            <a:pPr indent="0" marL="0">
              <a:buNone/>
            </a:pPr>
            <a:r>
              <a:rPr lang="en-US" sz="800" dirty="0">
                <a:solidFill>
                  <a:srgbClr val="4A6D87"/>
                </a:solidFill>
                <a:latin typeface="Calibri" pitchFamily="34" charset="0"/>
                <a:ea typeface="Calibri" pitchFamily="34" charset="-122"/>
                <a:cs typeface="Calibri" pitchFamily="34" charset="-120"/>
              </a:rPr>
              <a:t>Python 3.11 + pandas + scikit-learn + mlxtend | 5 core scripts | FDA FAERS 2023Q1–2026Q1</a:t>
            </a:r>
            <a:endParaRPr lang="en-US" sz="800" dirty="0"/>
          </a:p>
        </p:txBody>
      </p:sp>
      <p:sp>
        <p:nvSpPr>
          <p:cNvPr id="45" name="Text 43"/>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 / 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Clinical Motivation</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Why GLP-1 receptor agonists deserve pharmacovigilance attention right now</a:t>
            </a:r>
            <a:endParaRPr lang="en-US" sz="1300" dirty="0"/>
          </a:p>
        </p:txBody>
      </p:sp>
      <p:sp>
        <p:nvSpPr>
          <p:cNvPr id="7" name="Shape 5"/>
          <p:cNvSpPr/>
          <p:nvPr/>
        </p:nvSpPr>
        <p:spPr>
          <a:xfrm>
            <a:off x="228600" y="1417320"/>
            <a:ext cx="4114800" cy="3337560"/>
          </a:xfrm>
          <a:prstGeom prst="rect">
            <a:avLst/>
          </a:prstGeom>
          <a:solidFill>
            <a:srgbClr val="0F2040"/>
          </a:solidFill>
          <a:ln w="12700">
            <a:solidFill>
              <a:srgbClr val="028090"/>
            </a:solidFill>
            <a:prstDash val="solid"/>
          </a:ln>
        </p:spPr>
      </p:sp>
      <p:sp>
        <p:nvSpPr>
          <p:cNvPr id="8" name="Text 6"/>
          <p:cNvSpPr/>
          <p:nvPr/>
        </p:nvSpPr>
        <p:spPr>
          <a:xfrm>
            <a:off x="365760" y="1536192"/>
            <a:ext cx="3840480" cy="228600"/>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GLP-1 MECHANISM</a:t>
            </a:r>
            <a:endParaRPr lang="en-US" sz="900" dirty="0"/>
          </a:p>
        </p:txBody>
      </p:sp>
      <p:sp>
        <p:nvSpPr>
          <p:cNvPr id="9" name="Text 7"/>
          <p:cNvSpPr/>
          <p:nvPr/>
        </p:nvSpPr>
        <p:spPr>
          <a:xfrm>
            <a:off x="365760" y="1828800"/>
            <a:ext cx="3840480" cy="457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GLP-1 receptor agonists (Ozempic / Wegovy / Mounjaro) mimic the gut hormone Glucagon-Like Peptide-1.</a:t>
            </a:r>
            <a:endParaRPr lang="en-US" sz="1100" dirty="0"/>
          </a:p>
        </p:txBody>
      </p:sp>
      <p:sp>
        <p:nvSpPr>
          <p:cNvPr id="10" name="Shape 8"/>
          <p:cNvSpPr/>
          <p:nvPr/>
        </p:nvSpPr>
        <p:spPr>
          <a:xfrm>
            <a:off x="384048" y="2377440"/>
            <a:ext cx="128016" cy="128016"/>
          </a:xfrm>
          <a:prstGeom prst="ellipse">
            <a:avLst/>
          </a:prstGeom>
          <a:solidFill>
            <a:srgbClr val="00A896"/>
          </a:solidFill>
          <a:ln w="12700">
            <a:solidFill>
              <a:srgbClr val="00A896"/>
            </a:solidFill>
            <a:prstDash val="solid"/>
          </a:ln>
        </p:spPr>
      </p:sp>
      <p:sp>
        <p:nvSpPr>
          <p:cNvPr id="11" name="Text 9"/>
          <p:cNvSpPr/>
          <p:nvPr/>
        </p:nvSpPr>
        <p:spPr>
          <a:xfrm>
            <a:off x="566928" y="2331720"/>
            <a:ext cx="3657600" cy="27432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Slows gastric emptying</a:t>
            </a:r>
            <a:endParaRPr lang="en-US" sz="1100" dirty="0"/>
          </a:p>
        </p:txBody>
      </p:sp>
      <p:sp>
        <p:nvSpPr>
          <p:cNvPr id="12" name="Shape 10"/>
          <p:cNvSpPr/>
          <p:nvPr/>
        </p:nvSpPr>
        <p:spPr>
          <a:xfrm>
            <a:off x="384048" y="2761488"/>
            <a:ext cx="128016" cy="128016"/>
          </a:xfrm>
          <a:prstGeom prst="ellipse">
            <a:avLst/>
          </a:prstGeom>
          <a:solidFill>
            <a:srgbClr val="00A896"/>
          </a:solidFill>
          <a:ln w="12700">
            <a:solidFill>
              <a:srgbClr val="00A896"/>
            </a:solidFill>
            <a:prstDash val="solid"/>
          </a:ln>
        </p:spPr>
      </p:sp>
      <p:sp>
        <p:nvSpPr>
          <p:cNvPr id="13" name="Text 11"/>
          <p:cNvSpPr/>
          <p:nvPr/>
        </p:nvSpPr>
        <p:spPr>
          <a:xfrm>
            <a:off x="566928" y="2715768"/>
            <a:ext cx="3657600" cy="27432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Reduces appetite signaling</a:t>
            </a:r>
            <a:endParaRPr lang="en-US" sz="1100" dirty="0"/>
          </a:p>
        </p:txBody>
      </p:sp>
      <p:sp>
        <p:nvSpPr>
          <p:cNvPr id="14" name="Shape 12"/>
          <p:cNvSpPr/>
          <p:nvPr/>
        </p:nvSpPr>
        <p:spPr>
          <a:xfrm>
            <a:off x="384048" y="3145536"/>
            <a:ext cx="128016" cy="128016"/>
          </a:xfrm>
          <a:prstGeom prst="ellipse">
            <a:avLst/>
          </a:prstGeom>
          <a:solidFill>
            <a:srgbClr val="02C39A"/>
          </a:solidFill>
          <a:ln w="12700">
            <a:solidFill>
              <a:srgbClr val="02C39A"/>
            </a:solidFill>
            <a:prstDash val="solid"/>
          </a:ln>
        </p:spPr>
      </p:sp>
      <p:sp>
        <p:nvSpPr>
          <p:cNvPr id="15" name="Text 13"/>
          <p:cNvSpPr/>
          <p:nvPr/>
        </p:nvSpPr>
        <p:spPr>
          <a:xfrm>
            <a:off x="566928" y="3099816"/>
            <a:ext cx="3657600" cy="27432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 Insulin / ↓ Glucagon secretion</a:t>
            </a:r>
            <a:endParaRPr lang="en-US" sz="1100" dirty="0"/>
          </a:p>
        </p:txBody>
      </p:sp>
      <p:sp>
        <p:nvSpPr>
          <p:cNvPr id="16" name="Shape 14"/>
          <p:cNvSpPr/>
          <p:nvPr/>
        </p:nvSpPr>
        <p:spPr>
          <a:xfrm>
            <a:off x="384048" y="3529584"/>
            <a:ext cx="128016" cy="128016"/>
          </a:xfrm>
          <a:prstGeom prst="ellipse">
            <a:avLst/>
          </a:prstGeom>
          <a:solidFill>
            <a:srgbClr val="FF6B35"/>
          </a:solidFill>
          <a:ln w="12700">
            <a:solidFill>
              <a:srgbClr val="FF6B35"/>
            </a:solidFill>
            <a:prstDash val="solid"/>
          </a:ln>
        </p:spPr>
      </p:sp>
      <p:sp>
        <p:nvSpPr>
          <p:cNvPr id="17" name="Text 15"/>
          <p:cNvSpPr/>
          <p:nvPr/>
        </p:nvSpPr>
        <p:spPr>
          <a:xfrm>
            <a:off x="566928" y="3483864"/>
            <a:ext cx="3657600" cy="274320"/>
          </a:xfrm>
          <a:prstGeom prst="rect">
            <a:avLst/>
          </a:prstGeom>
          <a:noFill/>
          <a:ln/>
        </p:spPr>
        <p:txBody>
          <a:bodyPr wrap="square" rtlCol="0" anchor="ctr"/>
          <a:lstStyle/>
          <a:p>
            <a:pPr indent="0" marL="0">
              <a:buNone/>
            </a:pPr>
            <a:r>
              <a:rPr lang="en-US" sz="1100" dirty="0">
                <a:solidFill>
                  <a:srgbClr val="FF8C5A"/>
                </a:solidFill>
                <a:latin typeface="Calibri" pitchFamily="34" charset="0"/>
                <a:ea typeface="Calibri" pitchFamily="34" charset="-122"/>
                <a:cs typeface="Calibri" pitchFamily="34" charset="-120"/>
              </a:rPr>
              <a:t>Linked to: gastroparesis, pancreatitis, ileus</a:t>
            </a:r>
            <a:endParaRPr lang="en-US" sz="1100" dirty="0"/>
          </a:p>
        </p:txBody>
      </p:sp>
      <p:sp>
        <p:nvSpPr>
          <p:cNvPr id="18" name="Shape 16"/>
          <p:cNvSpPr/>
          <p:nvPr/>
        </p:nvSpPr>
        <p:spPr>
          <a:xfrm>
            <a:off x="384048" y="3913632"/>
            <a:ext cx="128016" cy="128016"/>
          </a:xfrm>
          <a:prstGeom prst="ellipse">
            <a:avLst/>
          </a:prstGeom>
          <a:solidFill>
            <a:srgbClr val="FF6B35"/>
          </a:solidFill>
          <a:ln w="12700">
            <a:solidFill>
              <a:srgbClr val="FF6B35"/>
            </a:solidFill>
            <a:prstDash val="solid"/>
          </a:ln>
        </p:spPr>
      </p:sp>
      <p:sp>
        <p:nvSpPr>
          <p:cNvPr id="19" name="Text 17"/>
          <p:cNvSpPr/>
          <p:nvPr/>
        </p:nvSpPr>
        <p:spPr>
          <a:xfrm>
            <a:off x="566928" y="3867912"/>
            <a:ext cx="3657600" cy="274320"/>
          </a:xfrm>
          <a:prstGeom prst="rect">
            <a:avLst/>
          </a:prstGeom>
          <a:noFill/>
          <a:ln/>
        </p:spPr>
        <p:txBody>
          <a:bodyPr wrap="square" rtlCol="0" anchor="ctr"/>
          <a:lstStyle/>
          <a:p>
            <a:pPr indent="0" marL="0">
              <a:buNone/>
            </a:pPr>
            <a:r>
              <a:rPr lang="en-US" sz="1100" dirty="0">
                <a:solidFill>
                  <a:srgbClr val="FF8C5A"/>
                </a:solidFill>
                <a:latin typeface="Calibri" pitchFamily="34" charset="0"/>
                <a:ea typeface="Calibri" pitchFamily="34" charset="-122"/>
                <a:cs typeface="Calibri" pitchFamily="34" charset="-120"/>
              </a:rPr>
              <a:t>Bowel obstruction reports rising post-2021</a:t>
            </a:r>
            <a:endParaRPr lang="en-US" sz="1100" dirty="0"/>
          </a:p>
        </p:txBody>
      </p:sp>
      <p:sp>
        <p:nvSpPr>
          <p:cNvPr id="20" name="Shape 18"/>
          <p:cNvSpPr/>
          <p:nvPr/>
        </p:nvSpPr>
        <p:spPr>
          <a:xfrm>
            <a:off x="4572000" y="1417320"/>
            <a:ext cx="4343400" cy="1371600"/>
          </a:xfrm>
          <a:prstGeom prst="rect">
            <a:avLst/>
          </a:prstGeom>
          <a:solidFill>
            <a:srgbClr val="0F2040"/>
          </a:solidFill>
          <a:ln w="12700">
            <a:solidFill>
              <a:srgbClr val="FF6B35"/>
            </a:solidFill>
            <a:prstDash val="solid"/>
          </a:ln>
        </p:spPr>
      </p:sp>
      <p:sp>
        <p:nvSpPr>
          <p:cNvPr id="21" name="Text 19"/>
          <p:cNvSpPr/>
          <p:nvPr/>
        </p:nvSpPr>
        <p:spPr>
          <a:xfrm>
            <a:off x="4709160" y="1536192"/>
            <a:ext cx="3840480" cy="228600"/>
          </a:xfrm>
          <a:prstGeom prst="rect">
            <a:avLst/>
          </a:prstGeom>
          <a:noFill/>
          <a:ln/>
        </p:spPr>
        <p:txBody>
          <a:bodyPr wrap="square" rtlCol="0" anchor="ctr"/>
          <a:lstStyle/>
          <a:p>
            <a:pPr indent="0" marL="0">
              <a:buNone/>
            </a:pPr>
            <a:r>
              <a:rPr lang="en-US" sz="900" b="1" spc="200" kern="0" dirty="0">
                <a:solidFill>
                  <a:srgbClr val="FF6B35"/>
                </a:solidFill>
                <a:latin typeface="Calibri" pitchFamily="34" charset="0"/>
                <a:ea typeface="Calibri" pitchFamily="34" charset="-122"/>
                <a:cs typeface="Calibri" pitchFamily="34" charset="-120"/>
              </a:rPr>
              <a:t>MARKET CONTEXT</a:t>
            </a:r>
            <a:endParaRPr lang="en-US" sz="900" dirty="0"/>
          </a:p>
        </p:txBody>
      </p:sp>
      <p:sp>
        <p:nvSpPr>
          <p:cNvPr id="22" name="Text 20"/>
          <p:cNvSpPr/>
          <p:nvPr/>
        </p:nvSpPr>
        <p:spPr>
          <a:xfrm>
            <a:off x="4709160" y="1828800"/>
            <a:ext cx="4023360" cy="822960"/>
          </a:xfrm>
          <a:prstGeom prst="rect">
            <a:avLst/>
          </a:prstGeom>
          <a:noFill/>
          <a:ln/>
        </p:spPr>
        <p:txBody>
          <a:bodyPr wrap="square" rtlCol="0" anchor="ctr"/>
          <a:lstStyle/>
          <a:p>
            <a:pPr indent="0" marL="0">
              <a:buNone/>
            </a:pPr>
            <a:r>
              <a:rPr lang="en-US" sz="1200" dirty="0">
                <a:solidFill>
                  <a:srgbClr val="E8F4F8"/>
                </a:solidFill>
                <a:latin typeface="Calibri" pitchFamily="34" charset="0"/>
                <a:ea typeface="Calibri" pitchFamily="34" charset="-122"/>
                <a:cs typeface="Calibri" pitchFamily="34" charset="-120"/>
              </a:rPr>
              <a:t>3×</a:t>
            </a:r>
            <a:endParaRPr lang="en-US" sz="1200" dirty="0"/>
          </a:p>
          <a:p>
            <a:pPr indent="0" marL="0">
              <a:buNone/>
            </a:pPr>
            <a:r>
              <a:rPr lang="en-US" sz="1200" dirty="0">
                <a:solidFill>
                  <a:srgbClr val="E8F4F8"/>
                </a:solidFill>
                <a:latin typeface="Calibri" pitchFamily="34" charset="0"/>
                <a:ea typeface="Calibri" pitchFamily="34" charset="-122"/>
                <a:cs typeface="Calibri" pitchFamily="34" charset="-120"/>
              </a:rPr>
              <a:t>Growth in GLP-1 FAERS reports</a:t>
            </a:r>
            <a:endParaRPr lang="en-US" sz="1200" dirty="0"/>
          </a:p>
          <a:p>
            <a:pPr indent="0" marL="0">
              <a:buNone/>
            </a:pPr>
            <a:r>
              <a:rPr lang="en-US" sz="1200" dirty="0">
                <a:solidFill>
                  <a:srgbClr val="E8F4F8"/>
                </a:solidFill>
                <a:latin typeface="Calibri" pitchFamily="34" charset="0"/>
                <a:ea typeface="Calibri" pitchFamily="34" charset="-122"/>
                <a:cs typeface="Calibri" pitchFamily="34" charset="-120"/>
              </a:rPr>
              <a:t>2023 → 2026</a:t>
            </a:r>
            <a:endParaRPr lang="en-US" sz="1200" dirty="0"/>
          </a:p>
        </p:txBody>
      </p:sp>
      <p:sp>
        <p:nvSpPr>
          <p:cNvPr id="23" name="Shape 21"/>
          <p:cNvSpPr/>
          <p:nvPr/>
        </p:nvSpPr>
        <p:spPr>
          <a:xfrm>
            <a:off x="4572000" y="2926080"/>
            <a:ext cx="4343400" cy="1828800"/>
          </a:xfrm>
          <a:prstGeom prst="rect">
            <a:avLst/>
          </a:prstGeom>
          <a:solidFill>
            <a:srgbClr val="0F2040"/>
          </a:solidFill>
          <a:ln w="12700">
            <a:solidFill>
              <a:srgbClr val="028090"/>
            </a:solidFill>
            <a:prstDash val="solid"/>
          </a:ln>
        </p:spPr>
      </p:sp>
      <p:sp>
        <p:nvSpPr>
          <p:cNvPr id="24" name="Text 22"/>
          <p:cNvSpPr/>
          <p:nvPr/>
        </p:nvSpPr>
        <p:spPr>
          <a:xfrm>
            <a:off x="4709160" y="3044952"/>
            <a:ext cx="3840480" cy="228600"/>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WHY DATA MINING?</a:t>
            </a:r>
            <a:endParaRPr lang="en-US" sz="900" dirty="0"/>
          </a:p>
        </p:txBody>
      </p:sp>
      <p:sp>
        <p:nvSpPr>
          <p:cNvPr id="25" name="Shape 23"/>
          <p:cNvSpPr/>
          <p:nvPr/>
        </p:nvSpPr>
        <p:spPr>
          <a:xfrm>
            <a:off x="4709160" y="3328416"/>
            <a:ext cx="128016" cy="128016"/>
          </a:xfrm>
          <a:prstGeom prst="ellipse">
            <a:avLst/>
          </a:prstGeom>
          <a:solidFill>
            <a:srgbClr val="02C39A"/>
          </a:solidFill>
          <a:ln w="12700">
            <a:solidFill>
              <a:srgbClr val="02C39A"/>
            </a:solidFill>
            <a:prstDash val="solid"/>
          </a:ln>
        </p:spPr>
      </p:sp>
      <p:sp>
        <p:nvSpPr>
          <p:cNvPr id="26" name="Text 24"/>
          <p:cNvSpPr/>
          <p:nvPr/>
        </p:nvSpPr>
        <p:spPr>
          <a:xfrm>
            <a:off x="4892040" y="3282696"/>
            <a:ext cx="384048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367K+ reports = too large for manual review</a:t>
            </a:r>
            <a:endParaRPr lang="en-US" sz="1000" dirty="0"/>
          </a:p>
        </p:txBody>
      </p:sp>
      <p:sp>
        <p:nvSpPr>
          <p:cNvPr id="27" name="Shape 25"/>
          <p:cNvSpPr/>
          <p:nvPr/>
        </p:nvSpPr>
        <p:spPr>
          <a:xfrm>
            <a:off x="4709160" y="3712464"/>
            <a:ext cx="128016" cy="128016"/>
          </a:xfrm>
          <a:prstGeom prst="ellipse">
            <a:avLst/>
          </a:prstGeom>
          <a:solidFill>
            <a:srgbClr val="02C39A"/>
          </a:solidFill>
          <a:ln w="12700">
            <a:solidFill>
              <a:srgbClr val="02C39A"/>
            </a:solidFill>
            <a:prstDash val="solid"/>
          </a:ln>
        </p:spPr>
      </p:sp>
      <p:sp>
        <p:nvSpPr>
          <p:cNvPr id="28" name="Text 26"/>
          <p:cNvSpPr/>
          <p:nvPr/>
        </p:nvSpPr>
        <p:spPr>
          <a:xfrm>
            <a:off x="4892040" y="3666744"/>
            <a:ext cx="384048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Spontaneous data needs pattern mining to surface signals</a:t>
            </a:r>
            <a:endParaRPr lang="en-US" sz="1000" dirty="0"/>
          </a:p>
        </p:txBody>
      </p:sp>
      <p:sp>
        <p:nvSpPr>
          <p:cNvPr id="29" name="Shape 27"/>
          <p:cNvSpPr/>
          <p:nvPr/>
        </p:nvSpPr>
        <p:spPr>
          <a:xfrm>
            <a:off x="4709160" y="4096512"/>
            <a:ext cx="128016" cy="128016"/>
          </a:xfrm>
          <a:prstGeom prst="ellipse">
            <a:avLst/>
          </a:prstGeom>
          <a:solidFill>
            <a:srgbClr val="02C39A"/>
          </a:solidFill>
          <a:ln w="12700">
            <a:solidFill>
              <a:srgbClr val="02C39A"/>
            </a:solidFill>
            <a:prstDash val="solid"/>
          </a:ln>
        </p:spPr>
      </p:sp>
      <p:sp>
        <p:nvSpPr>
          <p:cNvPr id="30" name="Text 28"/>
          <p:cNvSpPr/>
          <p:nvPr/>
        </p:nvSpPr>
        <p:spPr>
          <a:xfrm>
            <a:off x="4892040" y="4050792"/>
            <a:ext cx="384048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ML models can triage high-risk cases for review</a:t>
            </a:r>
            <a:endParaRPr lang="en-US" sz="1000" dirty="0"/>
          </a:p>
        </p:txBody>
      </p:sp>
      <p:sp>
        <p:nvSpPr>
          <p:cNvPr id="31" name="Text 29"/>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3 / 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1: FOUNDATION</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Research Questions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Four core questions driving every analysis in this study</a:t>
            </a:r>
            <a:endParaRPr lang="en-US" sz="1300" dirty="0"/>
          </a:p>
        </p:txBody>
      </p:sp>
      <p:sp>
        <p:nvSpPr>
          <p:cNvPr id="7" name="Shape 5"/>
          <p:cNvSpPr/>
          <p:nvPr/>
        </p:nvSpPr>
        <p:spPr>
          <a:xfrm>
            <a:off x="228600" y="1600200"/>
            <a:ext cx="4206240" cy="1417320"/>
          </a:xfrm>
          <a:prstGeom prst="rect">
            <a:avLst/>
          </a:prstGeom>
          <a:solidFill>
            <a:srgbClr val="0F2040"/>
          </a:solidFill>
          <a:ln w="12700">
            <a:solidFill>
              <a:srgbClr val="00A896"/>
            </a:solidFill>
            <a:prstDash val="solid"/>
          </a:ln>
        </p:spPr>
      </p:sp>
      <p:sp>
        <p:nvSpPr>
          <p:cNvPr id="8" name="Shape 6"/>
          <p:cNvSpPr/>
          <p:nvPr/>
        </p:nvSpPr>
        <p:spPr>
          <a:xfrm>
            <a:off x="228600" y="1600200"/>
            <a:ext cx="54864" cy="1417320"/>
          </a:xfrm>
          <a:prstGeom prst="rect">
            <a:avLst/>
          </a:prstGeom>
          <a:solidFill>
            <a:srgbClr val="00A896"/>
          </a:solidFill>
          <a:ln w="12700">
            <a:solidFill>
              <a:srgbClr val="00A896"/>
            </a:solidFill>
            <a:prstDash val="solid"/>
          </a:ln>
        </p:spPr>
      </p:sp>
      <p:sp>
        <p:nvSpPr>
          <p:cNvPr id="9" name="Text 7"/>
          <p:cNvSpPr/>
          <p:nvPr/>
        </p:nvSpPr>
        <p:spPr>
          <a:xfrm>
            <a:off x="393192" y="1691640"/>
            <a:ext cx="548640" cy="320040"/>
          </a:xfrm>
          <a:prstGeom prst="rect">
            <a:avLst/>
          </a:prstGeom>
          <a:noFill/>
          <a:ln/>
        </p:spPr>
        <p:txBody>
          <a:bodyPr wrap="square"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RQ1</a:t>
            </a:r>
            <a:endParaRPr lang="en-US" sz="1400" dirty="0"/>
          </a:p>
        </p:txBody>
      </p:sp>
      <p:sp>
        <p:nvSpPr>
          <p:cNvPr id="10" name="Text 8"/>
          <p:cNvSpPr/>
          <p:nvPr/>
        </p:nvSpPr>
        <p:spPr>
          <a:xfrm>
            <a:off x="393192" y="2020824"/>
            <a:ext cx="3931920" cy="5943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Is there a disproportionate reporting signal for severe GI events in GLP-1 users vs. diabetic controls?</a:t>
            </a:r>
            <a:endParaRPr lang="en-US" sz="1100" dirty="0"/>
          </a:p>
        </p:txBody>
      </p:sp>
      <p:sp>
        <p:nvSpPr>
          <p:cNvPr id="11" name="Text 9"/>
          <p:cNvSpPr/>
          <p:nvPr/>
        </p:nvSpPr>
        <p:spPr>
          <a:xfrm>
            <a:off x="393192" y="2679192"/>
            <a:ext cx="3931920" cy="228600"/>
          </a:xfrm>
          <a:prstGeom prst="rect">
            <a:avLst/>
          </a:prstGeom>
          <a:noFill/>
          <a:ln/>
        </p:spPr>
        <p:txBody>
          <a:bodyPr wrap="square" rtlCol="0" anchor="ctr"/>
          <a:lstStyle/>
          <a:p>
            <a:pPr indent="0" marL="0">
              <a:buNone/>
            </a:pPr>
            <a:r>
              <a:rPr lang="en-US" sz="900" i="1" dirty="0">
                <a:solidFill>
                  <a:srgbClr val="00A896"/>
                </a:solidFill>
                <a:latin typeface="Calibri" pitchFamily="34" charset="0"/>
                <a:ea typeface="Calibri" pitchFamily="34" charset="-122"/>
                <a:cs typeface="Calibri" pitchFamily="34" charset="-120"/>
              </a:rPr>
              <a:t>Method: PRR / Chi-Square / ROR</a:t>
            </a:r>
            <a:endParaRPr lang="en-US" sz="900" dirty="0"/>
          </a:p>
        </p:txBody>
      </p:sp>
      <p:sp>
        <p:nvSpPr>
          <p:cNvPr id="12" name="Shape 10"/>
          <p:cNvSpPr/>
          <p:nvPr/>
        </p:nvSpPr>
        <p:spPr>
          <a:xfrm>
            <a:off x="4663440" y="1600200"/>
            <a:ext cx="4206240" cy="1417320"/>
          </a:xfrm>
          <a:prstGeom prst="rect">
            <a:avLst/>
          </a:prstGeom>
          <a:solidFill>
            <a:srgbClr val="0F2040"/>
          </a:solidFill>
          <a:ln w="12700">
            <a:solidFill>
              <a:srgbClr val="02C39A"/>
            </a:solidFill>
            <a:prstDash val="solid"/>
          </a:ln>
        </p:spPr>
      </p:sp>
      <p:sp>
        <p:nvSpPr>
          <p:cNvPr id="13" name="Shape 11"/>
          <p:cNvSpPr/>
          <p:nvPr/>
        </p:nvSpPr>
        <p:spPr>
          <a:xfrm>
            <a:off x="4663440" y="1600200"/>
            <a:ext cx="54864" cy="1417320"/>
          </a:xfrm>
          <a:prstGeom prst="rect">
            <a:avLst/>
          </a:prstGeom>
          <a:solidFill>
            <a:srgbClr val="02C39A"/>
          </a:solidFill>
          <a:ln w="12700">
            <a:solidFill>
              <a:srgbClr val="02C39A"/>
            </a:solidFill>
            <a:prstDash val="solid"/>
          </a:ln>
        </p:spPr>
      </p:sp>
      <p:sp>
        <p:nvSpPr>
          <p:cNvPr id="14" name="Text 12"/>
          <p:cNvSpPr/>
          <p:nvPr/>
        </p:nvSpPr>
        <p:spPr>
          <a:xfrm>
            <a:off x="4828032" y="1691640"/>
            <a:ext cx="548640" cy="320040"/>
          </a:xfrm>
          <a:prstGeom prst="rect">
            <a:avLst/>
          </a:prstGeom>
          <a:noFill/>
          <a:ln/>
        </p:spPr>
        <p:txBody>
          <a:bodyPr wrap="square"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RQ2</a:t>
            </a:r>
            <a:endParaRPr lang="en-US" sz="1400" dirty="0"/>
          </a:p>
        </p:txBody>
      </p:sp>
      <p:sp>
        <p:nvSpPr>
          <p:cNvPr id="15" name="Text 13"/>
          <p:cNvSpPr/>
          <p:nvPr/>
        </p:nvSpPr>
        <p:spPr>
          <a:xfrm>
            <a:off x="4828032" y="2020824"/>
            <a:ext cx="3931920" cy="5943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Which patient phenotypes (clusters) are at highest risk for severe GI outcomes?</a:t>
            </a:r>
            <a:endParaRPr lang="en-US" sz="1100" dirty="0"/>
          </a:p>
        </p:txBody>
      </p:sp>
      <p:sp>
        <p:nvSpPr>
          <p:cNvPr id="16" name="Text 14"/>
          <p:cNvSpPr/>
          <p:nvPr/>
        </p:nvSpPr>
        <p:spPr>
          <a:xfrm>
            <a:off x="4828032" y="2679192"/>
            <a:ext cx="3931920" cy="228600"/>
          </a:xfrm>
          <a:prstGeom prst="rect">
            <a:avLst/>
          </a:prstGeom>
          <a:noFill/>
          <a:ln/>
        </p:spPr>
        <p:txBody>
          <a:bodyPr wrap="square" rtlCol="0" anchor="ctr"/>
          <a:lstStyle/>
          <a:p>
            <a:pPr indent="0" marL="0">
              <a:buNone/>
            </a:pPr>
            <a:r>
              <a:rPr lang="en-US" sz="900" i="1" dirty="0">
                <a:solidFill>
                  <a:srgbClr val="02C39A"/>
                </a:solidFill>
                <a:latin typeface="Calibri" pitchFamily="34" charset="0"/>
                <a:ea typeface="Calibri" pitchFamily="34" charset="-122"/>
                <a:cs typeface="Calibri" pitchFamily="34" charset="-120"/>
              </a:rPr>
              <a:t>Method: K-Means + DBSCAN Clustering</a:t>
            </a:r>
            <a:endParaRPr lang="en-US" sz="900" dirty="0"/>
          </a:p>
        </p:txBody>
      </p:sp>
      <p:sp>
        <p:nvSpPr>
          <p:cNvPr id="17" name="Shape 15"/>
          <p:cNvSpPr/>
          <p:nvPr/>
        </p:nvSpPr>
        <p:spPr>
          <a:xfrm>
            <a:off x="228600" y="3246120"/>
            <a:ext cx="4206240" cy="1417320"/>
          </a:xfrm>
          <a:prstGeom prst="rect">
            <a:avLst/>
          </a:prstGeom>
          <a:solidFill>
            <a:srgbClr val="0F2040"/>
          </a:solidFill>
          <a:ln w="12700">
            <a:solidFill>
              <a:srgbClr val="FF6B35"/>
            </a:solidFill>
            <a:prstDash val="solid"/>
          </a:ln>
        </p:spPr>
      </p:sp>
      <p:sp>
        <p:nvSpPr>
          <p:cNvPr id="18" name="Shape 16"/>
          <p:cNvSpPr/>
          <p:nvPr/>
        </p:nvSpPr>
        <p:spPr>
          <a:xfrm>
            <a:off x="228600" y="3246120"/>
            <a:ext cx="54864" cy="1417320"/>
          </a:xfrm>
          <a:prstGeom prst="rect">
            <a:avLst/>
          </a:prstGeom>
          <a:solidFill>
            <a:srgbClr val="FF6B35"/>
          </a:solidFill>
          <a:ln w="12700">
            <a:solidFill>
              <a:srgbClr val="FF6B35"/>
            </a:solidFill>
            <a:prstDash val="solid"/>
          </a:ln>
        </p:spPr>
      </p:sp>
      <p:sp>
        <p:nvSpPr>
          <p:cNvPr id="19" name="Text 17"/>
          <p:cNvSpPr/>
          <p:nvPr/>
        </p:nvSpPr>
        <p:spPr>
          <a:xfrm>
            <a:off x="393192" y="3337560"/>
            <a:ext cx="548640" cy="320040"/>
          </a:xfrm>
          <a:prstGeom prst="rect">
            <a:avLst/>
          </a:prstGeom>
          <a:noFill/>
          <a:ln/>
        </p:spPr>
        <p:txBody>
          <a:bodyPr wrap="square" rtlCol="0" anchor="ctr"/>
          <a:lstStyle/>
          <a:p>
            <a:pPr indent="0" marL="0">
              <a:buNone/>
            </a:pPr>
            <a:r>
              <a:rPr lang="en-US" sz="1400" b="1" dirty="0">
                <a:solidFill>
                  <a:srgbClr val="FF6B35"/>
                </a:solidFill>
                <a:latin typeface="Calibri" pitchFamily="34" charset="0"/>
                <a:ea typeface="Calibri" pitchFamily="34" charset="-122"/>
                <a:cs typeface="Calibri" pitchFamily="34" charset="-120"/>
              </a:rPr>
              <a:t>RQ3</a:t>
            </a:r>
            <a:endParaRPr lang="en-US" sz="1400" dirty="0"/>
          </a:p>
        </p:txBody>
      </p:sp>
      <p:sp>
        <p:nvSpPr>
          <p:cNvPr id="20" name="Text 18"/>
          <p:cNvSpPr/>
          <p:nvPr/>
        </p:nvSpPr>
        <p:spPr>
          <a:xfrm>
            <a:off x="393192" y="3666744"/>
            <a:ext cx="3931920" cy="5943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What drug combinations (Apriori rules) co-occur with hospitalization and GI severity?</a:t>
            </a:r>
            <a:endParaRPr lang="en-US" sz="1100" dirty="0"/>
          </a:p>
        </p:txBody>
      </p:sp>
      <p:sp>
        <p:nvSpPr>
          <p:cNvPr id="21" name="Text 19"/>
          <p:cNvSpPr/>
          <p:nvPr/>
        </p:nvSpPr>
        <p:spPr>
          <a:xfrm>
            <a:off x="393192" y="4325112"/>
            <a:ext cx="3931920" cy="228600"/>
          </a:xfrm>
          <a:prstGeom prst="rect">
            <a:avLst/>
          </a:prstGeom>
          <a:noFill/>
          <a:ln/>
        </p:spPr>
        <p:txBody>
          <a:bodyPr wrap="square" rtlCol="0" anchor="ctr"/>
          <a:lstStyle/>
          <a:p>
            <a:pPr indent="0" marL="0">
              <a:buNone/>
            </a:pPr>
            <a:r>
              <a:rPr lang="en-US" sz="900" i="1" dirty="0">
                <a:solidFill>
                  <a:srgbClr val="FF6B35"/>
                </a:solidFill>
                <a:latin typeface="Calibri" pitchFamily="34" charset="0"/>
                <a:ea typeface="Calibri" pitchFamily="34" charset="-122"/>
                <a:cs typeface="Calibri" pitchFamily="34" charset="-120"/>
              </a:rPr>
              <a:t>Method: Apriori Association Mining</a:t>
            </a:r>
            <a:endParaRPr lang="en-US" sz="900" dirty="0"/>
          </a:p>
        </p:txBody>
      </p:sp>
      <p:sp>
        <p:nvSpPr>
          <p:cNvPr id="22" name="Shape 20"/>
          <p:cNvSpPr/>
          <p:nvPr/>
        </p:nvSpPr>
        <p:spPr>
          <a:xfrm>
            <a:off x="4663440" y="3246120"/>
            <a:ext cx="4206240" cy="1417320"/>
          </a:xfrm>
          <a:prstGeom prst="rect">
            <a:avLst/>
          </a:prstGeom>
          <a:solidFill>
            <a:srgbClr val="0F2040"/>
          </a:solidFill>
          <a:ln w="12700">
            <a:solidFill>
              <a:srgbClr val="FFD166"/>
            </a:solidFill>
            <a:prstDash val="solid"/>
          </a:ln>
        </p:spPr>
      </p:sp>
      <p:sp>
        <p:nvSpPr>
          <p:cNvPr id="23" name="Shape 21"/>
          <p:cNvSpPr/>
          <p:nvPr/>
        </p:nvSpPr>
        <p:spPr>
          <a:xfrm>
            <a:off x="4663440" y="3246120"/>
            <a:ext cx="54864" cy="1417320"/>
          </a:xfrm>
          <a:prstGeom prst="rect">
            <a:avLst/>
          </a:prstGeom>
          <a:solidFill>
            <a:srgbClr val="FFD166"/>
          </a:solidFill>
          <a:ln w="12700">
            <a:solidFill>
              <a:srgbClr val="FFD166"/>
            </a:solidFill>
            <a:prstDash val="solid"/>
          </a:ln>
        </p:spPr>
      </p:sp>
      <p:sp>
        <p:nvSpPr>
          <p:cNvPr id="24" name="Text 22"/>
          <p:cNvSpPr/>
          <p:nvPr/>
        </p:nvSpPr>
        <p:spPr>
          <a:xfrm>
            <a:off x="4828032" y="3337560"/>
            <a:ext cx="548640" cy="320040"/>
          </a:xfrm>
          <a:prstGeom prst="rect">
            <a:avLst/>
          </a:prstGeom>
          <a:noFill/>
          <a:ln/>
        </p:spPr>
        <p:txBody>
          <a:bodyPr wrap="square" rtlCol="0" anchor="ctr"/>
          <a:lstStyle/>
          <a:p>
            <a:pPr indent="0" marL="0">
              <a:buNone/>
            </a:pPr>
            <a:r>
              <a:rPr lang="en-US" sz="1400" b="1" dirty="0">
                <a:solidFill>
                  <a:srgbClr val="FFD166"/>
                </a:solidFill>
                <a:latin typeface="Calibri" pitchFamily="34" charset="0"/>
                <a:ea typeface="Calibri" pitchFamily="34" charset="-122"/>
                <a:cs typeface="Calibri" pitchFamily="34" charset="-120"/>
              </a:rPr>
              <a:t>RQ4</a:t>
            </a:r>
            <a:endParaRPr lang="en-US" sz="1400" dirty="0"/>
          </a:p>
        </p:txBody>
      </p:sp>
      <p:sp>
        <p:nvSpPr>
          <p:cNvPr id="25" name="Text 23"/>
          <p:cNvSpPr/>
          <p:nvPr/>
        </p:nvSpPr>
        <p:spPr>
          <a:xfrm>
            <a:off x="4828032" y="3666744"/>
            <a:ext cx="3931920" cy="59436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Can we predict severity escalation to hospitalization or life-threatening outcomes?</a:t>
            </a:r>
            <a:endParaRPr lang="en-US" sz="1100" dirty="0"/>
          </a:p>
        </p:txBody>
      </p:sp>
      <p:sp>
        <p:nvSpPr>
          <p:cNvPr id="26" name="Text 24"/>
          <p:cNvSpPr/>
          <p:nvPr/>
        </p:nvSpPr>
        <p:spPr>
          <a:xfrm>
            <a:off x="4828032" y="4325112"/>
            <a:ext cx="3931920" cy="228600"/>
          </a:xfrm>
          <a:prstGeom prst="rect">
            <a:avLst/>
          </a:prstGeom>
          <a:noFill/>
          <a:ln/>
        </p:spPr>
        <p:txBody>
          <a:bodyPr wrap="square" rtlCol="0" anchor="ctr"/>
          <a:lstStyle/>
          <a:p>
            <a:pPr indent="0" marL="0">
              <a:buNone/>
            </a:pPr>
            <a:r>
              <a:rPr lang="en-US" sz="900" i="1" dirty="0">
                <a:solidFill>
                  <a:srgbClr val="FFD166"/>
                </a:solidFill>
                <a:latin typeface="Calibri" pitchFamily="34" charset="0"/>
                <a:ea typeface="Calibri" pitchFamily="34" charset="-122"/>
                <a:cs typeface="Calibri" pitchFamily="34" charset="-120"/>
              </a:rPr>
              <a:t>Method: Random Forest / Logistic Regression / DT / NB</a:t>
            </a:r>
            <a:endParaRPr lang="en-US" sz="900" dirty="0"/>
          </a:p>
        </p:txBody>
      </p:sp>
      <p:sp>
        <p:nvSpPr>
          <p:cNvPr id="27" name="Text 25"/>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4 / 24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Data Source &amp; The 'Diabetics vs. Diabetics' Rule</a:t>
            </a:r>
            <a:endParaRPr lang="en-US" sz="24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Why scientific rigor demands a matched diabetic control group</a:t>
            </a:r>
            <a:endParaRPr lang="en-US" sz="1300" dirty="0"/>
          </a:p>
        </p:txBody>
      </p:sp>
      <p:sp>
        <p:nvSpPr>
          <p:cNvPr id="7" name="Shape 5"/>
          <p:cNvSpPr/>
          <p:nvPr/>
        </p:nvSpPr>
        <p:spPr>
          <a:xfrm>
            <a:off x="228600" y="1417320"/>
            <a:ext cx="4114800" cy="1280160"/>
          </a:xfrm>
          <a:prstGeom prst="rect">
            <a:avLst/>
          </a:prstGeom>
          <a:solidFill>
            <a:srgbClr val="0F2040"/>
          </a:solidFill>
          <a:ln w="12700">
            <a:solidFill>
              <a:srgbClr val="00A896"/>
            </a:solidFill>
            <a:prstDash val="solid"/>
          </a:ln>
        </p:spPr>
      </p:sp>
      <p:sp>
        <p:nvSpPr>
          <p:cNvPr id="8" name="Text 6"/>
          <p:cNvSpPr/>
          <p:nvPr/>
        </p:nvSpPr>
        <p:spPr>
          <a:xfrm>
            <a:off x="365760" y="1508760"/>
            <a:ext cx="3840480" cy="256032"/>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FDA FAERS (Voluntary Reporting)</a:t>
            </a:r>
            <a:endParaRPr lang="en-US" sz="1100" dirty="0"/>
          </a:p>
        </p:txBody>
      </p:sp>
      <p:sp>
        <p:nvSpPr>
          <p:cNvPr id="9" name="Text 7"/>
          <p:cNvSpPr/>
          <p:nvPr/>
        </p:nvSpPr>
        <p:spPr>
          <a:xfrm>
            <a:off x="365760" y="1828800"/>
            <a:ext cx="3840480" cy="65836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5 tables: DEMO · DRUG · REAC · OUTC · THER</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13 Quarters: 2023Q1 → 2026Q1</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Format: ASCII quarterly ZIP files</a:t>
            </a:r>
            <a:endParaRPr lang="en-US" sz="1000" dirty="0"/>
          </a:p>
        </p:txBody>
      </p:sp>
      <p:sp>
        <p:nvSpPr>
          <p:cNvPr id="10" name="Shape 8"/>
          <p:cNvSpPr/>
          <p:nvPr/>
        </p:nvSpPr>
        <p:spPr>
          <a:xfrm>
            <a:off x="228600" y="2834640"/>
            <a:ext cx="1920240" cy="1920240"/>
          </a:xfrm>
          <a:prstGeom prst="rect">
            <a:avLst/>
          </a:prstGeom>
          <a:solidFill>
            <a:srgbClr val="0F2040"/>
          </a:solidFill>
          <a:ln w="12700">
            <a:solidFill>
              <a:srgbClr val="00A896"/>
            </a:solidFill>
            <a:prstDash val="solid"/>
          </a:ln>
        </p:spPr>
      </p:sp>
      <p:sp>
        <p:nvSpPr>
          <p:cNvPr id="11" name="Text 9"/>
          <p:cNvSpPr/>
          <p:nvPr/>
        </p:nvSpPr>
        <p:spPr>
          <a:xfrm>
            <a:off x="347472" y="2926080"/>
            <a:ext cx="1737360" cy="228600"/>
          </a:xfrm>
          <a:prstGeom prst="rect">
            <a:avLst/>
          </a:prstGeom>
          <a:noFill/>
          <a:ln/>
        </p:spPr>
        <p:txBody>
          <a:bodyPr wrap="square" rtlCol="0" anchor="ctr"/>
          <a:lstStyle/>
          <a:p>
            <a:pPr indent="0" marL="0">
              <a:buNone/>
            </a:pPr>
            <a:r>
              <a:rPr lang="en-US" sz="800" b="1" spc="100" kern="0" dirty="0">
                <a:solidFill>
                  <a:srgbClr val="00A896"/>
                </a:solidFill>
                <a:latin typeface="Calibri" pitchFamily="34" charset="0"/>
                <a:ea typeface="Calibri" pitchFamily="34" charset="-122"/>
                <a:cs typeface="Calibri" pitchFamily="34" charset="-120"/>
              </a:rPr>
              <a:t>GLP-1 COHORT</a:t>
            </a:r>
            <a:endParaRPr lang="en-US" sz="800" dirty="0"/>
          </a:p>
        </p:txBody>
      </p:sp>
      <p:sp>
        <p:nvSpPr>
          <p:cNvPr id="12" name="Text 10"/>
          <p:cNvSpPr/>
          <p:nvPr/>
        </p:nvSpPr>
        <p:spPr>
          <a:xfrm>
            <a:off x="347472" y="3218688"/>
            <a:ext cx="1737360" cy="237744"/>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SEMAGLUTIDE</a:t>
            </a:r>
            <a:endParaRPr lang="en-US" sz="900" dirty="0"/>
          </a:p>
        </p:txBody>
      </p:sp>
      <p:sp>
        <p:nvSpPr>
          <p:cNvPr id="13" name="Text 11"/>
          <p:cNvSpPr/>
          <p:nvPr/>
        </p:nvSpPr>
        <p:spPr>
          <a:xfrm>
            <a:off x="347472" y="3493008"/>
            <a:ext cx="1737360" cy="237744"/>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LIRAGLUTIDE</a:t>
            </a:r>
            <a:endParaRPr lang="en-US" sz="900" dirty="0"/>
          </a:p>
        </p:txBody>
      </p:sp>
      <p:sp>
        <p:nvSpPr>
          <p:cNvPr id="14" name="Text 12"/>
          <p:cNvSpPr/>
          <p:nvPr/>
        </p:nvSpPr>
        <p:spPr>
          <a:xfrm>
            <a:off x="347472" y="3767328"/>
            <a:ext cx="1737360" cy="237744"/>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DULAGLUTIDE</a:t>
            </a:r>
            <a:endParaRPr lang="en-US" sz="900" dirty="0"/>
          </a:p>
        </p:txBody>
      </p:sp>
      <p:sp>
        <p:nvSpPr>
          <p:cNvPr id="15" name="Text 13"/>
          <p:cNvSpPr/>
          <p:nvPr/>
        </p:nvSpPr>
        <p:spPr>
          <a:xfrm>
            <a:off x="347472" y="4041648"/>
            <a:ext cx="1737360" cy="237744"/>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TIRZEPATIDE</a:t>
            </a:r>
            <a:endParaRPr lang="en-US" sz="900" dirty="0"/>
          </a:p>
        </p:txBody>
      </p:sp>
      <p:sp>
        <p:nvSpPr>
          <p:cNvPr id="16" name="Text 14"/>
          <p:cNvSpPr/>
          <p:nvPr/>
        </p:nvSpPr>
        <p:spPr>
          <a:xfrm>
            <a:off x="347472" y="4315968"/>
            <a:ext cx="1737360" cy="237744"/>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EXENATIDE</a:t>
            </a:r>
            <a:endParaRPr lang="en-US" sz="900" dirty="0"/>
          </a:p>
        </p:txBody>
      </p:sp>
      <p:sp>
        <p:nvSpPr>
          <p:cNvPr id="17" name="Text 15"/>
          <p:cNvSpPr/>
          <p:nvPr/>
        </p:nvSpPr>
        <p:spPr>
          <a:xfrm>
            <a:off x="347472" y="4572000"/>
            <a:ext cx="1737360" cy="237744"/>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n = 206,974</a:t>
            </a:r>
            <a:endParaRPr lang="en-US" sz="1100" dirty="0"/>
          </a:p>
        </p:txBody>
      </p:sp>
      <p:sp>
        <p:nvSpPr>
          <p:cNvPr id="18" name="Shape 16"/>
          <p:cNvSpPr/>
          <p:nvPr/>
        </p:nvSpPr>
        <p:spPr>
          <a:xfrm>
            <a:off x="2286000" y="2834640"/>
            <a:ext cx="2103120" cy="1920240"/>
          </a:xfrm>
          <a:prstGeom prst="rect">
            <a:avLst/>
          </a:prstGeom>
          <a:solidFill>
            <a:srgbClr val="0F2040"/>
          </a:solidFill>
          <a:ln w="12700">
            <a:solidFill>
              <a:srgbClr val="FF6B35"/>
            </a:solidFill>
            <a:prstDash val="solid"/>
          </a:ln>
        </p:spPr>
      </p:sp>
      <p:sp>
        <p:nvSpPr>
          <p:cNvPr id="19" name="Text 17"/>
          <p:cNvSpPr/>
          <p:nvPr/>
        </p:nvSpPr>
        <p:spPr>
          <a:xfrm>
            <a:off x="2395728" y="2926080"/>
            <a:ext cx="1920240" cy="228600"/>
          </a:xfrm>
          <a:prstGeom prst="rect">
            <a:avLst/>
          </a:prstGeom>
          <a:noFill/>
          <a:ln/>
        </p:spPr>
        <p:txBody>
          <a:bodyPr wrap="square" rtlCol="0" anchor="ctr"/>
          <a:lstStyle/>
          <a:p>
            <a:pPr indent="0" marL="0">
              <a:buNone/>
            </a:pPr>
            <a:r>
              <a:rPr lang="en-US" sz="800" b="1" spc="100" kern="0" dirty="0">
                <a:solidFill>
                  <a:srgbClr val="FF6B35"/>
                </a:solidFill>
                <a:latin typeface="Calibri" pitchFamily="34" charset="0"/>
                <a:ea typeface="Calibri" pitchFamily="34" charset="-122"/>
                <a:cs typeface="Calibri" pitchFamily="34" charset="-120"/>
              </a:rPr>
              <a:t>CONTROL GROUP</a:t>
            </a:r>
            <a:endParaRPr lang="en-US" sz="800" dirty="0"/>
          </a:p>
        </p:txBody>
      </p:sp>
      <p:sp>
        <p:nvSpPr>
          <p:cNvPr id="20" name="Text 18"/>
          <p:cNvSpPr/>
          <p:nvPr/>
        </p:nvSpPr>
        <p:spPr>
          <a:xfrm>
            <a:off x="2395728" y="32186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METFORMIN</a:t>
            </a:r>
            <a:endParaRPr lang="en-US" sz="900" dirty="0"/>
          </a:p>
        </p:txBody>
      </p:sp>
      <p:sp>
        <p:nvSpPr>
          <p:cNvPr id="21" name="Text 19"/>
          <p:cNvSpPr/>
          <p:nvPr/>
        </p:nvSpPr>
        <p:spPr>
          <a:xfrm>
            <a:off x="2395728" y="34472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SITAGLIPTIN</a:t>
            </a:r>
            <a:endParaRPr lang="en-US" sz="900" dirty="0"/>
          </a:p>
        </p:txBody>
      </p:sp>
      <p:sp>
        <p:nvSpPr>
          <p:cNvPr id="22" name="Text 20"/>
          <p:cNvSpPr/>
          <p:nvPr/>
        </p:nvSpPr>
        <p:spPr>
          <a:xfrm>
            <a:off x="2395728" y="36758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EMPAGLIFLOZIN</a:t>
            </a:r>
            <a:endParaRPr lang="en-US" sz="900" dirty="0"/>
          </a:p>
        </p:txBody>
      </p:sp>
      <p:sp>
        <p:nvSpPr>
          <p:cNvPr id="23" name="Text 21"/>
          <p:cNvSpPr/>
          <p:nvPr/>
        </p:nvSpPr>
        <p:spPr>
          <a:xfrm>
            <a:off x="2395728" y="39044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DAPAGLIFLOZIN</a:t>
            </a:r>
            <a:endParaRPr lang="en-US" sz="900" dirty="0"/>
          </a:p>
        </p:txBody>
      </p:sp>
      <p:sp>
        <p:nvSpPr>
          <p:cNvPr id="24" name="Text 22"/>
          <p:cNvSpPr/>
          <p:nvPr/>
        </p:nvSpPr>
        <p:spPr>
          <a:xfrm>
            <a:off x="2395728" y="41330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GLIPIZIDE</a:t>
            </a:r>
            <a:endParaRPr lang="en-US" sz="900" dirty="0"/>
          </a:p>
        </p:txBody>
      </p:sp>
      <p:sp>
        <p:nvSpPr>
          <p:cNvPr id="25" name="Text 23"/>
          <p:cNvSpPr/>
          <p:nvPr/>
        </p:nvSpPr>
        <p:spPr>
          <a:xfrm>
            <a:off x="2395728" y="4361688"/>
            <a:ext cx="1920240" cy="201168"/>
          </a:xfrm>
          <a:prstGeom prst="rect">
            <a:avLst/>
          </a:prstGeom>
          <a:noFill/>
          <a:ln/>
        </p:spPr>
        <p:txBody>
          <a:bodyPr wrap="square" rtlCol="0" anchor="ctr"/>
          <a:lstStyle/>
          <a:p>
            <a:pPr indent="0" marL="0">
              <a:buNone/>
            </a:pPr>
            <a:r>
              <a:rPr lang="en-US" sz="900" dirty="0">
                <a:solidFill>
                  <a:srgbClr val="FF8C5A"/>
                </a:solidFill>
                <a:latin typeface="Calibri" pitchFamily="34" charset="0"/>
                <a:ea typeface="Calibri" pitchFamily="34" charset="-122"/>
                <a:cs typeface="Calibri" pitchFamily="34" charset="-120"/>
              </a:rPr>
              <a:t>GLIMEPIRIDE</a:t>
            </a:r>
            <a:endParaRPr lang="en-US" sz="900" dirty="0"/>
          </a:p>
        </p:txBody>
      </p:sp>
      <p:sp>
        <p:nvSpPr>
          <p:cNvPr id="26" name="Text 24"/>
          <p:cNvSpPr/>
          <p:nvPr/>
        </p:nvSpPr>
        <p:spPr>
          <a:xfrm>
            <a:off x="2395728" y="4572000"/>
            <a:ext cx="1828800" cy="237744"/>
          </a:xfrm>
          <a:prstGeom prst="rect">
            <a:avLst/>
          </a:prstGeom>
          <a:noFill/>
          <a:ln/>
        </p:spPr>
        <p:txBody>
          <a:bodyPr wrap="square"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n = 160,909</a:t>
            </a:r>
            <a:endParaRPr lang="en-US" sz="1100" dirty="0"/>
          </a:p>
        </p:txBody>
      </p:sp>
      <p:sp>
        <p:nvSpPr>
          <p:cNvPr id="27" name="Shape 25"/>
          <p:cNvSpPr/>
          <p:nvPr/>
        </p:nvSpPr>
        <p:spPr>
          <a:xfrm>
            <a:off x="4663440" y="1417320"/>
            <a:ext cx="4251960" cy="3337560"/>
          </a:xfrm>
          <a:prstGeom prst="rect">
            <a:avLst/>
          </a:prstGeom>
          <a:solidFill>
            <a:srgbClr val="0F2040"/>
          </a:solidFill>
          <a:ln w="12700">
            <a:solidFill>
              <a:srgbClr val="028090"/>
            </a:solidFill>
            <a:prstDash val="solid"/>
          </a:ln>
        </p:spPr>
      </p:sp>
      <p:sp>
        <p:nvSpPr>
          <p:cNvPr id="28" name="Text 26"/>
          <p:cNvSpPr/>
          <p:nvPr/>
        </p:nvSpPr>
        <p:spPr>
          <a:xfrm>
            <a:off x="4800600" y="1508760"/>
            <a:ext cx="3931920" cy="256032"/>
          </a:xfrm>
          <a:prstGeom prst="rect">
            <a:avLst/>
          </a:prstGeom>
          <a:noFill/>
          <a:ln/>
        </p:spPr>
        <p:txBody>
          <a:bodyPr wrap="square"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THE SITAGLIPTIN RULE: WHY IT MATTERS</a:t>
            </a:r>
            <a:endParaRPr lang="en-US" sz="1000" dirty="0"/>
          </a:p>
        </p:txBody>
      </p:sp>
      <p:sp>
        <p:nvSpPr>
          <p:cNvPr id="29" name="Text 27"/>
          <p:cNvSpPr/>
          <p:nvPr/>
        </p:nvSpPr>
        <p:spPr>
          <a:xfrm>
            <a:off x="4800600" y="1874520"/>
            <a:ext cx="3931920" cy="2743200"/>
          </a:xfrm>
          <a:prstGeom prst="rect">
            <a:avLst/>
          </a:prstGeom>
          <a:noFill/>
          <a:ln/>
        </p:spPr>
        <p:txBody>
          <a:bodyPr wrap="square" rtlCol="0" anchor="ctr"/>
          <a:lstStyle/>
          <a:p>
            <a:pPr indent="0" marL="0">
              <a:buNone/>
            </a:pPr>
            <a:r>
              <a:rPr lang="en-US" sz="1100" dirty="0">
                <a:solidFill>
                  <a:srgbClr val="E8F4F8"/>
                </a:solidFill>
                <a:latin typeface="Calibri" pitchFamily="34" charset="0"/>
                <a:ea typeface="Calibri" pitchFamily="34" charset="-122"/>
                <a:cs typeface="Calibri" pitchFamily="34" charset="-120"/>
              </a:rPr>
              <a:t>Comparing GLP-1 users against the general FAERS population would be confounded by:</a:t>
            </a:r>
            <a:endParaRPr lang="en-US" sz="1100" dirty="0"/>
          </a:p>
          <a:p>
            <a:pPr indent="0" marL="0">
              <a:buNone/>
            </a:pP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 Disease severity differences</a:t>
            </a: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 Age &amp; comorbidity differences</a:t>
            </a: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 Prescribing-pattern biases</a:t>
            </a:r>
            <a:endParaRPr lang="en-US" sz="1100" dirty="0"/>
          </a:p>
          <a:p>
            <a:pPr indent="0" marL="0">
              <a:buNone/>
            </a:pP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By comparing GLP-1 users to metformin/sitagliptin users (also diabetics), we isolate the drug effect rather than the disease effect.</a:t>
            </a:r>
            <a:endParaRPr lang="en-US" sz="1100" dirty="0"/>
          </a:p>
          <a:p>
            <a:pPr indent="0" marL="0">
              <a:buNone/>
            </a:pPr>
            <a:endParaRPr lang="en-US" sz="1100" dirty="0"/>
          </a:p>
          <a:p>
            <a:pPr indent="0" marL="0">
              <a:buNone/>
            </a:pPr>
            <a:r>
              <a:rPr lang="en-US" sz="1100" dirty="0">
                <a:solidFill>
                  <a:srgbClr val="E8F4F8"/>
                </a:solidFill>
                <a:latin typeface="Calibri" pitchFamily="34" charset="0"/>
                <a:ea typeface="Calibri" pitchFamily="34" charset="-122"/>
                <a:cs typeface="Calibri" pitchFamily="34" charset="-120"/>
              </a:rPr>
              <a:t>This is the 'Diabetics vs. Diabetics' scientific rigor principle.</a:t>
            </a:r>
            <a:endParaRPr lang="en-US" sz="1100" dirty="0"/>
          </a:p>
        </p:txBody>
      </p:sp>
      <p:sp>
        <p:nvSpPr>
          <p:cNvPr id="30" name="Text 28"/>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5 / 24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Warehouse: The Star Schema</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SQL architecture powering reproducible, queryable analysis</a:t>
            </a:r>
            <a:endParaRPr lang="en-US" sz="1300" dirty="0"/>
          </a:p>
        </p:txBody>
      </p:sp>
      <p:sp>
        <p:nvSpPr>
          <p:cNvPr id="7" name="Shape 5"/>
          <p:cNvSpPr/>
          <p:nvPr/>
        </p:nvSpPr>
        <p:spPr>
          <a:xfrm>
            <a:off x="3657600" y="2103120"/>
            <a:ext cx="1828800" cy="1280160"/>
          </a:xfrm>
          <a:prstGeom prst="rect">
            <a:avLst/>
          </a:prstGeom>
          <a:solidFill>
            <a:srgbClr val="00A896"/>
          </a:solidFill>
          <a:ln w="25400">
            <a:solidFill>
              <a:srgbClr val="02C39A"/>
            </a:solidFill>
            <a:prstDash val="solid"/>
          </a:ln>
        </p:spPr>
      </p:sp>
      <p:sp>
        <p:nvSpPr>
          <p:cNvPr id="8" name="Text 6"/>
          <p:cNvSpPr/>
          <p:nvPr/>
        </p:nvSpPr>
        <p:spPr>
          <a:xfrm>
            <a:off x="3657600" y="2103120"/>
            <a:ext cx="1828800" cy="1280160"/>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FACT</a:t>
            </a:r>
            <a:endParaRPr lang="en-US" sz="1200" dirty="0"/>
          </a:p>
          <a:p>
            <a:pPr algn="ctr" indent="0" marL="0">
              <a:buNone/>
            </a:pPr>
            <a:r>
              <a:rPr lang="en-US" sz="1200" b="1" dirty="0">
                <a:solidFill>
                  <a:srgbClr val="0A1628"/>
                </a:solidFill>
                <a:latin typeface="Calibri" pitchFamily="34" charset="0"/>
                <a:ea typeface="Calibri" pitchFamily="34" charset="-122"/>
                <a:cs typeface="Calibri" pitchFamily="34" charset="-120"/>
              </a:rPr>
              <a:t>adverse_event</a:t>
            </a:r>
            <a:endParaRPr lang="en-US" sz="1200" dirty="0"/>
          </a:p>
        </p:txBody>
      </p:sp>
      <p:sp>
        <p:nvSpPr>
          <p:cNvPr id="9" name="Shape 7"/>
          <p:cNvSpPr/>
          <p:nvPr/>
        </p:nvSpPr>
        <p:spPr>
          <a:xfrm>
            <a:off x="274320" y="822960"/>
            <a:ext cx="1645920" cy="822960"/>
          </a:xfrm>
          <a:prstGeom prst="rect">
            <a:avLst/>
          </a:prstGeom>
          <a:solidFill>
            <a:srgbClr val="0F2040"/>
          </a:solidFill>
          <a:ln w="12700">
            <a:solidFill>
              <a:srgbClr val="028090"/>
            </a:solidFill>
            <a:prstDash val="solid"/>
          </a:ln>
        </p:spPr>
      </p:sp>
      <p:sp>
        <p:nvSpPr>
          <p:cNvPr id="10" name="Text 8"/>
          <p:cNvSpPr/>
          <p:nvPr/>
        </p:nvSpPr>
        <p:spPr>
          <a:xfrm>
            <a:off x="274320" y="82296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DIM</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patient</a:t>
            </a:r>
            <a:endParaRPr lang="en-US" sz="900" dirty="0"/>
          </a:p>
        </p:txBody>
      </p:sp>
      <p:sp>
        <p:nvSpPr>
          <p:cNvPr id="11" name="Shape 9"/>
          <p:cNvSpPr/>
          <p:nvPr/>
        </p:nvSpPr>
        <p:spPr>
          <a:xfrm>
            <a:off x="274320" y="1161288"/>
            <a:ext cx="1645920" cy="9144"/>
          </a:xfrm>
          <a:prstGeom prst="rect">
            <a:avLst/>
          </a:prstGeom>
          <a:solidFill>
            <a:srgbClr val="028090"/>
          </a:solidFill>
          <a:ln w="12700">
            <a:solidFill>
              <a:srgbClr val="028090"/>
            </a:solidFill>
            <a:prstDash val="solid"/>
          </a:ln>
        </p:spPr>
      </p:sp>
      <p:sp>
        <p:nvSpPr>
          <p:cNvPr id="12" name="Text 10"/>
          <p:cNvSpPr/>
          <p:nvPr/>
        </p:nvSpPr>
        <p:spPr>
          <a:xfrm>
            <a:off x="320040" y="120700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caseid · age_yr</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wt_kg · sex</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country</a:t>
            </a:r>
            <a:endParaRPr lang="en-US" sz="750" dirty="0"/>
          </a:p>
        </p:txBody>
      </p:sp>
      <p:sp>
        <p:nvSpPr>
          <p:cNvPr id="13" name="Shape 11"/>
          <p:cNvSpPr/>
          <p:nvPr/>
        </p:nvSpPr>
        <p:spPr>
          <a:xfrm>
            <a:off x="1920240" y="1234440"/>
            <a:ext cx="1737360" cy="0"/>
          </a:xfrm>
          <a:prstGeom prst="line">
            <a:avLst/>
          </a:prstGeom>
          <a:noFill/>
          <a:ln w="12700">
            <a:solidFill>
              <a:srgbClr val="028090"/>
            </a:solidFill>
            <a:prstDash val="dash"/>
          </a:ln>
        </p:spPr>
      </p:sp>
      <p:sp>
        <p:nvSpPr>
          <p:cNvPr id="14" name="Shape 12"/>
          <p:cNvSpPr/>
          <p:nvPr/>
        </p:nvSpPr>
        <p:spPr>
          <a:xfrm>
            <a:off x="274320" y="2651760"/>
            <a:ext cx="1645920" cy="822960"/>
          </a:xfrm>
          <a:prstGeom prst="rect">
            <a:avLst/>
          </a:prstGeom>
          <a:solidFill>
            <a:srgbClr val="0F2040"/>
          </a:solidFill>
          <a:ln w="12700">
            <a:solidFill>
              <a:srgbClr val="028090"/>
            </a:solidFill>
            <a:prstDash val="solid"/>
          </a:ln>
        </p:spPr>
      </p:sp>
      <p:sp>
        <p:nvSpPr>
          <p:cNvPr id="15" name="Text 13"/>
          <p:cNvSpPr/>
          <p:nvPr/>
        </p:nvSpPr>
        <p:spPr>
          <a:xfrm>
            <a:off x="274320" y="265176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DIM</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time</a:t>
            </a:r>
            <a:endParaRPr lang="en-US" sz="900" dirty="0"/>
          </a:p>
        </p:txBody>
      </p:sp>
      <p:sp>
        <p:nvSpPr>
          <p:cNvPr id="16" name="Shape 14"/>
          <p:cNvSpPr/>
          <p:nvPr/>
        </p:nvSpPr>
        <p:spPr>
          <a:xfrm>
            <a:off x="274320" y="2990088"/>
            <a:ext cx="1645920" cy="9144"/>
          </a:xfrm>
          <a:prstGeom prst="rect">
            <a:avLst/>
          </a:prstGeom>
          <a:solidFill>
            <a:srgbClr val="028090"/>
          </a:solidFill>
          <a:ln w="12700">
            <a:solidFill>
              <a:srgbClr val="028090"/>
            </a:solidFill>
            <a:prstDash val="solid"/>
          </a:ln>
        </p:spPr>
      </p:sp>
      <p:sp>
        <p:nvSpPr>
          <p:cNvPr id="17" name="Text 15"/>
          <p:cNvSpPr/>
          <p:nvPr/>
        </p:nvSpPr>
        <p:spPr>
          <a:xfrm>
            <a:off x="320040" y="303580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event_date · fda_dt</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quarter · drug_start</a:t>
            </a:r>
            <a:endParaRPr lang="en-US" sz="750" dirty="0"/>
          </a:p>
        </p:txBody>
      </p:sp>
      <p:sp>
        <p:nvSpPr>
          <p:cNvPr id="18" name="Shape 16"/>
          <p:cNvSpPr/>
          <p:nvPr/>
        </p:nvSpPr>
        <p:spPr>
          <a:xfrm>
            <a:off x="1920240" y="3063240"/>
            <a:ext cx="1737360" cy="0"/>
          </a:xfrm>
          <a:prstGeom prst="line">
            <a:avLst/>
          </a:prstGeom>
          <a:noFill/>
          <a:ln w="12700">
            <a:solidFill>
              <a:srgbClr val="028090"/>
            </a:solidFill>
            <a:prstDash val="dash"/>
          </a:ln>
        </p:spPr>
      </p:sp>
      <p:sp>
        <p:nvSpPr>
          <p:cNvPr id="19" name="Shape 17"/>
          <p:cNvSpPr/>
          <p:nvPr/>
        </p:nvSpPr>
        <p:spPr>
          <a:xfrm>
            <a:off x="274320" y="4114800"/>
            <a:ext cx="1645920" cy="822960"/>
          </a:xfrm>
          <a:prstGeom prst="rect">
            <a:avLst/>
          </a:prstGeom>
          <a:solidFill>
            <a:srgbClr val="0F2040"/>
          </a:solidFill>
          <a:ln w="12700">
            <a:solidFill>
              <a:srgbClr val="028090"/>
            </a:solidFill>
            <a:prstDash val="solid"/>
          </a:ln>
        </p:spPr>
      </p:sp>
      <p:sp>
        <p:nvSpPr>
          <p:cNvPr id="20" name="Text 18"/>
          <p:cNvSpPr/>
          <p:nvPr/>
        </p:nvSpPr>
        <p:spPr>
          <a:xfrm>
            <a:off x="274320" y="411480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DIM</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outcome</a:t>
            </a:r>
            <a:endParaRPr lang="en-US" sz="900" dirty="0"/>
          </a:p>
        </p:txBody>
      </p:sp>
      <p:sp>
        <p:nvSpPr>
          <p:cNvPr id="21" name="Shape 19"/>
          <p:cNvSpPr/>
          <p:nvPr/>
        </p:nvSpPr>
        <p:spPr>
          <a:xfrm>
            <a:off x="274320" y="4453128"/>
            <a:ext cx="1645920" cy="9144"/>
          </a:xfrm>
          <a:prstGeom prst="rect">
            <a:avLst/>
          </a:prstGeom>
          <a:solidFill>
            <a:srgbClr val="028090"/>
          </a:solidFill>
          <a:ln w="12700">
            <a:solidFill>
              <a:srgbClr val="028090"/>
            </a:solidFill>
            <a:prstDash val="solid"/>
          </a:ln>
        </p:spPr>
      </p:sp>
      <p:sp>
        <p:nvSpPr>
          <p:cNvPr id="22" name="Text 20"/>
          <p:cNvSpPr/>
          <p:nvPr/>
        </p:nvSpPr>
        <p:spPr>
          <a:xfrm>
            <a:off x="320040" y="449884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severity_flag</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gi_severe_flag</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outc_cod</a:t>
            </a:r>
            <a:endParaRPr lang="en-US" sz="750" dirty="0"/>
          </a:p>
        </p:txBody>
      </p:sp>
      <p:sp>
        <p:nvSpPr>
          <p:cNvPr id="23" name="Shape 21"/>
          <p:cNvSpPr/>
          <p:nvPr/>
        </p:nvSpPr>
        <p:spPr>
          <a:xfrm>
            <a:off x="1920240" y="4526280"/>
            <a:ext cx="1737360" cy="0"/>
          </a:xfrm>
          <a:prstGeom prst="line">
            <a:avLst/>
          </a:prstGeom>
          <a:noFill/>
          <a:ln w="12700">
            <a:solidFill>
              <a:srgbClr val="028090"/>
            </a:solidFill>
            <a:prstDash val="dash"/>
          </a:ln>
        </p:spPr>
      </p:sp>
      <p:sp>
        <p:nvSpPr>
          <p:cNvPr id="24" name="Shape 22"/>
          <p:cNvSpPr/>
          <p:nvPr/>
        </p:nvSpPr>
        <p:spPr>
          <a:xfrm>
            <a:off x="6949440" y="822960"/>
            <a:ext cx="1645920" cy="822960"/>
          </a:xfrm>
          <a:prstGeom prst="rect">
            <a:avLst/>
          </a:prstGeom>
          <a:solidFill>
            <a:srgbClr val="0F2040"/>
          </a:solidFill>
          <a:ln w="12700">
            <a:solidFill>
              <a:srgbClr val="028090"/>
            </a:solidFill>
            <a:prstDash val="solid"/>
          </a:ln>
        </p:spPr>
      </p:sp>
      <p:sp>
        <p:nvSpPr>
          <p:cNvPr id="25" name="Text 23"/>
          <p:cNvSpPr/>
          <p:nvPr/>
        </p:nvSpPr>
        <p:spPr>
          <a:xfrm>
            <a:off x="6949440" y="82296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DIM</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drug</a:t>
            </a:r>
            <a:endParaRPr lang="en-US" sz="900" dirty="0"/>
          </a:p>
        </p:txBody>
      </p:sp>
      <p:sp>
        <p:nvSpPr>
          <p:cNvPr id="26" name="Shape 24"/>
          <p:cNvSpPr/>
          <p:nvPr/>
        </p:nvSpPr>
        <p:spPr>
          <a:xfrm>
            <a:off x="6949440" y="1161288"/>
            <a:ext cx="1645920" cy="9144"/>
          </a:xfrm>
          <a:prstGeom prst="rect">
            <a:avLst/>
          </a:prstGeom>
          <a:solidFill>
            <a:srgbClr val="028090"/>
          </a:solidFill>
          <a:ln w="12700">
            <a:solidFill>
              <a:srgbClr val="028090"/>
            </a:solidFill>
            <a:prstDash val="solid"/>
          </a:ln>
        </p:spPr>
      </p:sp>
      <p:sp>
        <p:nvSpPr>
          <p:cNvPr id="27" name="Text 25"/>
          <p:cNvSpPr/>
          <p:nvPr/>
        </p:nvSpPr>
        <p:spPr>
          <a:xfrm>
            <a:off x="6995160" y="120700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prod_ai · is_glp1</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is_control · is_opioid</a:t>
            </a:r>
            <a:endParaRPr lang="en-US" sz="750" dirty="0"/>
          </a:p>
        </p:txBody>
      </p:sp>
      <p:sp>
        <p:nvSpPr>
          <p:cNvPr id="28" name="Shape 26"/>
          <p:cNvSpPr/>
          <p:nvPr/>
        </p:nvSpPr>
        <p:spPr>
          <a:xfrm>
            <a:off x="5486400" y="1234440"/>
            <a:ext cx="1463040" cy="0"/>
          </a:xfrm>
          <a:prstGeom prst="line">
            <a:avLst/>
          </a:prstGeom>
          <a:noFill/>
          <a:ln w="12700">
            <a:solidFill>
              <a:srgbClr val="028090"/>
            </a:solidFill>
            <a:prstDash val="dash"/>
          </a:ln>
        </p:spPr>
      </p:sp>
      <p:sp>
        <p:nvSpPr>
          <p:cNvPr id="29" name="Shape 27"/>
          <p:cNvSpPr/>
          <p:nvPr/>
        </p:nvSpPr>
        <p:spPr>
          <a:xfrm>
            <a:off x="6949440" y="2651760"/>
            <a:ext cx="1645920" cy="822960"/>
          </a:xfrm>
          <a:prstGeom prst="rect">
            <a:avLst/>
          </a:prstGeom>
          <a:solidFill>
            <a:srgbClr val="0F2040"/>
          </a:solidFill>
          <a:ln w="12700">
            <a:solidFill>
              <a:srgbClr val="028090"/>
            </a:solidFill>
            <a:prstDash val="solid"/>
          </a:ln>
        </p:spPr>
      </p:sp>
      <p:sp>
        <p:nvSpPr>
          <p:cNvPr id="30" name="Text 28"/>
          <p:cNvSpPr/>
          <p:nvPr/>
        </p:nvSpPr>
        <p:spPr>
          <a:xfrm>
            <a:off x="6949440" y="265176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DIM</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reaction</a:t>
            </a:r>
            <a:endParaRPr lang="en-US" sz="900" dirty="0"/>
          </a:p>
        </p:txBody>
      </p:sp>
      <p:sp>
        <p:nvSpPr>
          <p:cNvPr id="31" name="Shape 29"/>
          <p:cNvSpPr/>
          <p:nvPr/>
        </p:nvSpPr>
        <p:spPr>
          <a:xfrm>
            <a:off x="6949440" y="2990088"/>
            <a:ext cx="1645920" cy="9144"/>
          </a:xfrm>
          <a:prstGeom prst="rect">
            <a:avLst/>
          </a:prstGeom>
          <a:solidFill>
            <a:srgbClr val="028090"/>
          </a:solidFill>
          <a:ln w="12700">
            <a:solidFill>
              <a:srgbClr val="028090"/>
            </a:solidFill>
            <a:prstDash val="solid"/>
          </a:ln>
        </p:spPr>
      </p:sp>
      <p:sp>
        <p:nvSpPr>
          <p:cNvPr id="32" name="Text 30"/>
          <p:cNvSpPr/>
          <p:nvPr/>
        </p:nvSpPr>
        <p:spPr>
          <a:xfrm>
            <a:off x="6995160" y="303580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pt_upper · gi_term</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is_gi_severe</a:t>
            </a:r>
            <a:endParaRPr lang="en-US" sz="750" dirty="0"/>
          </a:p>
        </p:txBody>
      </p:sp>
      <p:sp>
        <p:nvSpPr>
          <p:cNvPr id="33" name="Shape 31"/>
          <p:cNvSpPr/>
          <p:nvPr/>
        </p:nvSpPr>
        <p:spPr>
          <a:xfrm>
            <a:off x="5486400" y="3063240"/>
            <a:ext cx="1463040" cy="0"/>
          </a:xfrm>
          <a:prstGeom prst="line">
            <a:avLst/>
          </a:prstGeom>
          <a:noFill/>
          <a:ln w="12700">
            <a:solidFill>
              <a:srgbClr val="028090"/>
            </a:solidFill>
            <a:prstDash val="dash"/>
          </a:ln>
        </p:spPr>
      </p:sp>
      <p:sp>
        <p:nvSpPr>
          <p:cNvPr id="34" name="Shape 32"/>
          <p:cNvSpPr/>
          <p:nvPr/>
        </p:nvSpPr>
        <p:spPr>
          <a:xfrm>
            <a:off x="6949440" y="4114800"/>
            <a:ext cx="1645920" cy="822960"/>
          </a:xfrm>
          <a:prstGeom prst="rect">
            <a:avLst/>
          </a:prstGeom>
          <a:solidFill>
            <a:srgbClr val="0F2040"/>
          </a:solidFill>
          <a:ln w="12700">
            <a:solidFill>
              <a:srgbClr val="028090"/>
            </a:solidFill>
            <a:prstDash val="solid"/>
          </a:ln>
        </p:spPr>
      </p:sp>
      <p:sp>
        <p:nvSpPr>
          <p:cNvPr id="35" name="Text 33"/>
          <p:cNvSpPr/>
          <p:nvPr/>
        </p:nvSpPr>
        <p:spPr>
          <a:xfrm>
            <a:off x="6949440" y="4114800"/>
            <a:ext cx="1645920" cy="347472"/>
          </a:xfrm>
          <a:prstGeom prst="rect">
            <a:avLst/>
          </a:prstGeom>
          <a:noFill/>
          <a:ln/>
        </p:spPr>
        <p:txBody>
          <a:bodyPr wrap="square"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BRIDGE</a:t>
            </a:r>
            <a:endParaRPr lang="en-US" sz="900" dirty="0"/>
          </a:p>
          <a:p>
            <a:pPr algn="ctr" indent="0" marL="0">
              <a:buNone/>
            </a:pPr>
            <a:r>
              <a:rPr lang="en-US" sz="900" b="1" dirty="0">
                <a:solidFill>
                  <a:srgbClr val="00A896"/>
                </a:solidFill>
                <a:latin typeface="Calibri" pitchFamily="34" charset="0"/>
                <a:ea typeface="Calibri" pitchFamily="34" charset="-122"/>
                <a:cs typeface="Calibri" pitchFamily="34" charset="-120"/>
              </a:rPr>
              <a:t>drug</a:t>
            </a:r>
            <a:endParaRPr lang="en-US" sz="900" dirty="0"/>
          </a:p>
        </p:txBody>
      </p:sp>
      <p:sp>
        <p:nvSpPr>
          <p:cNvPr id="36" name="Shape 34"/>
          <p:cNvSpPr/>
          <p:nvPr/>
        </p:nvSpPr>
        <p:spPr>
          <a:xfrm>
            <a:off x="6949440" y="4453128"/>
            <a:ext cx="1645920" cy="9144"/>
          </a:xfrm>
          <a:prstGeom prst="rect">
            <a:avLst/>
          </a:prstGeom>
          <a:solidFill>
            <a:srgbClr val="028090"/>
          </a:solidFill>
          <a:ln w="12700">
            <a:solidFill>
              <a:srgbClr val="028090"/>
            </a:solidFill>
            <a:prstDash val="solid"/>
          </a:ln>
        </p:spPr>
      </p:sp>
      <p:sp>
        <p:nvSpPr>
          <p:cNvPr id="37" name="Text 35"/>
          <p:cNvSpPr/>
          <p:nvPr/>
        </p:nvSpPr>
        <p:spPr>
          <a:xfrm>
            <a:off x="6995160" y="4498848"/>
            <a:ext cx="1554480" cy="402336"/>
          </a:xfrm>
          <a:prstGeom prst="rect">
            <a:avLst/>
          </a:prstGeom>
          <a:noFill/>
          <a:ln/>
        </p:spPr>
        <p:txBody>
          <a:bodyPr wrap="square" rtlCol="0" anchor="ctr"/>
          <a:lstStyle/>
          <a:p>
            <a:pPr indent="0" marL="0">
              <a:buNone/>
            </a:pPr>
            <a:r>
              <a:rPr lang="en-US" sz="750" dirty="0">
                <a:solidFill>
                  <a:srgbClr val="8BAFC8"/>
                </a:solidFill>
                <a:latin typeface="Calibri" pitchFamily="34" charset="0"/>
                <a:ea typeface="Calibri" pitchFamily="34" charset="-122"/>
                <a:cs typeface="Calibri" pitchFamily="34" charset="-120"/>
              </a:rPr>
              <a:t>fact_id → drug_id</a:t>
            </a:r>
            <a:endParaRPr lang="en-US" sz="750" dirty="0"/>
          </a:p>
          <a:p>
            <a:pPr indent="0" marL="0">
              <a:buNone/>
            </a:pPr>
            <a:r>
              <a:rPr lang="en-US" sz="750" dirty="0">
                <a:solidFill>
                  <a:srgbClr val="8BAFC8"/>
                </a:solidFill>
                <a:latin typeface="Calibri" pitchFamily="34" charset="0"/>
                <a:ea typeface="Calibri" pitchFamily="34" charset="-122"/>
                <a:cs typeface="Calibri" pitchFamily="34" charset="-120"/>
              </a:rPr>
              <a:t>many-to-many</a:t>
            </a:r>
            <a:endParaRPr lang="en-US" sz="750" dirty="0"/>
          </a:p>
        </p:txBody>
      </p:sp>
      <p:sp>
        <p:nvSpPr>
          <p:cNvPr id="38" name="Shape 36"/>
          <p:cNvSpPr/>
          <p:nvPr/>
        </p:nvSpPr>
        <p:spPr>
          <a:xfrm>
            <a:off x="5486400" y="4526280"/>
            <a:ext cx="1463040" cy="0"/>
          </a:xfrm>
          <a:prstGeom prst="line">
            <a:avLst/>
          </a:prstGeom>
          <a:noFill/>
          <a:ln w="12700">
            <a:solidFill>
              <a:srgbClr val="028090"/>
            </a:solidFill>
            <a:prstDash val="dash"/>
          </a:ln>
        </p:spPr>
      </p:sp>
      <p:sp>
        <p:nvSpPr>
          <p:cNvPr id="39" name="Shape 37"/>
          <p:cNvSpPr/>
          <p:nvPr/>
        </p:nvSpPr>
        <p:spPr>
          <a:xfrm>
            <a:off x="3337560" y="3429000"/>
            <a:ext cx="2468880" cy="1234440"/>
          </a:xfrm>
          <a:prstGeom prst="rect">
            <a:avLst/>
          </a:prstGeom>
          <a:solidFill>
            <a:srgbClr val="0F2040"/>
          </a:solidFill>
          <a:ln w="12700">
            <a:solidFill>
              <a:srgbClr val="028090"/>
            </a:solidFill>
            <a:prstDash val="solid"/>
          </a:ln>
        </p:spPr>
      </p:sp>
      <p:sp>
        <p:nvSpPr>
          <p:cNvPr id="40" name="Text 38"/>
          <p:cNvSpPr/>
          <p:nvPr/>
        </p:nvSpPr>
        <p:spPr>
          <a:xfrm>
            <a:off x="3429000" y="3493008"/>
            <a:ext cx="2286000" cy="1097280"/>
          </a:xfrm>
          <a:prstGeom prst="rect">
            <a:avLst/>
          </a:prstGeom>
          <a:noFill/>
          <a:ln/>
        </p:spPr>
        <p:txBody>
          <a:bodyPr wrap="square" rtlCol="0" anchor="ctr"/>
          <a:lstStyle/>
          <a:p>
            <a:pPr indent="0" marL="0">
              <a:buNone/>
            </a:pPr>
            <a:r>
              <a:rPr lang="en-US" sz="800" dirty="0">
                <a:solidFill>
                  <a:srgbClr val="8BAFC8"/>
                </a:solidFill>
                <a:latin typeface="Calibri" pitchFamily="34" charset="0"/>
                <a:ea typeface="Calibri" pitchFamily="34" charset="-122"/>
                <a:cs typeface="Calibri" pitchFamily="34" charset="-120"/>
              </a:rPr>
              <a:t>fact fields: cohort · concurrent_opioid</a:t>
            </a:r>
            <a:endParaRPr lang="en-US" sz="800" dirty="0"/>
          </a:p>
          <a:p>
            <a:pPr indent="0" marL="0">
              <a:buNone/>
            </a:pPr>
            <a:r>
              <a:rPr lang="en-US" sz="800" dirty="0">
                <a:solidFill>
                  <a:srgbClr val="8BAFC8"/>
                </a:solidFill>
                <a:latin typeface="Calibri" pitchFamily="34" charset="0"/>
                <a:ea typeface="Calibri" pitchFamily="34" charset="-122"/>
                <a:cs typeface="Calibri" pitchFamily="34" charset="-120"/>
              </a:rPr>
              <a:t>polypharmacy_count · glp1_drug</a:t>
            </a:r>
            <a:endParaRPr lang="en-US" sz="800" dirty="0"/>
          </a:p>
          <a:p>
            <a:pPr indent="0" marL="0">
              <a:buNone/>
            </a:pPr>
            <a:r>
              <a:rPr lang="en-US" sz="800" dirty="0">
                <a:solidFill>
                  <a:srgbClr val="8BAFC8"/>
                </a:solidFill>
                <a:latin typeface="Calibri" pitchFamily="34" charset="0"/>
                <a:ea typeface="Calibri" pitchFamily="34" charset="-122"/>
                <a:cs typeface="Calibri" pitchFamily="34" charset="-120"/>
              </a:rPr>
              <a:t>time_to_onset_days · patient_id</a:t>
            </a:r>
            <a:endParaRPr lang="en-US" sz="800" dirty="0"/>
          </a:p>
          <a:p>
            <a:pPr indent="0" marL="0">
              <a:buNone/>
            </a:pPr>
            <a:r>
              <a:rPr lang="en-US" sz="800" dirty="0">
                <a:solidFill>
                  <a:srgbClr val="8BAFC8"/>
                </a:solidFill>
                <a:latin typeface="Calibri" pitchFamily="34" charset="0"/>
                <a:ea typeface="Calibri" pitchFamily="34" charset="-122"/>
                <a:cs typeface="Calibri" pitchFamily="34" charset="-120"/>
              </a:rPr>
              <a:t>time_id · outcome_id</a:t>
            </a:r>
            <a:endParaRPr lang="en-US" sz="800" dirty="0"/>
          </a:p>
        </p:txBody>
      </p:sp>
      <p:sp>
        <p:nvSpPr>
          <p:cNvPr id="41" name="Text 39"/>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6 / 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ETL Pipeline Architecture</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From raw FDA ZIP files to analysis-ready fact tables</a:t>
            </a:r>
            <a:endParaRPr lang="en-US" sz="1300" dirty="0"/>
          </a:p>
        </p:txBody>
      </p:sp>
      <p:sp>
        <p:nvSpPr>
          <p:cNvPr id="7" name="Shape 5"/>
          <p:cNvSpPr/>
          <p:nvPr/>
        </p:nvSpPr>
        <p:spPr>
          <a:xfrm>
            <a:off x="182880" y="1645920"/>
            <a:ext cx="1115568" cy="1554480"/>
          </a:xfrm>
          <a:prstGeom prst="rect">
            <a:avLst/>
          </a:prstGeom>
          <a:solidFill>
            <a:srgbClr val="0F2040"/>
          </a:solidFill>
          <a:ln w="12700">
            <a:solidFill>
              <a:srgbClr val="00A896"/>
            </a:solidFill>
            <a:prstDash val="solid"/>
          </a:ln>
        </p:spPr>
      </p:sp>
      <p:sp>
        <p:nvSpPr>
          <p:cNvPr id="8" name="Shape 6"/>
          <p:cNvSpPr/>
          <p:nvPr/>
        </p:nvSpPr>
        <p:spPr>
          <a:xfrm>
            <a:off x="182880" y="1645920"/>
            <a:ext cx="1115568" cy="320040"/>
          </a:xfrm>
          <a:prstGeom prst="rect">
            <a:avLst/>
          </a:prstGeom>
          <a:solidFill>
            <a:srgbClr val="00A896"/>
          </a:solidFill>
          <a:ln w="12700">
            <a:solidFill>
              <a:srgbClr val="00A896"/>
            </a:solidFill>
            <a:prstDash val="solid"/>
          </a:ln>
        </p:spPr>
      </p:sp>
      <p:sp>
        <p:nvSpPr>
          <p:cNvPr id="9" name="Text 7"/>
          <p:cNvSpPr/>
          <p:nvPr/>
        </p:nvSpPr>
        <p:spPr>
          <a:xfrm>
            <a:off x="182880"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INGESTION</a:t>
            </a:r>
            <a:endParaRPr lang="en-US" sz="800" dirty="0"/>
          </a:p>
        </p:txBody>
      </p:sp>
      <p:sp>
        <p:nvSpPr>
          <p:cNvPr id="10" name="Text 8"/>
          <p:cNvSpPr/>
          <p:nvPr/>
        </p:nvSpPr>
        <p:spPr>
          <a:xfrm>
            <a:off x="237744"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FAERS ASCII ZIPs</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(DEMO·DRUG·REAC</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OUTC·THER)</a:t>
            </a:r>
            <a:endParaRPr lang="en-US" sz="900" dirty="0"/>
          </a:p>
        </p:txBody>
      </p:sp>
      <p:sp>
        <p:nvSpPr>
          <p:cNvPr id="11" name="Shape 9"/>
          <p:cNvSpPr/>
          <p:nvPr/>
        </p:nvSpPr>
        <p:spPr>
          <a:xfrm>
            <a:off x="1298448" y="2423160"/>
            <a:ext cx="109728" cy="0"/>
          </a:xfrm>
          <a:prstGeom prst="line">
            <a:avLst/>
          </a:prstGeom>
          <a:noFill/>
          <a:ln w="25400">
            <a:solidFill>
              <a:srgbClr val="00A896"/>
            </a:solidFill>
            <a:prstDash val="solid"/>
          </a:ln>
        </p:spPr>
      </p:sp>
      <p:sp>
        <p:nvSpPr>
          <p:cNvPr id="12" name="Shape 10"/>
          <p:cNvSpPr/>
          <p:nvPr/>
        </p:nvSpPr>
        <p:spPr>
          <a:xfrm>
            <a:off x="1408176" y="1645920"/>
            <a:ext cx="1115568" cy="1554480"/>
          </a:xfrm>
          <a:prstGeom prst="rect">
            <a:avLst/>
          </a:prstGeom>
          <a:solidFill>
            <a:srgbClr val="0F2040"/>
          </a:solidFill>
          <a:ln w="12700">
            <a:solidFill>
              <a:srgbClr val="02C39A"/>
            </a:solidFill>
            <a:prstDash val="solid"/>
          </a:ln>
        </p:spPr>
      </p:sp>
      <p:sp>
        <p:nvSpPr>
          <p:cNvPr id="13" name="Shape 11"/>
          <p:cNvSpPr/>
          <p:nvPr/>
        </p:nvSpPr>
        <p:spPr>
          <a:xfrm>
            <a:off x="1408176" y="1645920"/>
            <a:ext cx="1115568" cy="320040"/>
          </a:xfrm>
          <a:prstGeom prst="rect">
            <a:avLst/>
          </a:prstGeom>
          <a:solidFill>
            <a:srgbClr val="02C39A"/>
          </a:solidFill>
          <a:ln w="12700">
            <a:solidFill>
              <a:srgbClr val="02C39A"/>
            </a:solidFill>
            <a:prstDash val="solid"/>
          </a:ln>
        </p:spPr>
      </p:sp>
      <p:sp>
        <p:nvSpPr>
          <p:cNvPr id="14" name="Text 12"/>
          <p:cNvSpPr/>
          <p:nvPr/>
        </p:nvSpPr>
        <p:spPr>
          <a:xfrm>
            <a:off x="1408176"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NORMALIZE</a:t>
            </a:r>
            <a:endParaRPr lang="en-US" sz="800" dirty="0"/>
          </a:p>
        </p:txBody>
      </p:sp>
      <p:sp>
        <p:nvSpPr>
          <p:cNvPr id="15" name="Text 13"/>
          <p:cNvSpPr/>
          <p:nvPr/>
        </p:nvSpPr>
        <p:spPr>
          <a:xfrm>
            <a:off x="1463040"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primaryid/caseid</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to string type</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Standardize dates</a:t>
            </a:r>
            <a:endParaRPr lang="en-US" sz="900" dirty="0"/>
          </a:p>
        </p:txBody>
      </p:sp>
      <p:sp>
        <p:nvSpPr>
          <p:cNvPr id="16" name="Shape 14"/>
          <p:cNvSpPr/>
          <p:nvPr/>
        </p:nvSpPr>
        <p:spPr>
          <a:xfrm>
            <a:off x="2523744" y="2423160"/>
            <a:ext cx="109728" cy="0"/>
          </a:xfrm>
          <a:prstGeom prst="line">
            <a:avLst/>
          </a:prstGeom>
          <a:noFill/>
          <a:ln w="25400">
            <a:solidFill>
              <a:srgbClr val="00A896"/>
            </a:solidFill>
            <a:prstDash val="solid"/>
          </a:ln>
        </p:spPr>
      </p:sp>
      <p:sp>
        <p:nvSpPr>
          <p:cNvPr id="17" name="Shape 15"/>
          <p:cNvSpPr/>
          <p:nvPr/>
        </p:nvSpPr>
        <p:spPr>
          <a:xfrm>
            <a:off x="2633472" y="1645920"/>
            <a:ext cx="1115568" cy="1554480"/>
          </a:xfrm>
          <a:prstGeom prst="rect">
            <a:avLst/>
          </a:prstGeom>
          <a:solidFill>
            <a:srgbClr val="0F2040"/>
          </a:solidFill>
          <a:ln w="12700">
            <a:solidFill>
              <a:srgbClr val="00A896"/>
            </a:solidFill>
            <a:prstDash val="solid"/>
          </a:ln>
        </p:spPr>
      </p:sp>
      <p:sp>
        <p:nvSpPr>
          <p:cNvPr id="18" name="Shape 16"/>
          <p:cNvSpPr/>
          <p:nvPr/>
        </p:nvSpPr>
        <p:spPr>
          <a:xfrm>
            <a:off x="2633472" y="1645920"/>
            <a:ext cx="1115568" cy="320040"/>
          </a:xfrm>
          <a:prstGeom prst="rect">
            <a:avLst/>
          </a:prstGeom>
          <a:solidFill>
            <a:srgbClr val="00A896"/>
          </a:solidFill>
          <a:ln w="12700">
            <a:solidFill>
              <a:srgbClr val="00A896"/>
            </a:solidFill>
            <a:prstDash val="solid"/>
          </a:ln>
        </p:spPr>
      </p:sp>
      <p:sp>
        <p:nvSpPr>
          <p:cNvPr id="19" name="Text 17"/>
          <p:cNvSpPr/>
          <p:nvPr/>
        </p:nvSpPr>
        <p:spPr>
          <a:xfrm>
            <a:off x="2633472"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DEDUP</a:t>
            </a:r>
            <a:endParaRPr lang="en-US" sz="800" dirty="0"/>
          </a:p>
          <a:p>
            <a:pPr algn="ctr" indent="0" marL="0">
              <a:buNone/>
            </a:pPr>
            <a:r>
              <a:rPr lang="en-US" sz="800" b="1" dirty="0">
                <a:solidFill>
                  <a:srgbClr val="0A1628"/>
                </a:solidFill>
                <a:latin typeface="Calibri" pitchFamily="34" charset="0"/>
                <a:ea typeface="Calibri" pitchFamily="34" charset="-122"/>
                <a:cs typeface="Calibri" pitchFamily="34" charset="-120"/>
              </a:rPr>
              <a:t>(per-quarter)</a:t>
            </a:r>
            <a:endParaRPr lang="en-US" sz="800" dirty="0"/>
          </a:p>
        </p:txBody>
      </p:sp>
      <p:sp>
        <p:nvSpPr>
          <p:cNvPr id="20" name="Text 18"/>
          <p:cNvSpPr/>
          <p:nvPr/>
        </p:nvSpPr>
        <p:spPr>
          <a:xfrm>
            <a:off x="2688336"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Keep latest</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caseversion per</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caseid+quarter</a:t>
            </a:r>
            <a:endParaRPr lang="en-US" sz="900" dirty="0"/>
          </a:p>
        </p:txBody>
      </p:sp>
      <p:sp>
        <p:nvSpPr>
          <p:cNvPr id="21" name="Shape 19"/>
          <p:cNvSpPr/>
          <p:nvPr/>
        </p:nvSpPr>
        <p:spPr>
          <a:xfrm>
            <a:off x="3749040" y="2423160"/>
            <a:ext cx="109728" cy="0"/>
          </a:xfrm>
          <a:prstGeom prst="line">
            <a:avLst/>
          </a:prstGeom>
          <a:noFill/>
          <a:ln w="25400">
            <a:solidFill>
              <a:srgbClr val="00A896"/>
            </a:solidFill>
            <a:prstDash val="solid"/>
          </a:ln>
        </p:spPr>
      </p:sp>
      <p:sp>
        <p:nvSpPr>
          <p:cNvPr id="22" name="Shape 20"/>
          <p:cNvSpPr/>
          <p:nvPr/>
        </p:nvSpPr>
        <p:spPr>
          <a:xfrm>
            <a:off x="3858768" y="1645920"/>
            <a:ext cx="1115568" cy="1554480"/>
          </a:xfrm>
          <a:prstGeom prst="rect">
            <a:avLst/>
          </a:prstGeom>
          <a:solidFill>
            <a:srgbClr val="0F2040"/>
          </a:solidFill>
          <a:ln w="12700">
            <a:solidFill>
              <a:srgbClr val="02C39A"/>
            </a:solidFill>
            <a:prstDash val="solid"/>
          </a:ln>
        </p:spPr>
      </p:sp>
      <p:sp>
        <p:nvSpPr>
          <p:cNvPr id="23" name="Shape 21"/>
          <p:cNvSpPr/>
          <p:nvPr/>
        </p:nvSpPr>
        <p:spPr>
          <a:xfrm>
            <a:off x="3858768" y="1645920"/>
            <a:ext cx="1115568" cy="320040"/>
          </a:xfrm>
          <a:prstGeom prst="rect">
            <a:avLst/>
          </a:prstGeom>
          <a:solidFill>
            <a:srgbClr val="02C39A"/>
          </a:solidFill>
          <a:ln w="12700">
            <a:solidFill>
              <a:srgbClr val="02C39A"/>
            </a:solidFill>
            <a:prstDash val="solid"/>
          </a:ln>
        </p:spPr>
      </p:sp>
      <p:sp>
        <p:nvSpPr>
          <p:cNvPr id="24" name="Text 22"/>
          <p:cNvSpPr/>
          <p:nvPr/>
        </p:nvSpPr>
        <p:spPr>
          <a:xfrm>
            <a:off x="3858768"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TAG &amp; FILTER</a:t>
            </a:r>
            <a:endParaRPr lang="en-US" sz="800" dirty="0"/>
          </a:p>
        </p:txBody>
      </p:sp>
      <p:sp>
        <p:nvSpPr>
          <p:cNvPr id="25" name="Text 23"/>
          <p:cNvSpPr/>
          <p:nvPr/>
        </p:nvSpPr>
        <p:spPr>
          <a:xfrm>
            <a:off x="3913632"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GLP-1 vs control</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substring match</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GI MedDRA PTs</a:t>
            </a:r>
            <a:endParaRPr lang="en-US" sz="900" dirty="0"/>
          </a:p>
        </p:txBody>
      </p:sp>
      <p:sp>
        <p:nvSpPr>
          <p:cNvPr id="26" name="Shape 24"/>
          <p:cNvSpPr/>
          <p:nvPr/>
        </p:nvSpPr>
        <p:spPr>
          <a:xfrm>
            <a:off x="4974336" y="2423160"/>
            <a:ext cx="109728" cy="0"/>
          </a:xfrm>
          <a:prstGeom prst="line">
            <a:avLst/>
          </a:prstGeom>
          <a:noFill/>
          <a:ln w="25400">
            <a:solidFill>
              <a:srgbClr val="00A896"/>
            </a:solidFill>
            <a:prstDash val="solid"/>
          </a:ln>
        </p:spPr>
      </p:sp>
      <p:sp>
        <p:nvSpPr>
          <p:cNvPr id="27" name="Shape 25"/>
          <p:cNvSpPr/>
          <p:nvPr/>
        </p:nvSpPr>
        <p:spPr>
          <a:xfrm>
            <a:off x="5084064" y="1645920"/>
            <a:ext cx="1115568" cy="1554480"/>
          </a:xfrm>
          <a:prstGeom prst="rect">
            <a:avLst/>
          </a:prstGeom>
          <a:solidFill>
            <a:srgbClr val="0F2040"/>
          </a:solidFill>
          <a:ln w="12700">
            <a:solidFill>
              <a:srgbClr val="FF6B35"/>
            </a:solidFill>
            <a:prstDash val="solid"/>
          </a:ln>
        </p:spPr>
      </p:sp>
      <p:sp>
        <p:nvSpPr>
          <p:cNvPr id="28" name="Shape 26"/>
          <p:cNvSpPr/>
          <p:nvPr/>
        </p:nvSpPr>
        <p:spPr>
          <a:xfrm>
            <a:off x="5084064" y="1645920"/>
            <a:ext cx="1115568" cy="320040"/>
          </a:xfrm>
          <a:prstGeom prst="rect">
            <a:avLst/>
          </a:prstGeom>
          <a:solidFill>
            <a:srgbClr val="FF6B35"/>
          </a:solidFill>
          <a:ln w="12700">
            <a:solidFill>
              <a:srgbClr val="FF6B35"/>
            </a:solidFill>
            <a:prstDash val="solid"/>
          </a:ln>
        </p:spPr>
      </p:sp>
      <p:sp>
        <p:nvSpPr>
          <p:cNvPr id="29" name="Text 27"/>
          <p:cNvSpPr/>
          <p:nvPr/>
        </p:nvSpPr>
        <p:spPr>
          <a:xfrm>
            <a:off x="5084064"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GLOBAL DEDUP</a:t>
            </a:r>
            <a:endParaRPr lang="en-US" sz="800" dirty="0"/>
          </a:p>
        </p:txBody>
      </p:sp>
      <p:sp>
        <p:nvSpPr>
          <p:cNvPr id="30" name="Text 28"/>
          <p:cNvSpPr/>
          <p:nvPr/>
        </p:nvSpPr>
        <p:spPr>
          <a:xfrm>
            <a:off x="5138928"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Across 13 qtrs</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Keep latest fda_dt</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per caseid</a:t>
            </a:r>
            <a:endParaRPr lang="en-US" sz="900" dirty="0"/>
          </a:p>
        </p:txBody>
      </p:sp>
      <p:sp>
        <p:nvSpPr>
          <p:cNvPr id="31" name="Shape 29"/>
          <p:cNvSpPr/>
          <p:nvPr/>
        </p:nvSpPr>
        <p:spPr>
          <a:xfrm>
            <a:off x="6199632" y="2423160"/>
            <a:ext cx="109728" cy="0"/>
          </a:xfrm>
          <a:prstGeom prst="line">
            <a:avLst/>
          </a:prstGeom>
          <a:noFill/>
          <a:ln w="25400">
            <a:solidFill>
              <a:srgbClr val="00A896"/>
            </a:solidFill>
            <a:prstDash val="solid"/>
          </a:ln>
        </p:spPr>
      </p:sp>
      <p:sp>
        <p:nvSpPr>
          <p:cNvPr id="32" name="Shape 30"/>
          <p:cNvSpPr/>
          <p:nvPr/>
        </p:nvSpPr>
        <p:spPr>
          <a:xfrm>
            <a:off x="6309360" y="1645920"/>
            <a:ext cx="1115568" cy="1554480"/>
          </a:xfrm>
          <a:prstGeom prst="rect">
            <a:avLst/>
          </a:prstGeom>
          <a:solidFill>
            <a:srgbClr val="0F2040"/>
          </a:solidFill>
          <a:ln w="12700">
            <a:solidFill>
              <a:srgbClr val="FF8C5A"/>
            </a:solidFill>
            <a:prstDash val="solid"/>
          </a:ln>
        </p:spPr>
      </p:sp>
      <p:sp>
        <p:nvSpPr>
          <p:cNvPr id="33" name="Shape 31"/>
          <p:cNvSpPr/>
          <p:nvPr/>
        </p:nvSpPr>
        <p:spPr>
          <a:xfrm>
            <a:off x="6309360" y="1645920"/>
            <a:ext cx="1115568" cy="320040"/>
          </a:xfrm>
          <a:prstGeom prst="rect">
            <a:avLst/>
          </a:prstGeom>
          <a:solidFill>
            <a:srgbClr val="FF8C5A"/>
          </a:solidFill>
          <a:ln w="12700">
            <a:solidFill>
              <a:srgbClr val="FF8C5A"/>
            </a:solidFill>
            <a:prstDash val="solid"/>
          </a:ln>
        </p:spPr>
      </p:sp>
      <p:sp>
        <p:nvSpPr>
          <p:cNvPr id="34" name="Text 32"/>
          <p:cNvSpPr/>
          <p:nvPr/>
        </p:nvSpPr>
        <p:spPr>
          <a:xfrm>
            <a:off x="6309360"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FEATURE ENG.</a:t>
            </a:r>
            <a:endParaRPr lang="en-US" sz="800" dirty="0"/>
          </a:p>
        </p:txBody>
      </p:sp>
      <p:sp>
        <p:nvSpPr>
          <p:cNvPr id="35" name="Text 33"/>
          <p:cNvSpPr/>
          <p:nvPr/>
        </p:nvSpPr>
        <p:spPr>
          <a:xfrm>
            <a:off x="6364224"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Polypharmacy count</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log_poly · opioid flag</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age×wt interaction</a:t>
            </a:r>
            <a:endParaRPr lang="en-US" sz="900" dirty="0"/>
          </a:p>
        </p:txBody>
      </p:sp>
      <p:sp>
        <p:nvSpPr>
          <p:cNvPr id="36" name="Shape 34"/>
          <p:cNvSpPr/>
          <p:nvPr/>
        </p:nvSpPr>
        <p:spPr>
          <a:xfrm>
            <a:off x="7424928" y="2423160"/>
            <a:ext cx="109728" cy="0"/>
          </a:xfrm>
          <a:prstGeom prst="line">
            <a:avLst/>
          </a:prstGeom>
          <a:noFill/>
          <a:ln w="25400">
            <a:solidFill>
              <a:srgbClr val="00A896"/>
            </a:solidFill>
            <a:prstDash val="solid"/>
          </a:ln>
        </p:spPr>
      </p:sp>
      <p:sp>
        <p:nvSpPr>
          <p:cNvPr id="37" name="Shape 35"/>
          <p:cNvSpPr/>
          <p:nvPr/>
        </p:nvSpPr>
        <p:spPr>
          <a:xfrm>
            <a:off x="7534656" y="1645920"/>
            <a:ext cx="1115568" cy="1554480"/>
          </a:xfrm>
          <a:prstGeom prst="rect">
            <a:avLst/>
          </a:prstGeom>
          <a:solidFill>
            <a:srgbClr val="0F2040"/>
          </a:solidFill>
          <a:ln w="12700">
            <a:solidFill>
              <a:srgbClr val="06D6A0"/>
            </a:solidFill>
            <a:prstDash val="solid"/>
          </a:ln>
        </p:spPr>
      </p:sp>
      <p:sp>
        <p:nvSpPr>
          <p:cNvPr id="38" name="Shape 36"/>
          <p:cNvSpPr/>
          <p:nvPr/>
        </p:nvSpPr>
        <p:spPr>
          <a:xfrm>
            <a:off x="7534656" y="1645920"/>
            <a:ext cx="1115568" cy="320040"/>
          </a:xfrm>
          <a:prstGeom prst="rect">
            <a:avLst/>
          </a:prstGeom>
          <a:solidFill>
            <a:srgbClr val="06D6A0"/>
          </a:solidFill>
          <a:ln w="12700">
            <a:solidFill>
              <a:srgbClr val="06D6A0"/>
            </a:solidFill>
            <a:prstDash val="solid"/>
          </a:ln>
        </p:spPr>
      </p:sp>
      <p:sp>
        <p:nvSpPr>
          <p:cNvPr id="39" name="Text 37"/>
          <p:cNvSpPr/>
          <p:nvPr/>
        </p:nvSpPr>
        <p:spPr>
          <a:xfrm>
            <a:off x="7534656" y="1645920"/>
            <a:ext cx="1115568" cy="320040"/>
          </a:xfrm>
          <a:prstGeom prst="rect">
            <a:avLst/>
          </a:prstGeom>
          <a:no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OUTPUT</a:t>
            </a:r>
            <a:endParaRPr lang="en-US" sz="800" dirty="0"/>
          </a:p>
        </p:txBody>
      </p:sp>
      <p:sp>
        <p:nvSpPr>
          <p:cNvPr id="40" name="Text 38"/>
          <p:cNvSpPr/>
          <p:nvPr/>
        </p:nvSpPr>
        <p:spPr>
          <a:xfrm>
            <a:off x="7589520" y="2029968"/>
            <a:ext cx="1005840" cy="1051560"/>
          </a:xfrm>
          <a:prstGeom prst="rect">
            <a:avLst/>
          </a:prstGeom>
          <a:noFill/>
          <a:ln/>
        </p:spPr>
        <p:txBody>
          <a:bodyPr wrap="square"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fact_adverse</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_event.csv</a:t>
            </a:r>
            <a:endParaRPr lang="en-US" sz="900" dirty="0"/>
          </a:p>
          <a:p>
            <a:pPr algn="ctr" indent="0" marL="0">
              <a:buNone/>
            </a:pPr>
            <a:r>
              <a:rPr lang="en-US" sz="900" dirty="0">
                <a:solidFill>
                  <a:srgbClr val="E8F4F8"/>
                </a:solidFill>
                <a:latin typeface="Calibri" pitchFamily="34" charset="0"/>
                <a:ea typeface="Calibri" pitchFamily="34" charset="-122"/>
                <a:cs typeface="Calibri" pitchFamily="34" charset="-120"/>
              </a:rPr>
              <a:t>367,883 rows</a:t>
            </a:r>
            <a:endParaRPr lang="en-US" sz="900" dirty="0"/>
          </a:p>
        </p:txBody>
      </p:sp>
      <p:sp>
        <p:nvSpPr>
          <p:cNvPr id="41" name="Shape 39"/>
          <p:cNvSpPr/>
          <p:nvPr/>
        </p:nvSpPr>
        <p:spPr>
          <a:xfrm>
            <a:off x="228600" y="3401568"/>
            <a:ext cx="8686800" cy="1417320"/>
          </a:xfrm>
          <a:prstGeom prst="rect">
            <a:avLst/>
          </a:prstGeom>
          <a:solidFill>
            <a:srgbClr val="0F2040"/>
          </a:solidFill>
          <a:ln w="12700">
            <a:solidFill>
              <a:srgbClr val="028090"/>
            </a:solidFill>
            <a:prstDash val="solid"/>
          </a:ln>
        </p:spPr>
      </p:sp>
      <p:sp>
        <p:nvSpPr>
          <p:cNvPr id="42" name="Text 40"/>
          <p:cNvSpPr/>
          <p:nvPr/>
        </p:nvSpPr>
        <p:spPr>
          <a:xfrm>
            <a:off x="365760" y="3493008"/>
            <a:ext cx="8229600" cy="228600"/>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KEY ENGINEERING DECISIONS</a:t>
            </a:r>
            <a:endParaRPr lang="en-US" sz="900" dirty="0"/>
          </a:p>
        </p:txBody>
      </p:sp>
      <p:sp>
        <p:nvSpPr>
          <p:cNvPr id="43" name="Shape 41"/>
          <p:cNvSpPr/>
          <p:nvPr/>
        </p:nvSpPr>
        <p:spPr>
          <a:xfrm>
            <a:off x="365760" y="3785616"/>
            <a:ext cx="91440" cy="91440"/>
          </a:xfrm>
          <a:prstGeom prst="ellipse">
            <a:avLst/>
          </a:prstGeom>
          <a:solidFill>
            <a:srgbClr val="02C39A"/>
          </a:solidFill>
          <a:ln w="12700">
            <a:solidFill>
              <a:srgbClr val="02C39A"/>
            </a:solidFill>
            <a:prstDash val="solid"/>
          </a:ln>
        </p:spPr>
      </p:sp>
      <p:sp>
        <p:nvSpPr>
          <p:cNvPr id="44" name="Text 42"/>
          <p:cNvSpPr/>
          <p:nvPr/>
        </p:nvSpPr>
        <p:spPr>
          <a:xfrm>
            <a:off x="512064" y="3739896"/>
            <a:ext cx="8321040" cy="219456"/>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Drug matching: case-insensitive substring on prod_ai field (favors recall over precision)</a:t>
            </a:r>
            <a:endParaRPr lang="en-US" sz="950" dirty="0"/>
          </a:p>
        </p:txBody>
      </p:sp>
      <p:sp>
        <p:nvSpPr>
          <p:cNvPr id="45" name="Shape 43"/>
          <p:cNvSpPr/>
          <p:nvPr/>
        </p:nvSpPr>
        <p:spPr>
          <a:xfrm>
            <a:off x="365760" y="4032504"/>
            <a:ext cx="91440" cy="91440"/>
          </a:xfrm>
          <a:prstGeom prst="ellipse">
            <a:avLst/>
          </a:prstGeom>
          <a:solidFill>
            <a:srgbClr val="02C39A"/>
          </a:solidFill>
          <a:ln w="12700">
            <a:solidFill>
              <a:srgbClr val="02C39A"/>
            </a:solidFill>
            <a:prstDash val="solid"/>
          </a:ln>
        </p:spPr>
      </p:sp>
      <p:sp>
        <p:nvSpPr>
          <p:cNvPr id="46" name="Text 44"/>
          <p:cNvSpPr/>
          <p:nvPr/>
        </p:nvSpPr>
        <p:spPr>
          <a:xfrm>
            <a:off x="512064" y="3986784"/>
            <a:ext cx="8321040" cy="219456"/>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GI mapping: conservative MedDRA PT list to reduce background noise in PRR denominator</a:t>
            </a:r>
            <a:endParaRPr lang="en-US" sz="950" dirty="0"/>
          </a:p>
        </p:txBody>
      </p:sp>
      <p:sp>
        <p:nvSpPr>
          <p:cNvPr id="47" name="Shape 45"/>
          <p:cNvSpPr/>
          <p:nvPr/>
        </p:nvSpPr>
        <p:spPr>
          <a:xfrm>
            <a:off x="365760" y="4279392"/>
            <a:ext cx="91440" cy="91440"/>
          </a:xfrm>
          <a:prstGeom prst="ellipse">
            <a:avLst/>
          </a:prstGeom>
          <a:solidFill>
            <a:srgbClr val="02C39A"/>
          </a:solidFill>
          <a:ln w="12700">
            <a:solidFill>
              <a:srgbClr val="02C39A"/>
            </a:solidFill>
            <a:prstDash val="solid"/>
          </a:ln>
        </p:spPr>
      </p:sp>
      <p:sp>
        <p:nvSpPr>
          <p:cNvPr id="48" name="Text 46"/>
          <p:cNvSpPr/>
          <p:nvPr/>
        </p:nvSpPr>
        <p:spPr>
          <a:xfrm>
            <a:off x="512064" y="4233672"/>
            <a:ext cx="8321040" cy="219456"/>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TTO bounds: 0–730 days to eliminate implausible therapy-to-event intervals</a:t>
            </a:r>
            <a:endParaRPr lang="en-US" sz="950" dirty="0"/>
          </a:p>
        </p:txBody>
      </p:sp>
      <p:sp>
        <p:nvSpPr>
          <p:cNvPr id="49" name="Shape 47"/>
          <p:cNvSpPr/>
          <p:nvPr/>
        </p:nvSpPr>
        <p:spPr>
          <a:xfrm>
            <a:off x="365760" y="4526280"/>
            <a:ext cx="91440" cy="91440"/>
          </a:xfrm>
          <a:prstGeom prst="ellipse">
            <a:avLst/>
          </a:prstGeom>
          <a:solidFill>
            <a:srgbClr val="02C39A"/>
          </a:solidFill>
          <a:ln w="12700">
            <a:solidFill>
              <a:srgbClr val="02C39A"/>
            </a:solidFill>
            <a:prstDash val="solid"/>
          </a:ln>
        </p:spPr>
      </p:sp>
      <p:sp>
        <p:nvSpPr>
          <p:cNvPr id="50" name="Text 48"/>
          <p:cNvSpPr/>
          <p:nvPr/>
        </p:nvSpPr>
        <p:spPr>
          <a:xfrm>
            <a:off x="512064" y="4480560"/>
            <a:ext cx="8321040" cy="219456"/>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Median imputation: grouped by sex × cohort to preserve group medians</a:t>
            </a:r>
            <a:endParaRPr lang="en-US" sz="950" dirty="0"/>
          </a:p>
        </p:txBody>
      </p:sp>
      <p:sp>
        <p:nvSpPr>
          <p:cNvPr id="51" name="Text 49"/>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7 / 24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Cleaning &amp; Outlier Handling</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IQR-based outlier removal improved model stability and clustering quality</a:t>
            </a:r>
            <a:endParaRPr lang="en-US" sz="1300" dirty="0"/>
          </a:p>
        </p:txBody>
      </p:sp>
      <p:sp>
        <p:nvSpPr>
          <p:cNvPr id="7" name="Shape 5"/>
          <p:cNvSpPr/>
          <p:nvPr/>
        </p:nvSpPr>
        <p:spPr>
          <a:xfrm>
            <a:off x="228600" y="1463040"/>
            <a:ext cx="4023360" cy="2286000"/>
          </a:xfrm>
          <a:prstGeom prst="rect">
            <a:avLst/>
          </a:prstGeom>
          <a:solidFill>
            <a:srgbClr val="0F2040"/>
          </a:solidFill>
          <a:ln w="12700">
            <a:solidFill>
              <a:srgbClr val="EF476F"/>
            </a:solidFill>
            <a:prstDash val="solid"/>
          </a:ln>
        </p:spPr>
      </p:sp>
      <p:sp>
        <p:nvSpPr>
          <p:cNvPr id="8" name="Text 6"/>
          <p:cNvSpPr/>
          <p:nvPr/>
        </p:nvSpPr>
        <p:spPr>
          <a:xfrm>
            <a:off x="365760" y="1554480"/>
            <a:ext cx="3749040" cy="256032"/>
          </a:xfrm>
          <a:prstGeom prst="rect">
            <a:avLst/>
          </a:prstGeom>
          <a:noFill/>
          <a:ln/>
        </p:spPr>
        <p:txBody>
          <a:bodyPr wrap="square" rtlCol="0" anchor="ctr"/>
          <a:lstStyle/>
          <a:p>
            <a:pPr indent="0" marL="0">
              <a:buNone/>
            </a:pPr>
            <a:r>
              <a:rPr lang="en-US" sz="1000" b="1" spc="100" kern="0" dirty="0">
                <a:solidFill>
                  <a:srgbClr val="EF476F"/>
                </a:solidFill>
                <a:latin typeface="Calibri" pitchFamily="34" charset="0"/>
                <a:ea typeface="Calibri" pitchFamily="34" charset="-122"/>
                <a:cs typeface="Calibri" pitchFamily="34" charset="-120"/>
              </a:rPr>
              <a:t>BEFORE CLEANING</a:t>
            </a:r>
            <a:endParaRPr lang="en-US" sz="1000" dirty="0"/>
          </a:p>
        </p:txBody>
      </p:sp>
      <p:sp>
        <p:nvSpPr>
          <p:cNvPr id="9" name="Shape 7"/>
          <p:cNvSpPr/>
          <p:nvPr/>
        </p:nvSpPr>
        <p:spPr>
          <a:xfrm>
            <a:off x="384048" y="1883664"/>
            <a:ext cx="91440" cy="91440"/>
          </a:xfrm>
          <a:prstGeom prst="ellipse">
            <a:avLst/>
          </a:prstGeom>
          <a:solidFill>
            <a:srgbClr val="EF476F"/>
          </a:solidFill>
          <a:ln w="12700">
            <a:solidFill>
              <a:srgbClr val="EF476F"/>
            </a:solidFill>
            <a:prstDash val="solid"/>
          </a:ln>
        </p:spPr>
      </p:sp>
      <p:sp>
        <p:nvSpPr>
          <p:cNvPr id="10" name="Text 8"/>
          <p:cNvSpPr/>
          <p:nvPr/>
        </p:nvSpPr>
        <p:spPr>
          <a:xfrm>
            <a:off x="521208" y="1847088"/>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Weight range: &lt;1 kg → 500+ kg</a:t>
            </a:r>
            <a:endParaRPr lang="en-US" sz="1000" dirty="0"/>
          </a:p>
        </p:txBody>
      </p:sp>
      <p:sp>
        <p:nvSpPr>
          <p:cNvPr id="11" name="Shape 9"/>
          <p:cNvSpPr/>
          <p:nvPr/>
        </p:nvSpPr>
        <p:spPr>
          <a:xfrm>
            <a:off x="384048" y="2212848"/>
            <a:ext cx="91440" cy="91440"/>
          </a:xfrm>
          <a:prstGeom prst="ellipse">
            <a:avLst/>
          </a:prstGeom>
          <a:solidFill>
            <a:srgbClr val="EF476F"/>
          </a:solidFill>
          <a:ln w="12700">
            <a:solidFill>
              <a:srgbClr val="EF476F"/>
            </a:solidFill>
            <a:prstDash val="solid"/>
          </a:ln>
        </p:spPr>
      </p:sp>
      <p:sp>
        <p:nvSpPr>
          <p:cNvPr id="12" name="Text 10"/>
          <p:cNvSpPr/>
          <p:nvPr/>
        </p:nvSpPr>
        <p:spPr>
          <a:xfrm>
            <a:off x="521208" y="2176272"/>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8,232 weight outliers detected</a:t>
            </a:r>
            <a:endParaRPr lang="en-US" sz="1000" dirty="0"/>
          </a:p>
        </p:txBody>
      </p:sp>
      <p:sp>
        <p:nvSpPr>
          <p:cNvPr id="13" name="Shape 11"/>
          <p:cNvSpPr/>
          <p:nvPr/>
        </p:nvSpPr>
        <p:spPr>
          <a:xfrm>
            <a:off x="384048" y="2542032"/>
            <a:ext cx="91440" cy="91440"/>
          </a:xfrm>
          <a:prstGeom prst="ellipse">
            <a:avLst/>
          </a:prstGeom>
          <a:solidFill>
            <a:srgbClr val="EF476F"/>
          </a:solidFill>
          <a:ln w="12700">
            <a:solidFill>
              <a:srgbClr val="EF476F"/>
            </a:solidFill>
            <a:prstDash val="solid"/>
          </a:ln>
        </p:spPr>
      </p:sp>
      <p:sp>
        <p:nvSpPr>
          <p:cNvPr id="14" name="Text 12"/>
          <p:cNvSpPr/>
          <p:nvPr/>
        </p:nvSpPr>
        <p:spPr>
          <a:xfrm>
            <a:off x="521208" y="2505456"/>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Ages: 0 → 120+ years</a:t>
            </a:r>
            <a:endParaRPr lang="en-US" sz="1000" dirty="0"/>
          </a:p>
        </p:txBody>
      </p:sp>
      <p:sp>
        <p:nvSpPr>
          <p:cNvPr id="15" name="Shape 13"/>
          <p:cNvSpPr/>
          <p:nvPr/>
        </p:nvSpPr>
        <p:spPr>
          <a:xfrm>
            <a:off x="384048" y="2871216"/>
            <a:ext cx="91440" cy="91440"/>
          </a:xfrm>
          <a:prstGeom prst="ellipse">
            <a:avLst/>
          </a:prstGeom>
          <a:solidFill>
            <a:srgbClr val="EF476F"/>
          </a:solidFill>
          <a:ln w="12700">
            <a:solidFill>
              <a:srgbClr val="EF476F"/>
            </a:solidFill>
            <a:prstDash val="solid"/>
          </a:ln>
        </p:spPr>
      </p:sp>
      <p:sp>
        <p:nvSpPr>
          <p:cNvPr id="16" name="Text 14"/>
          <p:cNvSpPr/>
          <p:nvPr/>
        </p:nvSpPr>
        <p:spPr>
          <a:xfrm>
            <a:off x="521208" y="2834640"/>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Time-to-onset: negative and 10,000+ days</a:t>
            </a:r>
            <a:endParaRPr lang="en-US" sz="1000" dirty="0"/>
          </a:p>
        </p:txBody>
      </p:sp>
      <p:sp>
        <p:nvSpPr>
          <p:cNvPr id="17" name="Shape 15"/>
          <p:cNvSpPr/>
          <p:nvPr/>
        </p:nvSpPr>
        <p:spPr>
          <a:xfrm>
            <a:off x="384048" y="3200400"/>
            <a:ext cx="91440" cy="91440"/>
          </a:xfrm>
          <a:prstGeom prst="ellipse">
            <a:avLst/>
          </a:prstGeom>
          <a:solidFill>
            <a:srgbClr val="EF476F"/>
          </a:solidFill>
          <a:ln w="12700">
            <a:solidFill>
              <a:srgbClr val="EF476F"/>
            </a:solidFill>
            <a:prstDash val="solid"/>
          </a:ln>
        </p:spPr>
      </p:sp>
      <p:sp>
        <p:nvSpPr>
          <p:cNvPr id="18" name="Text 16"/>
          <p:cNvSpPr/>
          <p:nvPr/>
        </p:nvSpPr>
        <p:spPr>
          <a:xfrm>
            <a:off x="521208" y="3163824"/>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Missing age_yr: ~12% of records</a:t>
            </a:r>
            <a:endParaRPr lang="en-US" sz="1000" dirty="0"/>
          </a:p>
        </p:txBody>
      </p:sp>
      <p:sp>
        <p:nvSpPr>
          <p:cNvPr id="19" name="Shape 17"/>
          <p:cNvSpPr/>
          <p:nvPr/>
        </p:nvSpPr>
        <p:spPr>
          <a:xfrm>
            <a:off x="4434840" y="1463040"/>
            <a:ext cx="4023360" cy="2286000"/>
          </a:xfrm>
          <a:prstGeom prst="rect">
            <a:avLst/>
          </a:prstGeom>
          <a:solidFill>
            <a:srgbClr val="0F2040"/>
          </a:solidFill>
          <a:ln w="12700">
            <a:solidFill>
              <a:srgbClr val="00A896"/>
            </a:solidFill>
            <a:prstDash val="solid"/>
          </a:ln>
        </p:spPr>
      </p:sp>
      <p:sp>
        <p:nvSpPr>
          <p:cNvPr id="20" name="Text 18"/>
          <p:cNvSpPr/>
          <p:nvPr/>
        </p:nvSpPr>
        <p:spPr>
          <a:xfrm>
            <a:off x="4572000" y="1554480"/>
            <a:ext cx="3749040" cy="256032"/>
          </a:xfrm>
          <a:prstGeom prst="rect">
            <a:avLst/>
          </a:prstGeom>
          <a:noFill/>
          <a:ln/>
        </p:spPr>
        <p:txBody>
          <a:bodyPr wrap="square" rtlCol="0" anchor="ctr"/>
          <a:lstStyle/>
          <a:p>
            <a:pPr indent="0" marL="0">
              <a:buNone/>
            </a:pPr>
            <a:r>
              <a:rPr lang="en-US" sz="1000" b="1" spc="100" kern="0" dirty="0">
                <a:solidFill>
                  <a:srgbClr val="00A896"/>
                </a:solidFill>
                <a:latin typeface="Calibri" pitchFamily="34" charset="0"/>
                <a:ea typeface="Calibri" pitchFamily="34" charset="-122"/>
                <a:cs typeface="Calibri" pitchFamily="34" charset="-120"/>
              </a:rPr>
              <a:t>AFTER CLEANING</a:t>
            </a:r>
            <a:endParaRPr lang="en-US" sz="1000" dirty="0"/>
          </a:p>
        </p:txBody>
      </p:sp>
      <p:sp>
        <p:nvSpPr>
          <p:cNvPr id="21" name="Shape 19"/>
          <p:cNvSpPr/>
          <p:nvPr/>
        </p:nvSpPr>
        <p:spPr>
          <a:xfrm>
            <a:off x="4590288" y="1883664"/>
            <a:ext cx="91440" cy="91440"/>
          </a:xfrm>
          <a:prstGeom prst="ellipse">
            <a:avLst/>
          </a:prstGeom>
          <a:solidFill>
            <a:srgbClr val="02C39A"/>
          </a:solidFill>
          <a:ln w="12700">
            <a:solidFill>
              <a:srgbClr val="02C39A"/>
            </a:solidFill>
            <a:prstDash val="solid"/>
          </a:ln>
        </p:spPr>
      </p:sp>
      <p:sp>
        <p:nvSpPr>
          <p:cNvPr id="22" name="Text 20"/>
          <p:cNvSpPr/>
          <p:nvPr/>
        </p:nvSpPr>
        <p:spPr>
          <a:xfrm>
            <a:off x="4727448" y="1847088"/>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IQR bounds: [30 kg – 300 kg] applied</a:t>
            </a:r>
            <a:endParaRPr lang="en-US" sz="1000" dirty="0"/>
          </a:p>
        </p:txBody>
      </p:sp>
      <p:sp>
        <p:nvSpPr>
          <p:cNvPr id="23" name="Shape 21"/>
          <p:cNvSpPr/>
          <p:nvPr/>
        </p:nvSpPr>
        <p:spPr>
          <a:xfrm>
            <a:off x="4590288" y="2212848"/>
            <a:ext cx="91440" cy="91440"/>
          </a:xfrm>
          <a:prstGeom prst="ellipse">
            <a:avLst/>
          </a:prstGeom>
          <a:solidFill>
            <a:srgbClr val="02C39A"/>
          </a:solidFill>
          <a:ln w="12700">
            <a:solidFill>
              <a:srgbClr val="02C39A"/>
            </a:solidFill>
            <a:prstDash val="solid"/>
          </a:ln>
        </p:spPr>
      </p:sp>
      <p:sp>
        <p:nvSpPr>
          <p:cNvPr id="24" name="Text 22"/>
          <p:cNvSpPr/>
          <p:nvPr/>
        </p:nvSpPr>
        <p:spPr>
          <a:xfrm>
            <a:off x="4727448" y="2176272"/>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Outliers set to NaN → median-imputed</a:t>
            </a:r>
            <a:endParaRPr lang="en-US" sz="1000" dirty="0"/>
          </a:p>
        </p:txBody>
      </p:sp>
      <p:sp>
        <p:nvSpPr>
          <p:cNvPr id="25" name="Shape 23"/>
          <p:cNvSpPr/>
          <p:nvPr/>
        </p:nvSpPr>
        <p:spPr>
          <a:xfrm>
            <a:off x="4590288" y="2542032"/>
            <a:ext cx="91440" cy="91440"/>
          </a:xfrm>
          <a:prstGeom prst="ellipse">
            <a:avLst/>
          </a:prstGeom>
          <a:solidFill>
            <a:srgbClr val="02C39A"/>
          </a:solidFill>
          <a:ln w="12700">
            <a:solidFill>
              <a:srgbClr val="02C39A"/>
            </a:solidFill>
            <a:prstDash val="solid"/>
          </a:ln>
        </p:spPr>
      </p:sp>
      <p:sp>
        <p:nvSpPr>
          <p:cNvPr id="26" name="Text 24"/>
          <p:cNvSpPr/>
          <p:nvPr/>
        </p:nvSpPr>
        <p:spPr>
          <a:xfrm>
            <a:off x="4727448" y="2505456"/>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Grouped imputation: sex × cohort strata</a:t>
            </a:r>
            <a:endParaRPr lang="en-US" sz="1000" dirty="0"/>
          </a:p>
        </p:txBody>
      </p:sp>
      <p:sp>
        <p:nvSpPr>
          <p:cNvPr id="27" name="Shape 25"/>
          <p:cNvSpPr/>
          <p:nvPr/>
        </p:nvSpPr>
        <p:spPr>
          <a:xfrm>
            <a:off x="4590288" y="2871216"/>
            <a:ext cx="91440" cy="91440"/>
          </a:xfrm>
          <a:prstGeom prst="ellipse">
            <a:avLst/>
          </a:prstGeom>
          <a:solidFill>
            <a:srgbClr val="02C39A"/>
          </a:solidFill>
          <a:ln w="12700">
            <a:solidFill>
              <a:srgbClr val="02C39A"/>
            </a:solidFill>
            <a:prstDash val="solid"/>
          </a:ln>
        </p:spPr>
      </p:sp>
      <p:sp>
        <p:nvSpPr>
          <p:cNvPr id="28" name="Text 26"/>
          <p:cNvSpPr/>
          <p:nvPr/>
        </p:nvSpPr>
        <p:spPr>
          <a:xfrm>
            <a:off x="4727448" y="2834640"/>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TTO bounds: [0, 730 days] enforced</a:t>
            </a:r>
            <a:endParaRPr lang="en-US" sz="1000" dirty="0"/>
          </a:p>
        </p:txBody>
      </p:sp>
      <p:sp>
        <p:nvSpPr>
          <p:cNvPr id="29" name="Shape 27"/>
          <p:cNvSpPr/>
          <p:nvPr/>
        </p:nvSpPr>
        <p:spPr>
          <a:xfrm>
            <a:off x="4590288" y="3200400"/>
            <a:ext cx="91440" cy="91440"/>
          </a:xfrm>
          <a:prstGeom prst="ellipse">
            <a:avLst/>
          </a:prstGeom>
          <a:solidFill>
            <a:srgbClr val="02C39A"/>
          </a:solidFill>
          <a:ln w="12700">
            <a:solidFill>
              <a:srgbClr val="02C39A"/>
            </a:solidFill>
            <a:prstDash val="solid"/>
          </a:ln>
        </p:spPr>
      </p:sp>
      <p:sp>
        <p:nvSpPr>
          <p:cNvPr id="30" name="Text 28"/>
          <p:cNvSpPr/>
          <p:nvPr/>
        </p:nvSpPr>
        <p:spPr>
          <a:xfrm>
            <a:off x="4727448" y="3163824"/>
            <a:ext cx="3566160" cy="274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198,742 GLP-1 records used in modeling</a:t>
            </a:r>
            <a:endParaRPr lang="en-US" sz="1000" dirty="0"/>
          </a:p>
        </p:txBody>
      </p:sp>
      <p:sp>
        <p:nvSpPr>
          <p:cNvPr id="31" name="Shape 29"/>
          <p:cNvSpPr/>
          <p:nvPr/>
        </p:nvSpPr>
        <p:spPr>
          <a:xfrm>
            <a:off x="228600" y="3931920"/>
            <a:ext cx="8229600" cy="914400"/>
          </a:xfrm>
          <a:prstGeom prst="rect">
            <a:avLst/>
          </a:prstGeom>
          <a:solidFill>
            <a:srgbClr val="0F2040"/>
          </a:solidFill>
          <a:ln w="12700">
            <a:solidFill>
              <a:srgbClr val="FFD166"/>
            </a:solidFill>
            <a:prstDash val="solid"/>
          </a:ln>
        </p:spPr>
      </p:sp>
      <p:sp>
        <p:nvSpPr>
          <p:cNvPr id="32" name="Text 30"/>
          <p:cNvSpPr/>
          <p:nvPr/>
        </p:nvSpPr>
        <p:spPr>
          <a:xfrm>
            <a:off x="365760" y="4023360"/>
            <a:ext cx="3657600" cy="228600"/>
          </a:xfrm>
          <a:prstGeom prst="rect">
            <a:avLst/>
          </a:prstGeom>
          <a:noFill/>
          <a:ln/>
        </p:spPr>
        <p:txBody>
          <a:bodyPr wrap="square" rtlCol="0" anchor="ctr"/>
          <a:lstStyle/>
          <a:p>
            <a:pPr indent="0" marL="0">
              <a:buNone/>
            </a:pPr>
            <a:r>
              <a:rPr lang="en-US" sz="900" b="1" spc="100" kern="0" dirty="0">
                <a:solidFill>
                  <a:srgbClr val="FFD166"/>
                </a:solidFill>
                <a:latin typeface="Calibri" pitchFamily="34" charset="0"/>
                <a:ea typeface="Calibri" pitchFamily="34" charset="-122"/>
                <a:cs typeface="Calibri" pitchFamily="34" charset="-120"/>
              </a:rPr>
              <a:t>PCA VARIANCE REDUCTION</a:t>
            </a:r>
            <a:endParaRPr lang="en-US" sz="900" dirty="0"/>
          </a:p>
        </p:txBody>
      </p:sp>
      <p:sp>
        <p:nvSpPr>
          <p:cNvPr id="33" name="Text 31"/>
          <p:cNvSpPr/>
          <p:nvPr/>
        </p:nvSpPr>
        <p:spPr>
          <a:xfrm>
            <a:off x="365760" y="4297680"/>
            <a:ext cx="8229600" cy="228600"/>
          </a:xfrm>
          <a:prstGeom prst="rect">
            <a:avLst/>
          </a:prstGeom>
          <a:noFill/>
          <a:ln/>
        </p:spPr>
        <p:txBody>
          <a:bodyPr wrap="square" rtlCol="0" anchor="ctr"/>
          <a:lstStyle/>
          <a:p>
            <a:pPr indent="0" marL="0">
              <a:buNone/>
            </a:pPr>
            <a:r>
              <a:rPr lang="en-US" sz="1200" b="1" dirty="0">
                <a:solidFill>
                  <a:srgbClr val="E8F4F8"/>
                </a:solidFill>
                <a:latin typeface="Calibri" pitchFamily="34" charset="0"/>
                <a:ea typeface="Calibri" pitchFamily="34" charset="-122"/>
                <a:cs typeface="Calibri" pitchFamily="34" charset="-120"/>
              </a:rPr>
              <a:t>PC1 = 23.84%  ·  PC2 = 23.05%  ·  Cumulative (2 PCs) = 46.89%</a:t>
            </a:r>
            <a:endParaRPr lang="en-US" sz="1200" dirty="0"/>
          </a:p>
        </p:txBody>
      </p:sp>
      <p:sp>
        <p:nvSpPr>
          <p:cNvPr id="34" name="Text 32"/>
          <p:cNvSpPr/>
          <p:nvPr/>
        </p:nvSpPr>
        <p:spPr>
          <a:xfrm>
            <a:off x="365760" y="4535424"/>
            <a:ext cx="8229600" cy="201168"/>
          </a:xfrm>
          <a:prstGeom prst="rect">
            <a:avLst/>
          </a:prstGeom>
          <a:noFill/>
          <a:ln/>
        </p:spPr>
        <p:txBody>
          <a:bodyPr wrap="square" rtlCol="0" anchor="ctr"/>
          <a:lstStyle/>
          <a:p>
            <a:pPr indent="0" marL="0">
              <a:buNone/>
            </a:pPr>
            <a:r>
              <a:rPr lang="en-US" sz="900" i="1" dirty="0">
                <a:solidFill>
                  <a:srgbClr val="8BAFC8"/>
                </a:solidFill>
                <a:latin typeface="Calibri" pitchFamily="34" charset="0"/>
                <a:ea typeface="Calibri" pitchFamily="34" charset="-122"/>
                <a:cs typeface="Calibri" pitchFamily="34" charset="-120"/>
              </a:rPr>
              <a:t>'So what?' — PCA revealed Age and Polypharmacy drive the most variance in adverse event profiles</a:t>
            </a:r>
            <a:endParaRPr lang="en-US" sz="900" dirty="0"/>
          </a:p>
        </p:txBody>
      </p:sp>
      <p:sp>
        <p:nvSpPr>
          <p:cNvPr id="35" name="Text 33"/>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8 / 24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2: ENGINEERING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Dimensionality Reduction: PCA</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Principal Component Analysis reveals the dominant axes of patient variation</a:t>
            </a:r>
            <a:endParaRPr lang="en-US" sz="1300" dirty="0"/>
          </a:p>
        </p:txBody>
      </p:sp>
      <p:graphicFrame>
        <p:nvGraphicFramePr>
          <p:cNvPr id="7" name="Chart 0" descr=""/>
          <p:cNvGraphicFramePr/>
          <p:nvPr/>
        </p:nvGraphicFramePr>
        <p:xfrm>
          <a:off x="365760" y="1417320"/>
          <a:ext cx="530352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943600" y="1417320"/>
            <a:ext cx="2926080" cy="896112"/>
          </a:xfrm>
          <a:prstGeom prst="rect">
            <a:avLst/>
          </a:prstGeom>
          <a:solidFill>
            <a:srgbClr val="0F2040"/>
          </a:solidFill>
          <a:ln w="12700">
            <a:solidFill>
              <a:srgbClr val="00A896"/>
            </a:solidFill>
            <a:prstDash val="solid"/>
          </a:ln>
        </p:spPr>
      </p:sp>
      <p:sp>
        <p:nvSpPr>
          <p:cNvPr id="9" name="Text 6"/>
          <p:cNvSpPr/>
          <p:nvPr/>
        </p:nvSpPr>
        <p:spPr>
          <a:xfrm>
            <a:off x="6080760" y="1481328"/>
            <a:ext cx="2651760" cy="256032"/>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PC1 = 23.84%</a:t>
            </a:r>
            <a:endParaRPr lang="en-US" sz="1100" dirty="0"/>
          </a:p>
        </p:txBody>
      </p:sp>
      <p:sp>
        <p:nvSpPr>
          <p:cNvPr id="10" name="Text 7"/>
          <p:cNvSpPr/>
          <p:nvPr/>
        </p:nvSpPr>
        <p:spPr>
          <a:xfrm>
            <a:off x="6080760" y="1764792"/>
            <a:ext cx="2651760" cy="41148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Polypharmacy + Age</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Complex, older patients</a:t>
            </a:r>
            <a:endParaRPr lang="en-US" sz="1000" dirty="0"/>
          </a:p>
        </p:txBody>
      </p:sp>
      <p:sp>
        <p:nvSpPr>
          <p:cNvPr id="11" name="Shape 8"/>
          <p:cNvSpPr/>
          <p:nvPr/>
        </p:nvSpPr>
        <p:spPr>
          <a:xfrm>
            <a:off x="5943600" y="2441448"/>
            <a:ext cx="2926080" cy="896112"/>
          </a:xfrm>
          <a:prstGeom prst="rect">
            <a:avLst/>
          </a:prstGeom>
          <a:solidFill>
            <a:srgbClr val="0F2040"/>
          </a:solidFill>
          <a:ln w="12700">
            <a:solidFill>
              <a:srgbClr val="02C39A"/>
            </a:solidFill>
            <a:prstDash val="solid"/>
          </a:ln>
        </p:spPr>
      </p:sp>
      <p:sp>
        <p:nvSpPr>
          <p:cNvPr id="12" name="Text 9"/>
          <p:cNvSpPr/>
          <p:nvPr/>
        </p:nvSpPr>
        <p:spPr>
          <a:xfrm>
            <a:off x="6080760" y="2505456"/>
            <a:ext cx="265176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PC2 = 23.05%</a:t>
            </a:r>
            <a:endParaRPr lang="en-US" sz="1100" dirty="0"/>
          </a:p>
        </p:txBody>
      </p:sp>
      <p:sp>
        <p:nvSpPr>
          <p:cNvPr id="13" name="Text 10"/>
          <p:cNvSpPr/>
          <p:nvPr/>
        </p:nvSpPr>
        <p:spPr>
          <a:xfrm>
            <a:off x="6080760" y="2788920"/>
            <a:ext cx="2651760" cy="41148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Weight + Time-to-onset</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Body-size related timing</a:t>
            </a:r>
            <a:endParaRPr lang="en-US" sz="1000" dirty="0"/>
          </a:p>
        </p:txBody>
      </p:sp>
      <p:sp>
        <p:nvSpPr>
          <p:cNvPr id="14" name="Shape 11"/>
          <p:cNvSpPr/>
          <p:nvPr/>
        </p:nvSpPr>
        <p:spPr>
          <a:xfrm>
            <a:off x="5943600" y="3465576"/>
            <a:ext cx="2926080" cy="896112"/>
          </a:xfrm>
          <a:prstGeom prst="rect">
            <a:avLst/>
          </a:prstGeom>
          <a:solidFill>
            <a:srgbClr val="0F2040"/>
          </a:solidFill>
          <a:ln w="12700">
            <a:solidFill>
              <a:srgbClr val="FF6B35"/>
            </a:solidFill>
            <a:prstDash val="solid"/>
          </a:ln>
        </p:spPr>
      </p:sp>
      <p:sp>
        <p:nvSpPr>
          <p:cNvPr id="15" name="Text 12"/>
          <p:cNvSpPr/>
          <p:nvPr/>
        </p:nvSpPr>
        <p:spPr>
          <a:xfrm>
            <a:off x="6080760" y="3529584"/>
            <a:ext cx="2651760" cy="256032"/>
          </a:xfrm>
          <a:prstGeom prst="rect">
            <a:avLst/>
          </a:prstGeom>
          <a:noFill/>
          <a:ln/>
        </p:spPr>
        <p:txBody>
          <a:bodyPr wrap="square"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Cumulative 2 PCs</a:t>
            </a:r>
            <a:endParaRPr lang="en-US" sz="1100" dirty="0"/>
          </a:p>
        </p:txBody>
      </p:sp>
      <p:sp>
        <p:nvSpPr>
          <p:cNvPr id="16" name="Text 13"/>
          <p:cNvSpPr/>
          <p:nvPr/>
        </p:nvSpPr>
        <p:spPr>
          <a:xfrm>
            <a:off x="6080760" y="3813048"/>
            <a:ext cx="2651760" cy="41148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46.89% of all variance</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captured in 2 dimensions</a:t>
            </a:r>
            <a:endParaRPr lang="en-US" sz="1000" dirty="0"/>
          </a:p>
        </p:txBody>
      </p:sp>
      <p:sp>
        <p:nvSpPr>
          <p:cNvPr id="17" name="Shape 14"/>
          <p:cNvSpPr/>
          <p:nvPr/>
        </p:nvSpPr>
        <p:spPr>
          <a:xfrm>
            <a:off x="5943600" y="4087368"/>
            <a:ext cx="2926080" cy="777240"/>
          </a:xfrm>
          <a:prstGeom prst="rect">
            <a:avLst/>
          </a:prstGeom>
          <a:solidFill>
            <a:srgbClr val="0F2040"/>
          </a:solidFill>
          <a:ln w="12700">
            <a:solidFill>
              <a:srgbClr val="FFD166"/>
            </a:solidFill>
            <a:prstDash val="solid"/>
          </a:ln>
        </p:spPr>
      </p:sp>
      <p:sp>
        <p:nvSpPr>
          <p:cNvPr id="18" name="Text 15"/>
          <p:cNvSpPr/>
          <p:nvPr/>
        </p:nvSpPr>
        <p:spPr>
          <a:xfrm>
            <a:off x="6080760" y="3657600"/>
            <a:ext cx="2651760" cy="228600"/>
          </a:xfrm>
          <a:prstGeom prst="rect">
            <a:avLst/>
          </a:prstGeom>
          <a:noFill/>
          <a:ln/>
        </p:spPr>
        <p:txBody>
          <a:bodyPr wrap="square" rtlCol="0" anchor="ctr"/>
          <a:lstStyle/>
          <a:p>
            <a:pPr indent="0" marL="0">
              <a:buNone/>
            </a:pPr>
            <a:r>
              <a:rPr lang="en-US" sz="900" b="1" dirty="0">
                <a:solidFill>
                  <a:srgbClr val="FFD166"/>
                </a:solidFill>
                <a:latin typeface="Calibri" pitchFamily="34" charset="0"/>
                <a:ea typeface="Calibri" pitchFamily="34" charset="-122"/>
                <a:cs typeface="Calibri" pitchFamily="34" charset="-120"/>
              </a:rPr>
              <a:t>SO WHAT?</a:t>
            </a:r>
            <a:endParaRPr lang="en-US" sz="900" dirty="0"/>
          </a:p>
        </p:txBody>
      </p:sp>
      <p:sp>
        <p:nvSpPr>
          <p:cNvPr id="19" name="Text 16"/>
          <p:cNvSpPr/>
          <p:nvPr/>
        </p:nvSpPr>
        <p:spPr>
          <a:xfrm>
            <a:off x="6080760" y="3913632"/>
            <a:ext cx="2651760" cy="50292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DBSCAN on PCA-reduced space revealed a single continuous clinical manifold — risk is a spectrum, not discrete categories.</a:t>
            </a:r>
            <a:endParaRPr lang="en-US" sz="900" dirty="0"/>
          </a:p>
        </p:txBody>
      </p:sp>
      <p:sp>
        <p:nvSpPr>
          <p:cNvPr id="20" name="Text 17"/>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9 / 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3: EDA</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Cohort Demographics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Controls are older and sicker — the classic 'confounding by indication' challenge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3520440"/>
        </p:xfrm>
        <a:graphic>
          <a:graphicData uri="http://schemas.openxmlformats.org/drawingml/2006/table">
            <a:tbl>
              <a:tblPr/>
              <a:tblGrid>
                <a:gridCol w="1645920"/>
                <a:gridCol w="1737360"/>
                <a:gridCol w="1737360"/>
                <a:gridCol w="3566160"/>
              </a:tblGrid>
              <a:tr h="347472">
                <a:tc>
                  <a:txBody>
                    <a:bodyPr/>
                    <a:lstStyle/>
                    <a:p>
                      <a:pPr algn="ctr" indent="0" marL="0">
                        <a:buNone/>
                      </a:pPr>
                      <a:endParaRPr lang="en-US" sz="9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00" b="1" dirty="0">
                          <a:solidFill>
                            <a:srgbClr val="0A1628"/>
                          </a:solidFill>
                        </a:rPr>
                        <a:t>GLP-1 Cohort</a:t>
                      </a:r>
                      <a:endParaRPr lang="en-US" sz="9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00" b="1" dirty="0">
                          <a:solidFill>
                            <a:srgbClr val="0A1628"/>
                          </a:solidFill>
                        </a:rPr>
                        <a:t>Control Cohort</a:t>
                      </a:r>
                      <a:endParaRPr lang="en-US" sz="9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00" b="1" dirty="0">
                          <a:solidFill>
                            <a:srgbClr val="0A1628"/>
                          </a:solidFill>
                        </a:rPr>
                        <a:t>Implication</a:t>
                      </a:r>
                      <a:endParaRPr lang="en-US" sz="9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r>
              <a:tr h="347472">
                <a:tc>
                  <a:txBody>
                    <a:bodyPr/>
                    <a:lstStyle/>
                    <a:p>
                      <a:pPr algn="l" indent="0" marL="0">
                        <a:buNone/>
                      </a:pPr>
                      <a:r>
                        <a:rPr lang="en-US" sz="950" b="1" dirty="0">
                          <a:solidFill>
                            <a:srgbClr val="E8F4F8"/>
                          </a:solidFill>
                        </a:rPr>
                        <a:t>Cases (n)</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206,974</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160,909</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8BAFC8"/>
                          </a:solidFill>
                        </a:rPr>
                        <a:t>Larger GLP-1 sample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b="1" dirty="0">
                          <a:solidFill>
                            <a:srgbClr val="E8F4F8"/>
                          </a:solidFill>
                        </a:rPr>
                        <a:t>Mean Age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56.2 yrs</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F476F"/>
                          </a:solidFill>
                        </a:rPr>
                        <a:t>65.9 yrs ⚠️</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algn="ctr" indent="0" marL="0">
                        <a:buNone/>
                      </a:pPr>
                      <a:r>
                        <a:rPr lang="en-US" sz="950" dirty="0">
                          <a:solidFill>
                            <a:srgbClr val="8BAFC8"/>
                          </a:solidFill>
                        </a:rPr>
                        <a:t>Controls are 10 yrs older</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r h="347472">
                <a:tc>
                  <a:txBody>
                    <a:bodyPr/>
                    <a:lstStyle/>
                    <a:p>
                      <a:pPr algn="l" indent="0" marL="0">
                        <a:buNone/>
                      </a:pPr>
                      <a:r>
                        <a:rPr lang="en-US" sz="950" b="1" dirty="0">
                          <a:solidFill>
                            <a:srgbClr val="E8F4F8"/>
                          </a:solidFill>
                        </a:rPr>
                        <a:t>% Female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60.7%</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44.6%</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8BAFC8"/>
                          </a:solidFill>
                        </a:rPr>
                        <a:t>GLP-1 = more female users</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b="1" dirty="0">
                          <a:solidFill>
                            <a:srgbClr val="E8F4F8"/>
                          </a:solidFill>
                        </a:rPr>
                        <a:t>Median Weight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86.6 kg</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85.0 kg</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8BAFC8"/>
                          </a:solidFill>
                        </a:rPr>
                        <a:t>Similar BMI range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r h="347472">
                <a:tc>
                  <a:txBody>
                    <a:bodyPr/>
                    <a:lstStyle/>
                    <a:p>
                      <a:pPr algn="l" indent="0" marL="0">
                        <a:buNone/>
                      </a:pPr>
                      <a:r>
                        <a:rPr lang="en-US" sz="950" b="1" dirty="0">
                          <a:solidFill>
                            <a:srgbClr val="E8F4F8"/>
                          </a:solidFill>
                        </a:rPr>
                        <a:t>GI Severe Rate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2.25%</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1.65%</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8BAFC8"/>
                          </a:solidFill>
                        </a:rPr>
                        <a:t>GLP-1 higher — needs PRR</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b="1" dirty="0">
                          <a:solidFill>
                            <a:srgbClr val="E8F4F8"/>
                          </a:solidFill>
                        </a:rPr>
                        <a:t>Overall Severity</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11.2%</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F476F"/>
                          </a:solidFill>
                        </a:rPr>
                        <a:t>46.6% ⚠️</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algn="ctr" indent="0" marL="0">
                        <a:buNone/>
                      </a:pPr>
                      <a:r>
                        <a:rPr lang="en-US" sz="950" dirty="0">
                          <a:solidFill>
                            <a:srgbClr val="8BAFC8"/>
                          </a:solidFill>
                        </a:rPr>
                        <a:t>Controls far sicker overall</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r h="347472">
                <a:tc>
                  <a:txBody>
                    <a:bodyPr/>
                    <a:lstStyle/>
                    <a:p>
                      <a:pPr algn="l" indent="0" marL="0">
                        <a:buNone/>
                      </a:pPr>
                      <a:r>
                        <a:rPr lang="en-US" sz="950" b="1" dirty="0">
                          <a:solidFill>
                            <a:srgbClr val="E8F4F8"/>
                          </a:solidFill>
                        </a:rPr>
                        <a:t>Opioid Co-report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1.3%</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F476F"/>
                          </a:solidFill>
                        </a:rPr>
                        <a:t>10.3% ⚠️</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algn="ctr" indent="0" marL="0">
                        <a:buNone/>
                      </a:pPr>
                      <a:r>
                        <a:rPr lang="en-US" sz="950" dirty="0">
                          <a:solidFill>
                            <a:srgbClr val="8BAFC8"/>
                          </a:solidFill>
                        </a:rPr>
                        <a:t>Controls 8× more opioid use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b="1" dirty="0">
                          <a:solidFill>
                            <a:srgbClr val="E8F4F8"/>
                          </a:solidFill>
                        </a:rPr>
                        <a:t>Median Polypharmacy</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1.0 drugs</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F476F"/>
                          </a:solidFill>
                        </a:rPr>
                        <a:t>6.0 drugs ⚠️</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A1010"/>
                    </a:solidFill>
                  </a:tcPr>
                </a:tc>
                <a:tc>
                  <a:txBody>
                    <a:bodyPr/>
                    <a:lstStyle/>
                    <a:p>
                      <a:pPr algn="ctr" indent="0" marL="0">
                        <a:buNone/>
                      </a:pPr>
                      <a:r>
                        <a:rPr lang="en-US" sz="950" dirty="0">
                          <a:solidFill>
                            <a:srgbClr val="8BAFC8"/>
                          </a:solidFill>
                        </a:rPr>
                        <a:t>Controls far more complex</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bl>
          </a:graphicData>
        </a:graphic>
      </p:graphicFrame>
      <p:sp>
        <p:nvSpPr>
          <p:cNvPr id="8" name="Text 5"/>
          <p:cNvSpPr/>
          <p:nvPr/>
        </p:nvSpPr>
        <p:spPr>
          <a:xfrm>
            <a:off x="274320" y="4850892"/>
            <a:ext cx="4572000" cy="201168"/>
          </a:xfrm>
          <a:prstGeom prst="rect">
            <a:avLst/>
          </a:prstGeom>
          <a:noFill/>
          <a:ln/>
        </p:spPr>
        <p:txBody>
          <a:bodyPr wrap="square" rtlCol="0" anchor="ctr"/>
          <a:lstStyle/>
          <a:p>
            <a:pPr indent="0" marL="0">
              <a:buNone/>
            </a:pPr>
            <a:r>
              <a:rPr lang="en-US" sz="800" dirty="0">
                <a:solidFill>
                  <a:srgbClr val="EF476F"/>
                </a:solidFill>
                <a:latin typeface="Calibri" pitchFamily="34" charset="0"/>
                <a:ea typeface="Calibri" pitchFamily="34" charset="-122"/>
                <a:cs typeface="Calibri" pitchFamily="34" charset="-120"/>
              </a:rPr>
              <a:t>⚠️ = Statistically important confounder</a:t>
            </a:r>
            <a:endParaRPr lang="en-US" sz="800" dirty="0"/>
          </a:p>
        </p:txBody>
      </p:sp>
      <p:sp>
        <p:nvSpPr>
          <p:cNvPr id="9" name="Text 6"/>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10 / 24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3: EDA</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Reporting Trends: 3× Growth in GLP-1 Reports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Quarterly FAERS reporting mirrors the real-world GLP-1 prescribing explosion</a:t>
            </a:r>
            <a:endParaRPr lang="en-US" sz="1300" dirty="0"/>
          </a:p>
        </p:txBody>
      </p:sp>
      <p:graphicFrame>
        <p:nvGraphicFramePr>
          <p:cNvPr id="7" name="Chart 0" descr=""/>
          <p:cNvGraphicFramePr/>
          <p:nvPr/>
        </p:nvGraphicFramePr>
        <p:xfrm>
          <a:off x="274320" y="137160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675120" y="1417320"/>
            <a:ext cx="1920240" cy="1234440"/>
          </a:xfrm>
          <a:prstGeom prst="rect">
            <a:avLst/>
          </a:prstGeom>
          <a:solidFill>
            <a:srgbClr val="0F2040"/>
          </a:solidFill>
          <a:ln w="12700">
            <a:solidFill>
              <a:srgbClr val="028090"/>
            </a:solidFill>
            <a:prstDash val="solid"/>
          </a:ln>
        </p:spPr>
      </p:sp>
      <p:sp>
        <p:nvSpPr>
          <p:cNvPr id="9" name="Text 6"/>
          <p:cNvSpPr/>
          <p:nvPr/>
        </p:nvSpPr>
        <p:spPr>
          <a:xfrm>
            <a:off x="6784848" y="1527048"/>
            <a:ext cx="1737360" cy="201168"/>
          </a:xfrm>
          <a:prstGeom prst="rect">
            <a:avLst/>
          </a:prstGeom>
          <a:noFill/>
          <a:ln/>
        </p:spPr>
        <p:txBody>
          <a:bodyPr wrap="square" rtlCol="0" anchor="ctr"/>
          <a:lstStyle/>
          <a:p>
            <a:pPr indent="0" marL="0">
              <a:buNone/>
            </a:pPr>
            <a:r>
              <a:rPr lang="en-US" sz="800" b="1" dirty="0">
                <a:solidFill>
                  <a:srgbClr val="4A6D87"/>
                </a:solidFill>
                <a:latin typeface="Calibri" pitchFamily="34" charset="0"/>
                <a:ea typeface="Calibri" pitchFamily="34" charset="-122"/>
                <a:cs typeface="Calibri" pitchFamily="34" charset="-120"/>
              </a:rPr>
              <a:t>GLP-1 GROWTH</a:t>
            </a:r>
            <a:endParaRPr lang="en-US" sz="800" dirty="0"/>
          </a:p>
        </p:txBody>
      </p:sp>
      <p:sp>
        <p:nvSpPr>
          <p:cNvPr id="10" name="Text 7"/>
          <p:cNvSpPr/>
          <p:nvPr/>
        </p:nvSpPr>
        <p:spPr>
          <a:xfrm>
            <a:off x="6784848" y="1746504"/>
            <a:ext cx="1737360" cy="512064"/>
          </a:xfrm>
          <a:prstGeom prst="rect">
            <a:avLst/>
          </a:prstGeom>
          <a:noFill/>
          <a:ln/>
        </p:spPr>
        <p:txBody>
          <a:bodyPr wrap="square" rtlCol="0" anchor="ctr"/>
          <a:lstStyle/>
          <a:p>
            <a:pPr indent="0" marL="0">
              <a:buNone/>
            </a:pPr>
            <a:r>
              <a:rPr lang="en-US" sz="2800" b="1" dirty="0">
                <a:solidFill>
                  <a:srgbClr val="00A896"/>
                </a:solidFill>
                <a:latin typeface="Calibri" pitchFamily="34" charset="0"/>
                <a:ea typeface="Calibri" pitchFamily="34" charset="-122"/>
                <a:cs typeface="Calibri" pitchFamily="34" charset="-120"/>
              </a:rPr>
              <a:t>3×</a:t>
            </a:r>
            <a:endParaRPr lang="en-US" sz="2800" dirty="0"/>
          </a:p>
        </p:txBody>
      </p:sp>
      <p:sp>
        <p:nvSpPr>
          <p:cNvPr id="11" name="Text 8"/>
          <p:cNvSpPr/>
          <p:nvPr/>
        </p:nvSpPr>
        <p:spPr>
          <a:xfrm>
            <a:off x="6784848" y="2295144"/>
            <a:ext cx="1737360" cy="256032"/>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2023Q1 → 2026Q1</a:t>
            </a:r>
            <a:endParaRPr lang="en-US" sz="900" dirty="0"/>
          </a:p>
        </p:txBody>
      </p:sp>
      <p:sp>
        <p:nvSpPr>
          <p:cNvPr id="12" name="Shape 9"/>
          <p:cNvSpPr/>
          <p:nvPr/>
        </p:nvSpPr>
        <p:spPr>
          <a:xfrm>
            <a:off x="6675120" y="2788920"/>
            <a:ext cx="1920240" cy="1234440"/>
          </a:xfrm>
          <a:prstGeom prst="rect">
            <a:avLst/>
          </a:prstGeom>
          <a:solidFill>
            <a:srgbClr val="0F2040"/>
          </a:solidFill>
          <a:ln w="12700">
            <a:solidFill>
              <a:srgbClr val="028090"/>
            </a:solidFill>
            <a:prstDash val="solid"/>
          </a:ln>
        </p:spPr>
      </p:sp>
      <p:sp>
        <p:nvSpPr>
          <p:cNvPr id="13" name="Text 10"/>
          <p:cNvSpPr/>
          <p:nvPr/>
        </p:nvSpPr>
        <p:spPr>
          <a:xfrm>
            <a:off x="6784848" y="2898648"/>
            <a:ext cx="1737360" cy="201168"/>
          </a:xfrm>
          <a:prstGeom prst="rect">
            <a:avLst/>
          </a:prstGeom>
          <a:noFill/>
          <a:ln/>
        </p:spPr>
        <p:txBody>
          <a:bodyPr wrap="square" rtlCol="0" anchor="ctr"/>
          <a:lstStyle/>
          <a:p>
            <a:pPr indent="0" marL="0">
              <a:buNone/>
            </a:pPr>
            <a:r>
              <a:rPr lang="en-US" sz="800" b="1" dirty="0">
                <a:solidFill>
                  <a:srgbClr val="4A6D87"/>
                </a:solidFill>
                <a:latin typeface="Calibri" pitchFamily="34" charset="0"/>
                <a:ea typeface="Calibri" pitchFamily="34" charset="-122"/>
                <a:cs typeface="Calibri" pitchFamily="34" charset="-120"/>
              </a:rPr>
              <a:t>PEAK QUARTER</a:t>
            </a:r>
            <a:endParaRPr lang="en-US" sz="800" dirty="0"/>
          </a:p>
        </p:txBody>
      </p:sp>
      <p:sp>
        <p:nvSpPr>
          <p:cNvPr id="14" name="Text 11"/>
          <p:cNvSpPr/>
          <p:nvPr/>
        </p:nvSpPr>
        <p:spPr>
          <a:xfrm>
            <a:off x="6784848" y="3118104"/>
            <a:ext cx="1737360" cy="512064"/>
          </a:xfrm>
          <a:prstGeom prst="rect">
            <a:avLst/>
          </a:prstGeom>
          <a:noFill/>
          <a:ln/>
        </p:spPr>
        <p:txBody>
          <a:bodyPr wrap="square" rtlCol="0" anchor="ctr"/>
          <a:lstStyle/>
          <a:p>
            <a:pPr indent="0" marL="0">
              <a:buNone/>
            </a:pPr>
            <a:r>
              <a:rPr lang="en-US" sz="2800" b="1" dirty="0">
                <a:solidFill>
                  <a:srgbClr val="02C39A"/>
                </a:solidFill>
                <a:latin typeface="Calibri" pitchFamily="34" charset="0"/>
                <a:ea typeface="Calibri" pitchFamily="34" charset="-122"/>
                <a:cs typeface="Calibri" pitchFamily="34" charset="-120"/>
              </a:rPr>
              <a:t>25K+</a:t>
            </a:r>
            <a:endParaRPr lang="en-US" sz="2800" dirty="0"/>
          </a:p>
        </p:txBody>
      </p:sp>
      <p:sp>
        <p:nvSpPr>
          <p:cNvPr id="15" name="Text 12"/>
          <p:cNvSpPr/>
          <p:nvPr/>
        </p:nvSpPr>
        <p:spPr>
          <a:xfrm>
            <a:off x="6784848" y="3666744"/>
            <a:ext cx="1737360" cy="256032"/>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Reports in 2026Q1</a:t>
            </a:r>
            <a:endParaRPr lang="en-US" sz="900" dirty="0"/>
          </a:p>
        </p:txBody>
      </p:sp>
      <p:sp>
        <p:nvSpPr>
          <p:cNvPr id="16" name="Shape 13"/>
          <p:cNvSpPr/>
          <p:nvPr/>
        </p:nvSpPr>
        <p:spPr>
          <a:xfrm>
            <a:off x="6675120" y="4160520"/>
            <a:ext cx="2011680" cy="685800"/>
          </a:xfrm>
          <a:prstGeom prst="rect">
            <a:avLst/>
          </a:prstGeom>
          <a:solidFill>
            <a:srgbClr val="0F2040"/>
          </a:solidFill>
          <a:ln w="12700">
            <a:solidFill>
              <a:srgbClr val="FF6B35"/>
            </a:solidFill>
            <a:prstDash val="solid"/>
          </a:ln>
        </p:spPr>
      </p:sp>
      <p:sp>
        <p:nvSpPr>
          <p:cNvPr id="17" name="Text 14"/>
          <p:cNvSpPr/>
          <p:nvPr/>
        </p:nvSpPr>
        <p:spPr>
          <a:xfrm>
            <a:off x="6784848" y="4224528"/>
            <a:ext cx="1828800" cy="182880"/>
          </a:xfrm>
          <a:prstGeom prst="rect">
            <a:avLst/>
          </a:prstGeom>
          <a:noFill/>
          <a:ln/>
        </p:spPr>
        <p:txBody>
          <a:bodyPr wrap="square" rtlCol="0" anchor="ctr"/>
          <a:lstStyle/>
          <a:p>
            <a:pPr indent="0" marL="0">
              <a:buNone/>
            </a:pPr>
            <a:r>
              <a:rPr lang="en-US" sz="800" dirty="0">
                <a:solidFill>
                  <a:srgbClr val="FF6B35"/>
                </a:solidFill>
                <a:latin typeface="Calibri" pitchFamily="34" charset="0"/>
                <a:ea typeface="Calibri" pitchFamily="34" charset="-122"/>
                <a:cs typeface="Calibri" pitchFamily="34" charset="-120"/>
              </a:rPr>
              <a:t>Market driver</a:t>
            </a:r>
            <a:endParaRPr lang="en-US" sz="800" dirty="0"/>
          </a:p>
        </p:txBody>
      </p:sp>
      <p:sp>
        <p:nvSpPr>
          <p:cNvPr id="18" name="Text 15"/>
          <p:cNvSpPr/>
          <p:nvPr/>
        </p:nvSpPr>
        <p:spPr>
          <a:xfrm>
            <a:off x="6784848" y="4407408"/>
            <a:ext cx="1828800" cy="320040"/>
          </a:xfrm>
          <a:prstGeom prst="rect">
            <a:avLst/>
          </a:prstGeom>
          <a:noFill/>
          <a:ln/>
        </p:spPr>
        <p:txBody>
          <a:bodyPr wrap="square" rtlCol="0" anchor="ctr"/>
          <a:lstStyle/>
          <a:p>
            <a:pPr indent="0" marL="0">
              <a:buNone/>
            </a:pPr>
            <a:r>
              <a:rPr lang="en-US" sz="800" dirty="0">
                <a:solidFill>
                  <a:srgbClr val="E8F4F8"/>
                </a:solidFill>
                <a:latin typeface="Calibri" pitchFamily="34" charset="0"/>
                <a:ea typeface="Calibri" pitchFamily="34" charset="-122"/>
                <a:cs typeface="Calibri" pitchFamily="34" charset="-120"/>
              </a:rPr>
              <a:t>Tirzepatide (Mounjaro) launched 2022 — now #1 in cohort</a:t>
            </a:r>
            <a:endParaRPr lang="en-US" sz="800" dirty="0"/>
          </a:p>
        </p:txBody>
      </p:sp>
      <p:sp>
        <p:nvSpPr>
          <p:cNvPr id="19" name="Text 16"/>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11 / 24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4: STATISTICAL MINING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Signal Detection: Forest Plot</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Proportional Reporting Ratio (PRR) vs. WHO-UMC threshold of 2.0</a:t>
            </a:r>
            <a:endParaRPr lang="en-US" sz="1300" dirty="0"/>
          </a:p>
        </p:txBody>
      </p:sp>
      <p:sp>
        <p:nvSpPr>
          <p:cNvPr id="7" name="Shape 5"/>
          <p:cNvSpPr/>
          <p:nvPr/>
        </p:nvSpPr>
        <p:spPr>
          <a:xfrm>
            <a:off x="228600" y="1417320"/>
            <a:ext cx="7132320" cy="3383280"/>
          </a:xfrm>
          <a:prstGeom prst="rect">
            <a:avLst/>
          </a:prstGeom>
          <a:solidFill>
            <a:srgbClr val="0F2040"/>
          </a:solidFill>
          <a:ln w="12700">
            <a:solidFill>
              <a:srgbClr val="162A50"/>
            </a:solidFill>
            <a:prstDash val="solid"/>
          </a:ln>
        </p:spPr>
      </p:sp>
      <p:sp>
        <p:nvSpPr>
          <p:cNvPr id="8" name="Shape 6"/>
          <p:cNvSpPr/>
          <p:nvPr/>
        </p:nvSpPr>
        <p:spPr>
          <a:xfrm>
            <a:off x="4892040" y="1463040"/>
            <a:ext cx="0" cy="3291840"/>
          </a:xfrm>
          <a:prstGeom prst="line">
            <a:avLst/>
          </a:prstGeom>
          <a:noFill/>
          <a:ln w="25400">
            <a:solidFill>
              <a:srgbClr val="FF6B35"/>
            </a:solidFill>
            <a:prstDash val="dash"/>
          </a:ln>
        </p:spPr>
      </p:sp>
      <p:sp>
        <p:nvSpPr>
          <p:cNvPr id="9" name="Text 7"/>
          <p:cNvSpPr/>
          <p:nvPr/>
        </p:nvSpPr>
        <p:spPr>
          <a:xfrm>
            <a:off x="4946904" y="1508760"/>
            <a:ext cx="914400" cy="457200"/>
          </a:xfrm>
          <a:prstGeom prst="rect">
            <a:avLst/>
          </a:prstGeom>
          <a:noFill/>
          <a:ln/>
        </p:spPr>
        <p:txBody>
          <a:bodyPr wrap="square" rtlCol="0" anchor="ctr"/>
          <a:lstStyle/>
          <a:p>
            <a:pPr indent="0" marL="0">
              <a:buNone/>
            </a:pPr>
            <a:r>
              <a:rPr lang="en-US" sz="750" b="1" dirty="0">
                <a:solidFill>
                  <a:srgbClr val="FF6B35"/>
                </a:solidFill>
                <a:latin typeface="Calibri" pitchFamily="34" charset="0"/>
                <a:ea typeface="Calibri" pitchFamily="34" charset="-122"/>
                <a:cs typeface="Calibri" pitchFamily="34" charset="-120"/>
              </a:rPr>
              <a:t>WHO-UMC</a:t>
            </a:r>
            <a:endParaRPr lang="en-US" sz="750" dirty="0"/>
          </a:p>
          <a:p>
            <a:pPr indent="0" marL="0">
              <a:buNone/>
            </a:pPr>
            <a:r>
              <a:rPr lang="en-US" sz="750" b="1" dirty="0">
                <a:solidFill>
                  <a:srgbClr val="FF6B35"/>
                </a:solidFill>
                <a:latin typeface="Calibri" pitchFamily="34" charset="0"/>
                <a:ea typeface="Calibri" pitchFamily="34" charset="-122"/>
                <a:cs typeface="Calibri" pitchFamily="34" charset="-120"/>
              </a:rPr>
              <a:t>Threshold</a:t>
            </a:r>
            <a:endParaRPr lang="en-US" sz="750" dirty="0"/>
          </a:p>
          <a:p>
            <a:pPr indent="0" marL="0">
              <a:buNone/>
            </a:pPr>
            <a:r>
              <a:rPr lang="en-US" sz="750" b="1" dirty="0">
                <a:solidFill>
                  <a:srgbClr val="FF6B35"/>
                </a:solidFill>
                <a:latin typeface="Calibri" pitchFamily="34" charset="0"/>
                <a:ea typeface="Calibri" pitchFamily="34" charset="-122"/>
                <a:cs typeface="Calibri" pitchFamily="34" charset="-120"/>
              </a:rPr>
              <a:t>PRR = 2.0</a:t>
            </a:r>
            <a:endParaRPr lang="en-US" sz="750" dirty="0"/>
          </a:p>
        </p:txBody>
      </p:sp>
      <p:sp>
        <p:nvSpPr>
          <p:cNvPr id="10" name="Text 8"/>
          <p:cNvSpPr/>
          <p:nvPr/>
        </p:nvSpPr>
        <p:spPr>
          <a:xfrm>
            <a:off x="146304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0.5</a:t>
            </a:r>
            <a:endParaRPr lang="en-US" sz="700" dirty="0"/>
          </a:p>
        </p:txBody>
      </p:sp>
      <p:sp>
        <p:nvSpPr>
          <p:cNvPr id="11" name="Text 9"/>
          <p:cNvSpPr/>
          <p:nvPr/>
        </p:nvSpPr>
        <p:spPr>
          <a:xfrm>
            <a:off x="256032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1.0</a:t>
            </a:r>
            <a:endParaRPr lang="en-US" sz="700" dirty="0"/>
          </a:p>
        </p:txBody>
      </p:sp>
      <p:sp>
        <p:nvSpPr>
          <p:cNvPr id="12" name="Text 10"/>
          <p:cNvSpPr/>
          <p:nvPr/>
        </p:nvSpPr>
        <p:spPr>
          <a:xfrm>
            <a:off x="365760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1.5</a:t>
            </a:r>
            <a:endParaRPr lang="en-US" sz="700" dirty="0"/>
          </a:p>
        </p:txBody>
      </p:sp>
      <p:sp>
        <p:nvSpPr>
          <p:cNvPr id="13" name="Text 11"/>
          <p:cNvSpPr/>
          <p:nvPr/>
        </p:nvSpPr>
        <p:spPr>
          <a:xfrm>
            <a:off x="475488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2.0</a:t>
            </a:r>
            <a:endParaRPr lang="en-US" sz="700" dirty="0"/>
          </a:p>
        </p:txBody>
      </p:sp>
      <p:sp>
        <p:nvSpPr>
          <p:cNvPr id="14" name="Text 12"/>
          <p:cNvSpPr/>
          <p:nvPr/>
        </p:nvSpPr>
        <p:spPr>
          <a:xfrm>
            <a:off x="585216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2.5</a:t>
            </a:r>
            <a:endParaRPr lang="en-US" sz="700" dirty="0"/>
          </a:p>
        </p:txBody>
      </p:sp>
      <p:sp>
        <p:nvSpPr>
          <p:cNvPr id="15" name="Text 13"/>
          <p:cNvSpPr/>
          <p:nvPr/>
        </p:nvSpPr>
        <p:spPr>
          <a:xfrm>
            <a:off x="6949440" y="4572000"/>
            <a:ext cx="274320" cy="182880"/>
          </a:xfrm>
          <a:prstGeom prst="rect">
            <a:avLst/>
          </a:prstGeom>
          <a:noFill/>
          <a:ln/>
        </p:spPr>
        <p:txBody>
          <a:bodyPr wrap="square" rtlCol="0" anchor="ctr"/>
          <a:lstStyle/>
          <a:p>
            <a:pPr algn="ctr" indent="0" marL="0">
              <a:buNone/>
            </a:pPr>
            <a:r>
              <a:rPr lang="en-US" sz="700" dirty="0">
                <a:solidFill>
                  <a:srgbClr val="8BAFC8"/>
                </a:solidFill>
                <a:latin typeface="Calibri" pitchFamily="34" charset="0"/>
                <a:ea typeface="Calibri" pitchFamily="34" charset="-122"/>
                <a:cs typeface="Calibri" pitchFamily="34" charset="-120"/>
              </a:rPr>
              <a:t>3.0</a:t>
            </a:r>
            <a:endParaRPr lang="en-US" sz="700" dirty="0"/>
          </a:p>
        </p:txBody>
      </p:sp>
      <p:sp>
        <p:nvSpPr>
          <p:cNvPr id="16" name="Text 14"/>
          <p:cNvSpPr/>
          <p:nvPr/>
        </p:nvSpPr>
        <p:spPr>
          <a:xfrm>
            <a:off x="457200" y="4709160"/>
            <a:ext cx="6858000" cy="182880"/>
          </a:xfrm>
          <a:prstGeom prst="rect">
            <a:avLst/>
          </a:prstGeom>
          <a:noFill/>
          <a:ln/>
        </p:spPr>
        <p:txBody>
          <a:bodyPr wrap="square" rtlCol="0" anchor="ctr"/>
          <a:lstStyle/>
          <a:p>
            <a:pPr algn="ctr" indent="0" marL="0">
              <a:buNone/>
            </a:pPr>
            <a:r>
              <a:rPr lang="en-US" sz="800" dirty="0">
                <a:solidFill>
                  <a:srgbClr val="4A6D87"/>
                </a:solidFill>
                <a:latin typeface="Calibri" pitchFamily="34" charset="0"/>
                <a:ea typeface="Calibri" pitchFamily="34" charset="-122"/>
                <a:cs typeface="Calibri" pitchFamily="34" charset="-120"/>
              </a:rPr>
              <a:t>← Decreased Risk    PRR →    Increased Risk →</a:t>
            </a:r>
            <a:endParaRPr lang="en-US" sz="800" dirty="0"/>
          </a:p>
        </p:txBody>
      </p:sp>
      <p:sp>
        <p:nvSpPr>
          <p:cNvPr id="17" name="Text 15"/>
          <p:cNvSpPr/>
          <p:nvPr/>
        </p:nvSpPr>
        <p:spPr>
          <a:xfrm>
            <a:off x="256032" y="1627632"/>
            <a:ext cx="1645920" cy="256032"/>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Semaglutide</a:t>
            </a:r>
            <a:endParaRPr lang="en-US" sz="900" dirty="0"/>
          </a:p>
        </p:txBody>
      </p:sp>
      <p:sp>
        <p:nvSpPr>
          <p:cNvPr id="18" name="Text 16"/>
          <p:cNvSpPr/>
          <p:nvPr/>
        </p:nvSpPr>
        <p:spPr>
          <a:xfrm>
            <a:off x="256032" y="18470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n=61,976</a:t>
            </a:r>
            <a:endParaRPr lang="en-US" sz="700" dirty="0"/>
          </a:p>
        </p:txBody>
      </p:sp>
      <p:sp>
        <p:nvSpPr>
          <p:cNvPr id="19" name="Shape 17"/>
          <p:cNvSpPr/>
          <p:nvPr/>
        </p:nvSpPr>
        <p:spPr>
          <a:xfrm>
            <a:off x="5923483" y="1755648"/>
            <a:ext cx="438912" cy="0"/>
          </a:xfrm>
          <a:prstGeom prst="line">
            <a:avLst/>
          </a:prstGeom>
          <a:noFill/>
          <a:ln w="25400">
            <a:solidFill>
              <a:srgbClr val="FF6B35"/>
            </a:solidFill>
            <a:prstDash val="solid"/>
          </a:ln>
        </p:spPr>
      </p:sp>
      <p:sp>
        <p:nvSpPr>
          <p:cNvPr id="20" name="Shape 18"/>
          <p:cNvSpPr/>
          <p:nvPr/>
        </p:nvSpPr>
        <p:spPr>
          <a:xfrm>
            <a:off x="6051865" y="1673352"/>
            <a:ext cx="164592" cy="164592"/>
          </a:xfrm>
          <a:prstGeom prst="ellipse">
            <a:avLst/>
          </a:prstGeom>
          <a:solidFill>
            <a:srgbClr val="FF6B35"/>
          </a:solidFill>
          <a:ln w="12700">
            <a:solidFill>
              <a:srgbClr val="0A1628"/>
            </a:solidFill>
            <a:prstDash val="solid"/>
          </a:ln>
        </p:spPr>
      </p:sp>
      <p:sp>
        <p:nvSpPr>
          <p:cNvPr id="21" name="Text 19"/>
          <p:cNvSpPr/>
          <p:nvPr/>
        </p:nvSpPr>
        <p:spPr>
          <a:xfrm>
            <a:off x="6903720" y="1664208"/>
            <a:ext cx="1371600" cy="256032"/>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PRR=2.566</a:t>
            </a:r>
            <a:endParaRPr lang="en-US" sz="900" dirty="0"/>
          </a:p>
        </p:txBody>
      </p:sp>
      <p:sp>
        <p:nvSpPr>
          <p:cNvPr id="22" name="Shape 20"/>
          <p:cNvSpPr/>
          <p:nvPr/>
        </p:nvSpPr>
        <p:spPr>
          <a:xfrm>
            <a:off x="6903720" y="1865376"/>
            <a:ext cx="777240" cy="164592"/>
          </a:xfrm>
          <a:prstGeom prst="rect">
            <a:avLst/>
          </a:prstGeom>
          <a:solidFill>
            <a:srgbClr val="FF6B35"/>
          </a:solidFill>
          <a:ln w="12700">
            <a:solidFill>
              <a:srgbClr val="FF6B35"/>
            </a:solidFill>
            <a:prstDash val="solid"/>
          </a:ln>
        </p:spPr>
      </p:sp>
      <p:sp>
        <p:nvSpPr>
          <p:cNvPr id="23" name="Text 21"/>
          <p:cNvSpPr/>
          <p:nvPr/>
        </p:nvSpPr>
        <p:spPr>
          <a:xfrm>
            <a:off x="6903720" y="1865376"/>
            <a:ext cx="777240" cy="164592"/>
          </a:xfrm>
          <a:prstGeom prst="rect">
            <a:avLst/>
          </a:prstGeom>
          <a:noFill/>
          <a:ln/>
        </p:spPr>
        <p:txBody>
          <a:bodyPr wrap="square" lIns="0" tIns="0" rIns="0" bIns="0" rtlCol="0" anchor="ctr"/>
          <a:lstStyle/>
          <a:p>
            <a:pPr algn="ctr" indent="0" marL="0">
              <a:buNone/>
            </a:pPr>
            <a:r>
              <a:rPr lang="en-US" sz="700" b="1" dirty="0">
                <a:solidFill>
                  <a:srgbClr val="0A1628"/>
                </a:solidFill>
                <a:latin typeface="Calibri" pitchFamily="34" charset="0"/>
                <a:ea typeface="Calibri" pitchFamily="34" charset="-122"/>
                <a:cs typeface="Calibri" pitchFamily="34" charset="-120"/>
              </a:rPr>
              <a:t>SIGNAL ✓</a:t>
            </a:r>
            <a:endParaRPr lang="en-US" sz="700" dirty="0"/>
          </a:p>
        </p:txBody>
      </p:sp>
      <p:sp>
        <p:nvSpPr>
          <p:cNvPr id="24" name="Text 22"/>
          <p:cNvSpPr/>
          <p:nvPr/>
        </p:nvSpPr>
        <p:spPr>
          <a:xfrm>
            <a:off x="256032" y="2084832"/>
            <a:ext cx="1645920" cy="256032"/>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Liraglutide</a:t>
            </a:r>
            <a:endParaRPr lang="en-US" sz="900" dirty="0"/>
          </a:p>
        </p:txBody>
      </p:sp>
      <p:sp>
        <p:nvSpPr>
          <p:cNvPr id="25" name="Text 23"/>
          <p:cNvSpPr/>
          <p:nvPr/>
        </p:nvSpPr>
        <p:spPr>
          <a:xfrm>
            <a:off x="256032" y="23042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n=6,738</a:t>
            </a:r>
            <a:endParaRPr lang="en-US" sz="700" dirty="0"/>
          </a:p>
        </p:txBody>
      </p:sp>
      <p:sp>
        <p:nvSpPr>
          <p:cNvPr id="26" name="Shape 24"/>
          <p:cNvSpPr/>
          <p:nvPr/>
        </p:nvSpPr>
        <p:spPr>
          <a:xfrm>
            <a:off x="4584802" y="2212848"/>
            <a:ext cx="1207008" cy="0"/>
          </a:xfrm>
          <a:prstGeom prst="line">
            <a:avLst/>
          </a:prstGeom>
          <a:noFill/>
          <a:ln w="25400">
            <a:solidFill>
              <a:srgbClr val="FF6B35"/>
            </a:solidFill>
            <a:prstDash val="solid"/>
          </a:ln>
        </p:spPr>
      </p:sp>
      <p:sp>
        <p:nvSpPr>
          <p:cNvPr id="27" name="Shape 25"/>
          <p:cNvSpPr/>
          <p:nvPr/>
        </p:nvSpPr>
        <p:spPr>
          <a:xfrm>
            <a:off x="5064313" y="2130552"/>
            <a:ext cx="164592" cy="164592"/>
          </a:xfrm>
          <a:prstGeom prst="ellipse">
            <a:avLst/>
          </a:prstGeom>
          <a:solidFill>
            <a:srgbClr val="FF6B35"/>
          </a:solidFill>
          <a:ln w="12700">
            <a:solidFill>
              <a:srgbClr val="0A1628"/>
            </a:solidFill>
            <a:prstDash val="solid"/>
          </a:ln>
        </p:spPr>
      </p:sp>
      <p:sp>
        <p:nvSpPr>
          <p:cNvPr id="28" name="Text 26"/>
          <p:cNvSpPr/>
          <p:nvPr/>
        </p:nvSpPr>
        <p:spPr>
          <a:xfrm>
            <a:off x="6903720" y="2121408"/>
            <a:ext cx="1371600" cy="256032"/>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PRR=2.116</a:t>
            </a:r>
            <a:endParaRPr lang="en-US" sz="900" dirty="0"/>
          </a:p>
        </p:txBody>
      </p:sp>
      <p:sp>
        <p:nvSpPr>
          <p:cNvPr id="29" name="Shape 27"/>
          <p:cNvSpPr/>
          <p:nvPr/>
        </p:nvSpPr>
        <p:spPr>
          <a:xfrm>
            <a:off x="6903720" y="2322576"/>
            <a:ext cx="777240" cy="164592"/>
          </a:xfrm>
          <a:prstGeom prst="rect">
            <a:avLst/>
          </a:prstGeom>
          <a:solidFill>
            <a:srgbClr val="FF6B35"/>
          </a:solidFill>
          <a:ln w="12700">
            <a:solidFill>
              <a:srgbClr val="FF6B35"/>
            </a:solidFill>
            <a:prstDash val="solid"/>
          </a:ln>
        </p:spPr>
      </p:sp>
      <p:sp>
        <p:nvSpPr>
          <p:cNvPr id="30" name="Text 28"/>
          <p:cNvSpPr/>
          <p:nvPr/>
        </p:nvSpPr>
        <p:spPr>
          <a:xfrm>
            <a:off x="6903720" y="2322576"/>
            <a:ext cx="777240" cy="164592"/>
          </a:xfrm>
          <a:prstGeom prst="rect">
            <a:avLst/>
          </a:prstGeom>
          <a:noFill/>
          <a:ln/>
        </p:spPr>
        <p:txBody>
          <a:bodyPr wrap="square" lIns="0" tIns="0" rIns="0" bIns="0" rtlCol="0" anchor="ctr"/>
          <a:lstStyle/>
          <a:p>
            <a:pPr algn="ctr" indent="0" marL="0">
              <a:buNone/>
            </a:pPr>
            <a:r>
              <a:rPr lang="en-US" sz="700" b="1" dirty="0">
                <a:solidFill>
                  <a:srgbClr val="0A1628"/>
                </a:solidFill>
                <a:latin typeface="Calibri" pitchFamily="34" charset="0"/>
                <a:ea typeface="Calibri" pitchFamily="34" charset="-122"/>
                <a:cs typeface="Calibri" pitchFamily="34" charset="-120"/>
              </a:rPr>
              <a:t>SIGNAL ✓</a:t>
            </a:r>
            <a:endParaRPr lang="en-US" sz="700" dirty="0"/>
          </a:p>
        </p:txBody>
      </p:sp>
      <p:sp>
        <p:nvSpPr>
          <p:cNvPr id="31" name="Text 29"/>
          <p:cNvSpPr/>
          <p:nvPr/>
        </p:nvSpPr>
        <p:spPr>
          <a:xfrm>
            <a:off x="256032" y="2542032"/>
            <a:ext cx="1645920" cy="256032"/>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Dulaglutide</a:t>
            </a:r>
            <a:endParaRPr lang="en-US" sz="900" dirty="0"/>
          </a:p>
        </p:txBody>
      </p:sp>
      <p:sp>
        <p:nvSpPr>
          <p:cNvPr id="32" name="Text 30"/>
          <p:cNvSpPr/>
          <p:nvPr/>
        </p:nvSpPr>
        <p:spPr>
          <a:xfrm>
            <a:off x="256032" y="27614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n=23,579</a:t>
            </a:r>
            <a:endParaRPr lang="en-US" sz="700" dirty="0"/>
          </a:p>
        </p:txBody>
      </p:sp>
      <p:sp>
        <p:nvSpPr>
          <p:cNvPr id="33" name="Shape 31"/>
          <p:cNvSpPr/>
          <p:nvPr/>
        </p:nvSpPr>
        <p:spPr>
          <a:xfrm>
            <a:off x="3399739" y="2670048"/>
            <a:ext cx="548640" cy="0"/>
          </a:xfrm>
          <a:prstGeom prst="line">
            <a:avLst/>
          </a:prstGeom>
          <a:noFill/>
          <a:ln w="25400">
            <a:solidFill>
              <a:srgbClr val="00A896"/>
            </a:solidFill>
            <a:prstDash val="solid"/>
          </a:ln>
        </p:spPr>
      </p:sp>
      <p:sp>
        <p:nvSpPr>
          <p:cNvPr id="34" name="Shape 32"/>
          <p:cNvSpPr/>
          <p:nvPr/>
        </p:nvSpPr>
        <p:spPr>
          <a:xfrm>
            <a:off x="3582985" y="2587752"/>
            <a:ext cx="164592" cy="164592"/>
          </a:xfrm>
          <a:prstGeom prst="ellipse">
            <a:avLst/>
          </a:prstGeom>
          <a:solidFill>
            <a:srgbClr val="00A896"/>
          </a:solidFill>
          <a:ln w="12700">
            <a:solidFill>
              <a:srgbClr val="0A1628"/>
            </a:solidFill>
            <a:prstDash val="solid"/>
          </a:ln>
        </p:spPr>
      </p:sp>
      <p:sp>
        <p:nvSpPr>
          <p:cNvPr id="35" name="Text 33"/>
          <p:cNvSpPr/>
          <p:nvPr/>
        </p:nvSpPr>
        <p:spPr>
          <a:xfrm>
            <a:off x="6903720" y="2578608"/>
            <a:ext cx="1371600" cy="256032"/>
          </a:xfrm>
          <a:prstGeom prst="rect">
            <a:avLst/>
          </a:prstGeom>
          <a:noFill/>
          <a:ln/>
        </p:spPr>
        <p:txBody>
          <a:bodyPr wrap="square" rtlCol="0" anchor="ctr"/>
          <a:lstStyle/>
          <a:p>
            <a:pPr indent="0" marL="0">
              <a:buNone/>
            </a:pPr>
            <a:r>
              <a:rPr lang="en-US" sz="900" dirty="0">
                <a:solidFill>
                  <a:srgbClr val="00A896"/>
                </a:solidFill>
                <a:latin typeface="Calibri" pitchFamily="34" charset="0"/>
                <a:ea typeface="Calibri" pitchFamily="34" charset="-122"/>
                <a:cs typeface="Calibri" pitchFamily="34" charset="-120"/>
              </a:rPr>
              <a:t>PRR=1.441</a:t>
            </a:r>
            <a:endParaRPr lang="en-US" sz="900" dirty="0"/>
          </a:p>
        </p:txBody>
      </p:sp>
      <p:sp>
        <p:nvSpPr>
          <p:cNvPr id="36" name="Text 34"/>
          <p:cNvSpPr/>
          <p:nvPr/>
        </p:nvSpPr>
        <p:spPr>
          <a:xfrm>
            <a:off x="256032" y="2999232"/>
            <a:ext cx="1645920" cy="256032"/>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Tirzepatide</a:t>
            </a:r>
            <a:endParaRPr lang="en-US" sz="900" dirty="0"/>
          </a:p>
        </p:txBody>
      </p:sp>
      <p:sp>
        <p:nvSpPr>
          <p:cNvPr id="37" name="Text 35"/>
          <p:cNvSpPr/>
          <p:nvPr/>
        </p:nvSpPr>
        <p:spPr>
          <a:xfrm>
            <a:off x="256032" y="32186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n=136,324</a:t>
            </a:r>
            <a:endParaRPr lang="en-US" sz="700" dirty="0"/>
          </a:p>
        </p:txBody>
      </p:sp>
      <p:sp>
        <p:nvSpPr>
          <p:cNvPr id="38" name="Shape 36"/>
          <p:cNvSpPr/>
          <p:nvPr/>
        </p:nvSpPr>
        <p:spPr>
          <a:xfrm>
            <a:off x="2631643" y="3127248"/>
            <a:ext cx="175565" cy="0"/>
          </a:xfrm>
          <a:prstGeom prst="line">
            <a:avLst/>
          </a:prstGeom>
          <a:noFill/>
          <a:ln w="25400">
            <a:solidFill>
              <a:srgbClr val="00A896"/>
            </a:solidFill>
            <a:prstDash val="solid"/>
          </a:ln>
        </p:spPr>
      </p:sp>
      <p:sp>
        <p:nvSpPr>
          <p:cNvPr id="39" name="Shape 37"/>
          <p:cNvSpPr/>
          <p:nvPr/>
        </p:nvSpPr>
        <p:spPr>
          <a:xfrm>
            <a:off x="2637130" y="3044952"/>
            <a:ext cx="164592" cy="164592"/>
          </a:xfrm>
          <a:prstGeom prst="ellipse">
            <a:avLst/>
          </a:prstGeom>
          <a:solidFill>
            <a:srgbClr val="00A896"/>
          </a:solidFill>
          <a:ln w="12700">
            <a:solidFill>
              <a:srgbClr val="0A1628"/>
            </a:solidFill>
            <a:prstDash val="solid"/>
          </a:ln>
        </p:spPr>
      </p:sp>
      <p:sp>
        <p:nvSpPr>
          <p:cNvPr id="40" name="Text 38"/>
          <p:cNvSpPr/>
          <p:nvPr/>
        </p:nvSpPr>
        <p:spPr>
          <a:xfrm>
            <a:off x="6903720" y="3035808"/>
            <a:ext cx="1371600" cy="256032"/>
          </a:xfrm>
          <a:prstGeom prst="rect">
            <a:avLst/>
          </a:prstGeom>
          <a:noFill/>
          <a:ln/>
        </p:spPr>
        <p:txBody>
          <a:bodyPr wrap="square" rtlCol="0" anchor="ctr"/>
          <a:lstStyle/>
          <a:p>
            <a:pPr indent="0" marL="0">
              <a:buNone/>
            </a:pPr>
            <a:r>
              <a:rPr lang="en-US" sz="900" dirty="0">
                <a:solidFill>
                  <a:srgbClr val="00A896"/>
                </a:solidFill>
                <a:latin typeface="Calibri" pitchFamily="34" charset="0"/>
                <a:ea typeface="Calibri" pitchFamily="34" charset="-122"/>
                <a:cs typeface="Calibri" pitchFamily="34" charset="-120"/>
              </a:rPr>
              <a:t>PRR=1.010</a:t>
            </a:r>
            <a:endParaRPr lang="en-US" sz="900" dirty="0"/>
          </a:p>
        </p:txBody>
      </p:sp>
      <p:sp>
        <p:nvSpPr>
          <p:cNvPr id="41" name="Text 39"/>
          <p:cNvSpPr/>
          <p:nvPr/>
        </p:nvSpPr>
        <p:spPr>
          <a:xfrm>
            <a:off x="256032" y="3456432"/>
            <a:ext cx="1645920" cy="256032"/>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Exenatide</a:t>
            </a:r>
            <a:endParaRPr lang="en-US" sz="900" dirty="0"/>
          </a:p>
        </p:txBody>
      </p:sp>
      <p:sp>
        <p:nvSpPr>
          <p:cNvPr id="42" name="Text 40"/>
          <p:cNvSpPr/>
          <p:nvPr/>
        </p:nvSpPr>
        <p:spPr>
          <a:xfrm>
            <a:off x="256032" y="36758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n=2,990</a:t>
            </a:r>
            <a:endParaRPr lang="en-US" sz="700" dirty="0"/>
          </a:p>
        </p:txBody>
      </p:sp>
      <p:sp>
        <p:nvSpPr>
          <p:cNvPr id="43" name="Shape 41"/>
          <p:cNvSpPr/>
          <p:nvPr/>
        </p:nvSpPr>
        <p:spPr>
          <a:xfrm>
            <a:off x="875995" y="3584448"/>
            <a:ext cx="680314" cy="0"/>
          </a:xfrm>
          <a:prstGeom prst="line">
            <a:avLst/>
          </a:prstGeom>
          <a:noFill/>
          <a:ln w="25400">
            <a:solidFill>
              <a:srgbClr val="00A896"/>
            </a:solidFill>
            <a:prstDash val="solid"/>
          </a:ln>
        </p:spPr>
      </p:sp>
      <p:sp>
        <p:nvSpPr>
          <p:cNvPr id="44" name="Shape 42"/>
          <p:cNvSpPr/>
          <p:nvPr/>
        </p:nvSpPr>
        <p:spPr>
          <a:xfrm>
            <a:off x="1043879" y="3502152"/>
            <a:ext cx="164592" cy="164592"/>
          </a:xfrm>
          <a:prstGeom prst="ellipse">
            <a:avLst/>
          </a:prstGeom>
          <a:solidFill>
            <a:srgbClr val="00A896"/>
          </a:solidFill>
          <a:ln w="12700">
            <a:solidFill>
              <a:srgbClr val="0A1628"/>
            </a:solidFill>
            <a:prstDash val="solid"/>
          </a:ln>
        </p:spPr>
      </p:sp>
      <p:sp>
        <p:nvSpPr>
          <p:cNvPr id="45" name="Text 43"/>
          <p:cNvSpPr/>
          <p:nvPr/>
        </p:nvSpPr>
        <p:spPr>
          <a:xfrm>
            <a:off x="6903720" y="3493008"/>
            <a:ext cx="1371600" cy="256032"/>
          </a:xfrm>
          <a:prstGeom prst="rect">
            <a:avLst/>
          </a:prstGeom>
          <a:noFill/>
          <a:ln/>
        </p:spPr>
        <p:txBody>
          <a:bodyPr wrap="square" rtlCol="0" anchor="ctr"/>
          <a:lstStyle/>
          <a:p>
            <a:pPr indent="0" marL="0">
              <a:buNone/>
            </a:pPr>
            <a:r>
              <a:rPr lang="en-US" sz="900" dirty="0">
                <a:solidFill>
                  <a:srgbClr val="00A896"/>
                </a:solidFill>
                <a:latin typeface="Calibri" pitchFamily="34" charset="0"/>
                <a:ea typeface="Calibri" pitchFamily="34" charset="-122"/>
                <a:cs typeface="Calibri" pitchFamily="34" charset="-120"/>
              </a:rPr>
              <a:t>PRR=0.284</a:t>
            </a:r>
            <a:endParaRPr lang="en-US" sz="900" dirty="0"/>
          </a:p>
        </p:txBody>
      </p:sp>
      <p:sp>
        <p:nvSpPr>
          <p:cNvPr id="46" name="Text 44"/>
          <p:cNvSpPr/>
          <p:nvPr/>
        </p:nvSpPr>
        <p:spPr>
          <a:xfrm>
            <a:off x="256032" y="3913632"/>
            <a:ext cx="1645920" cy="256032"/>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Pooled GLP-1</a:t>
            </a:r>
            <a:endParaRPr lang="en-US" sz="900" dirty="0"/>
          </a:p>
        </p:txBody>
      </p:sp>
      <p:sp>
        <p:nvSpPr>
          <p:cNvPr id="47" name="Text 45"/>
          <p:cNvSpPr/>
          <p:nvPr/>
        </p:nvSpPr>
        <p:spPr>
          <a:xfrm>
            <a:off x="256032" y="4133088"/>
            <a:ext cx="1645920" cy="182880"/>
          </a:xfrm>
          <a:prstGeom prst="rect">
            <a:avLst/>
          </a:prstGeom>
          <a:noFill/>
          <a:ln/>
        </p:spPr>
        <p:txBody>
          <a:bodyPr wrap="square" rtlCol="0" anchor="ctr"/>
          <a:lstStyle/>
          <a:p>
            <a:pPr indent="0" marL="0">
              <a:buNone/>
            </a:pPr>
            <a:r>
              <a:rPr lang="en-US" sz="700" dirty="0">
                <a:solidFill>
                  <a:srgbClr val="4A6D87"/>
                </a:solidFill>
                <a:latin typeface="Calibri" pitchFamily="34" charset="0"/>
                <a:ea typeface="Calibri" pitchFamily="34" charset="-122"/>
                <a:cs typeface="Calibri" pitchFamily="34" charset="-120"/>
              </a:rPr>
              <a:t>n=206,974</a:t>
            </a:r>
            <a:endParaRPr lang="en-US" sz="700" dirty="0"/>
          </a:p>
        </p:txBody>
      </p:sp>
      <p:sp>
        <p:nvSpPr>
          <p:cNvPr id="48" name="Shape 46"/>
          <p:cNvSpPr/>
          <p:nvPr/>
        </p:nvSpPr>
        <p:spPr>
          <a:xfrm>
            <a:off x="3358043" y="4041648"/>
            <a:ext cx="280904" cy="0"/>
          </a:xfrm>
          <a:prstGeom prst="line">
            <a:avLst/>
          </a:prstGeom>
          <a:noFill/>
          <a:ln w="25400">
            <a:solidFill>
              <a:srgbClr val="FFD166"/>
            </a:solidFill>
            <a:prstDash val="solid"/>
          </a:ln>
        </p:spPr>
      </p:sp>
      <p:sp>
        <p:nvSpPr>
          <p:cNvPr id="49" name="Shape 47"/>
          <p:cNvSpPr/>
          <p:nvPr/>
        </p:nvSpPr>
        <p:spPr>
          <a:xfrm>
            <a:off x="3411809" y="3959352"/>
            <a:ext cx="164592" cy="164592"/>
          </a:xfrm>
          <a:prstGeom prst="ellipse">
            <a:avLst/>
          </a:prstGeom>
          <a:solidFill>
            <a:srgbClr val="FFD166"/>
          </a:solidFill>
          <a:ln w="12700">
            <a:solidFill>
              <a:srgbClr val="0A1628"/>
            </a:solidFill>
            <a:prstDash val="solid"/>
          </a:ln>
        </p:spPr>
      </p:sp>
      <p:sp>
        <p:nvSpPr>
          <p:cNvPr id="50" name="Text 48"/>
          <p:cNvSpPr/>
          <p:nvPr/>
        </p:nvSpPr>
        <p:spPr>
          <a:xfrm>
            <a:off x="6903720" y="3950208"/>
            <a:ext cx="1371600" cy="256032"/>
          </a:xfrm>
          <a:prstGeom prst="rect">
            <a:avLst/>
          </a:prstGeom>
          <a:noFill/>
          <a:ln/>
        </p:spPr>
        <p:txBody>
          <a:bodyPr wrap="square" rtlCol="0" anchor="ctr"/>
          <a:lstStyle/>
          <a:p>
            <a:pPr indent="0" marL="0">
              <a:buNone/>
            </a:pPr>
            <a:r>
              <a:rPr lang="en-US" sz="900" dirty="0">
                <a:solidFill>
                  <a:srgbClr val="FFD166"/>
                </a:solidFill>
                <a:latin typeface="Calibri" pitchFamily="34" charset="0"/>
                <a:ea typeface="Calibri" pitchFamily="34" charset="-122"/>
                <a:cs typeface="Calibri" pitchFamily="34" charset="-120"/>
              </a:rPr>
              <a:t>PRR=1.363</a:t>
            </a:r>
            <a:endParaRPr lang="en-US" sz="900" dirty="0"/>
          </a:p>
        </p:txBody>
      </p:sp>
      <p:sp>
        <p:nvSpPr>
          <p:cNvPr id="51" name="Text 49"/>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12 / 24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4: STATISTICAL MINING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Statistical Significance vs. Clinical Effect</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p &lt; 10⁻³⁸ — but statistical significance ≠ large clinical impact</a:t>
            </a:r>
            <a:endParaRPr lang="en-US" sz="1300" dirty="0"/>
          </a:p>
        </p:txBody>
      </p:sp>
      <p:sp>
        <p:nvSpPr>
          <p:cNvPr id="7" name="Shape 5"/>
          <p:cNvSpPr/>
          <p:nvPr/>
        </p:nvSpPr>
        <p:spPr>
          <a:xfrm>
            <a:off x="228600" y="1417320"/>
            <a:ext cx="4160520" cy="2286000"/>
          </a:xfrm>
          <a:prstGeom prst="rect">
            <a:avLst/>
          </a:prstGeom>
          <a:solidFill>
            <a:srgbClr val="0F2040"/>
          </a:solidFill>
          <a:ln w="12700">
            <a:solidFill>
              <a:srgbClr val="00A896"/>
            </a:solidFill>
            <a:prstDash val="solid"/>
          </a:ln>
        </p:spPr>
      </p:sp>
      <p:sp>
        <p:nvSpPr>
          <p:cNvPr id="8" name="Text 6"/>
          <p:cNvSpPr/>
          <p:nvPr/>
        </p:nvSpPr>
        <p:spPr>
          <a:xfrm>
            <a:off x="365760" y="1508760"/>
            <a:ext cx="3840480" cy="256032"/>
          </a:xfrm>
          <a:prstGeom prst="rect">
            <a:avLst/>
          </a:prstGeom>
          <a:noFill/>
          <a:ln/>
        </p:spPr>
        <p:txBody>
          <a:bodyPr wrap="square" rtlCol="0" anchor="ctr"/>
          <a:lstStyle/>
          <a:p>
            <a:pPr indent="0" marL="0">
              <a:buNone/>
            </a:pPr>
            <a:r>
              <a:rPr lang="en-US" sz="1000" b="1" spc="100" kern="0" dirty="0">
                <a:solidFill>
                  <a:srgbClr val="00A896"/>
                </a:solidFill>
                <a:latin typeface="Calibri" pitchFamily="34" charset="0"/>
                <a:ea typeface="Calibri" pitchFamily="34" charset="-122"/>
                <a:cs typeface="Calibri" pitchFamily="34" charset="-120"/>
              </a:rPr>
              <a:t>CHI-SQUARE TEST</a:t>
            </a:r>
            <a:endParaRPr lang="en-US" sz="1000" dirty="0"/>
          </a:p>
        </p:txBody>
      </p:sp>
      <p:sp>
        <p:nvSpPr>
          <p:cNvPr id="9" name="Text 7"/>
          <p:cNvSpPr/>
          <p:nvPr/>
        </p:nvSpPr>
        <p:spPr>
          <a:xfrm>
            <a:off x="365760" y="1828800"/>
            <a:ext cx="3840480" cy="256032"/>
          </a:xfrm>
          <a:prstGeom prst="rect">
            <a:avLst/>
          </a:prstGeom>
          <a:noFill/>
          <a:ln/>
        </p:spPr>
        <p:txBody>
          <a:bodyPr wrap="square" rtlCol="0" anchor="ctr"/>
          <a:lstStyle/>
          <a:p>
            <a:pPr indent="0" marL="0">
              <a:buNone/>
            </a:pPr>
            <a:r>
              <a:rPr lang="en-US" sz="1000" i="1" dirty="0">
                <a:solidFill>
                  <a:srgbClr val="8BAFC8"/>
                </a:solidFill>
                <a:latin typeface="Calibri" pitchFamily="34" charset="0"/>
                <a:ea typeface="Calibri" pitchFamily="34" charset="-122"/>
                <a:cs typeface="Calibri" pitchFamily="34" charset="-120"/>
              </a:rPr>
              <a:t>H₀: GI severe rate is independent of cohort</a:t>
            </a:r>
            <a:endParaRPr lang="en-US" sz="1000" dirty="0"/>
          </a:p>
        </p:txBody>
      </p:sp>
      <p:sp>
        <p:nvSpPr>
          <p:cNvPr id="10" name="Text 8"/>
          <p:cNvSpPr/>
          <p:nvPr/>
        </p:nvSpPr>
        <p:spPr>
          <a:xfrm>
            <a:off x="365760" y="2148840"/>
            <a:ext cx="2286000" cy="292608"/>
          </a:xfrm>
          <a:prstGeom prst="rect">
            <a:avLst/>
          </a:prstGeom>
          <a:noFill/>
          <a:ln/>
        </p:spPr>
        <p:txBody>
          <a:bodyPr wrap="square" rtlCol="0" anchor="ctr"/>
          <a:lstStyle/>
          <a:p>
            <a:pPr indent="0" marL="0">
              <a:buNone/>
            </a:pPr>
            <a:r>
              <a:rPr lang="en-US" sz="1100" dirty="0">
                <a:solidFill>
                  <a:srgbClr val="8BAFC8"/>
                </a:solidFill>
                <a:latin typeface="Calibri" pitchFamily="34" charset="0"/>
                <a:ea typeface="Calibri" pitchFamily="34" charset="-122"/>
                <a:cs typeface="Calibri" pitchFamily="34" charset="-120"/>
              </a:rPr>
              <a:t>χ² statistic</a:t>
            </a:r>
            <a:endParaRPr lang="en-US" sz="1100" dirty="0"/>
          </a:p>
        </p:txBody>
      </p:sp>
      <p:sp>
        <p:nvSpPr>
          <p:cNvPr id="11" name="Text 9"/>
          <p:cNvSpPr/>
          <p:nvPr/>
        </p:nvSpPr>
        <p:spPr>
          <a:xfrm>
            <a:off x="2651760" y="2148840"/>
            <a:ext cx="1645920" cy="292608"/>
          </a:xfrm>
          <a:prstGeom prst="rect">
            <a:avLst/>
          </a:prstGeom>
          <a:noFill/>
          <a:ln/>
        </p:spPr>
        <p:txBody>
          <a:bodyPr wrap="square" rtlCol="0" anchor="ctr"/>
          <a:lstStyle/>
          <a:p>
            <a:pPr indent="0" marL="0">
              <a:buNone/>
            </a:pPr>
            <a:r>
              <a:rPr lang="en-US" sz="1100" b="1" dirty="0">
                <a:solidFill>
                  <a:srgbClr val="E8F4F8"/>
                </a:solidFill>
                <a:latin typeface="Calibri" pitchFamily="34" charset="0"/>
                <a:ea typeface="Calibri" pitchFamily="34" charset="-122"/>
                <a:cs typeface="Calibri" pitchFamily="34" charset="-120"/>
              </a:rPr>
              <a:t>166.634</a:t>
            </a:r>
            <a:endParaRPr lang="en-US" sz="1100" dirty="0"/>
          </a:p>
        </p:txBody>
      </p:sp>
      <p:sp>
        <p:nvSpPr>
          <p:cNvPr id="12" name="Text 10"/>
          <p:cNvSpPr/>
          <p:nvPr/>
        </p:nvSpPr>
        <p:spPr>
          <a:xfrm>
            <a:off x="365760" y="2496312"/>
            <a:ext cx="2286000" cy="292608"/>
          </a:xfrm>
          <a:prstGeom prst="rect">
            <a:avLst/>
          </a:prstGeom>
          <a:noFill/>
          <a:ln/>
        </p:spPr>
        <p:txBody>
          <a:bodyPr wrap="square" rtlCol="0" anchor="ctr"/>
          <a:lstStyle/>
          <a:p>
            <a:pPr indent="0" marL="0">
              <a:buNone/>
            </a:pPr>
            <a:r>
              <a:rPr lang="en-US" sz="1100" dirty="0">
                <a:solidFill>
                  <a:srgbClr val="8BAFC8"/>
                </a:solidFill>
                <a:latin typeface="Calibri" pitchFamily="34" charset="0"/>
                <a:ea typeface="Calibri" pitchFamily="34" charset="-122"/>
                <a:cs typeface="Calibri" pitchFamily="34" charset="-120"/>
              </a:rPr>
              <a:t>Degrees of freedom</a:t>
            </a:r>
            <a:endParaRPr lang="en-US" sz="1100" dirty="0"/>
          </a:p>
        </p:txBody>
      </p:sp>
      <p:sp>
        <p:nvSpPr>
          <p:cNvPr id="13" name="Text 11"/>
          <p:cNvSpPr/>
          <p:nvPr/>
        </p:nvSpPr>
        <p:spPr>
          <a:xfrm>
            <a:off x="2651760" y="2496312"/>
            <a:ext cx="1645920" cy="292608"/>
          </a:xfrm>
          <a:prstGeom prst="rect">
            <a:avLst/>
          </a:prstGeom>
          <a:noFill/>
          <a:ln/>
        </p:spPr>
        <p:txBody>
          <a:bodyPr wrap="square" rtlCol="0" anchor="ctr"/>
          <a:lstStyle/>
          <a:p>
            <a:pPr indent="0" marL="0">
              <a:buNone/>
            </a:pPr>
            <a:r>
              <a:rPr lang="en-US" sz="1100" b="1" dirty="0">
                <a:solidFill>
                  <a:srgbClr val="E8F4F8"/>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365760" y="2843784"/>
            <a:ext cx="2286000" cy="292608"/>
          </a:xfrm>
          <a:prstGeom prst="rect">
            <a:avLst/>
          </a:prstGeom>
          <a:noFill/>
          <a:ln/>
        </p:spPr>
        <p:txBody>
          <a:bodyPr wrap="square" rtlCol="0" anchor="ctr"/>
          <a:lstStyle/>
          <a:p>
            <a:pPr indent="0" marL="0">
              <a:buNone/>
            </a:pPr>
            <a:r>
              <a:rPr lang="en-US" sz="1100" dirty="0">
                <a:solidFill>
                  <a:srgbClr val="8BAFC8"/>
                </a:solidFill>
                <a:latin typeface="Calibri" pitchFamily="34" charset="0"/>
                <a:ea typeface="Calibri" pitchFamily="34" charset="-122"/>
                <a:cs typeface="Calibri" pitchFamily="34" charset="-120"/>
              </a:rPr>
              <a:t>p-value</a:t>
            </a:r>
            <a:endParaRPr lang="en-US" sz="1100" dirty="0"/>
          </a:p>
        </p:txBody>
      </p:sp>
      <p:sp>
        <p:nvSpPr>
          <p:cNvPr id="15" name="Text 13"/>
          <p:cNvSpPr/>
          <p:nvPr/>
        </p:nvSpPr>
        <p:spPr>
          <a:xfrm>
            <a:off x="2651760" y="2843784"/>
            <a:ext cx="1645920" cy="292608"/>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4.02 × 10⁻³⁸</a:t>
            </a:r>
            <a:endParaRPr lang="en-US" sz="1100" dirty="0"/>
          </a:p>
        </p:txBody>
      </p:sp>
      <p:sp>
        <p:nvSpPr>
          <p:cNvPr id="16" name="Text 14"/>
          <p:cNvSpPr/>
          <p:nvPr/>
        </p:nvSpPr>
        <p:spPr>
          <a:xfrm>
            <a:off x="365760" y="3191256"/>
            <a:ext cx="2286000" cy="292608"/>
          </a:xfrm>
          <a:prstGeom prst="rect">
            <a:avLst/>
          </a:prstGeom>
          <a:noFill/>
          <a:ln/>
        </p:spPr>
        <p:txBody>
          <a:bodyPr wrap="square" rtlCol="0" anchor="ctr"/>
          <a:lstStyle/>
          <a:p>
            <a:pPr indent="0" marL="0">
              <a:buNone/>
            </a:pPr>
            <a:r>
              <a:rPr lang="en-US" sz="1100" dirty="0">
                <a:solidFill>
                  <a:srgbClr val="8BAFC8"/>
                </a:solidFill>
                <a:latin typeface="Calibri" pitchFamily="34" charset="0"/>
                <a:ea typeface="Calibri" pitchFamily="34" charset="-122"/>
                <a:cs typeface="Calibri" pitchFamily="34" charset="-120"/>
              </a:rPr>
              <a:t>Decision</a:t>
            </a:r>
            <a:endParaRPr lang="en-US" sz="1100" dirty="0"/>
          </a:p>
        </p:txBody>
      </p:sp>
      <p:sp>
        <p:nvSpPr>
          <p:cNvPr id="17" name="Text 15"/>
          <p:cNvSpPr/>
          <p:nvPr/>
        </p:nvSpPr>
        <p:spPr>
          <a:xfrm>
            <a:off x="2651760" y="3191256"/>
            <a:ext cx="1645920" cy="292608"/>
          </a:xfrm>
          <a:prstGeom prst="rect">
            <a:avLst/>
          </a:prstGeom>
          <a:noFill/>
          <a:ln/>
        </p:spPr>
        <p:txBody>
          <a:bodyPr wrap="square"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Reject H₀ ✓</a:t>
            </a:r>
            <a:endParaRPr lang="en-US" sz="1100" dirty="0"/>
          </a:p>
        </p:txBody>
      </p:sp>
      <p:sp>
        <p:nvSpPr>
          <p:cNvPr id="18" name="Shape 16"/>
          <p:cNvSpPr/>
          <p:nvPr/>
        </p:nvSpPr>
        <p:spPr>
          <a:xfrm>
            <a:off x="4663440" y="1417320"/>
            <a:ext cx="4160520" cy="2286000"/>
          </a:xfrm>
          <a:prstGeom prst="rect">
            <a:avLst/>
          </a:prstGeom>
          <a:solidFill>
            <a:srgbClr val="0F2040"/>
          </a:solidFill>
          <a:ln w="12700">
            <a:solidFill>
              <a:srgbClr val="FFD166"/>
            </a:solidFill>
            <a:prstDash val="solid"/>
          </a:ln>
        </p:spPr>
      </p:sp>
      <p:sp>
        <p:nvSpPr>
          <p:cNvPr id="19" name="Text 17"/>
          <p:cNvSpPr/>
          <p:nvPr/>
        </p:nvSpPr>
        <p:spPr>
          <a:xfrm>
            <a:off x="4800600" y="1508760"/>
            <a:ext cx="3840480" cy="256032"/>
          </a:xfrm>
          <a:prstGeom prst="rect">
            <a:avLst/>
          </a:prstGeom>
          <a:noFill/>
          <a:ln/>
        </p:spPr>
        <p:txBody>
          <a:bodyPr wrap="square" rtlCol="0" anchor="ctr"/>
          <a:lstStyle/>
          <a:p>
            <a:pPr indent="0" marL="0">
              <a:buNone/>
            </a:pPr>
            <a:r>
              <a:rPr lang="en-US" sz="1000" b="1" spc="100" kern="0" dirty="0">
                <a:solidFill>
                  <a:srgbClr val="FFD166"/>
                </a:solidFill>
                <a:latin typeface="Calibri" pitchFamily="34" charset="0"/>
                <a:ea typeface="Calibri" pitchFamily="34" charset="-122"/>
                <a:cs typeface="Calibri" pitchFamily="34" charset="-120"/>
              </a:rPr>
              <a:t>EFFECT SIZE: CRAMÉR'S V</a:t>
            </a:r>
            <a:endParaRPr lang="en-US" sz="1000" dirty="0"/>
          </a:p>
        </p:txBody>
      </p:sp>
      <p:sp>
        <p:nvSpPr>
          <p:cNvPr id="20" name="Text 18"/>
          <p:cNvSpPr/>
          <p:nvPr/>
        </p:nvSpPr>
        <p:spPr>
          <a:xfrm>
            <a:off x="4800600" y="1874520"/>
            <a:ext cx="3840480" cy="457200"/>
          </a:xfrm>
          <a:prstGeom prst="rect">
            <a:avLst/>
          </a:prstGeom>
          <a:noFill/>
          <a:ln/>
        </p:spPr>
        <p:txBody>
          <a:bodyPr wrap="square" rtlCol="0" anchor="ctr"/>
          <a:lstStyle/>
          <a:p>
            <a:pPr indent="0" marL="0">
              <a:buNone/>
            </a:pPr>
            <a:r>
              <a:rPr lang="en-US" sz="3200" b="1" dirty="0">
                <a:solidFill>
                  <a:srgbClr val="FFD166"/>
                </a:solidFill>
                <a:latin typeface="Calibri" pitchFamily="34" charset="0"/>
                <a:ea typeface="Calibri" pitchFamily="34" charset="-122"/>
                <a:cs typeface="Calibri" pitchFamily="34" charset="-120"/>
              </a:rPr>
              <a:t>V = 0.0213</a:t>
            </a:r>
            <a:endParaRPr lang="en-US" sz="3200" dirty="0"/>
          </a:p>
        </p:txBody>
      </p:sp>
      <p:sp>
        <p:nvSpPr>
          <p:cNvPr id="21" name="Text 19"/>
          <p:cNvSpPr/>
          <p:nvPr/>
        </p:nvSpPr>
        <p:spPr>
          <a:xfrm>
            <a:off x="4800600" y="2423160"/>
            <a:ext cx="3840480" cy="256032"/>
          </a:xfrm>
          <a:prstGeom prst="rect">
            <a:avLst/>
          </a:prstGeom>
          <a:noFill/>
          <a:ln/>
        </p:spPr>
        <p:txBody>
          <a:bodyPr wrap="square" rtlCol="0" anchor="ctr"/>
          <a:lstStyle/>
          <a:p>
            <a:pPr indent="0" marL="0">
              <a:buNone/>
            </a:pPr>
            <a:r>
              <a:rPr lang="en-US" sz="1200" dirty="0">
                <a:solidFill>
                  <a:srgbClr val="8BAFC8"/>
                </a:solidFill>
                <a:latin typeface="Calibri" pitchFamily="34" charset="0"/>
                <a:ea typeface="Calibri" pitchFamily="34" charset="-122"/>
                <a:cs typeface="Calibri" pitchFamily="34" charset="-120"/>
              </a:rPr>
              <a:t>SMALL EFFECT</a:t>
            </a:r>
            <a:endParaRPr lang="en-US" sz="1200" dirty="0"/>
          </a:p>
        </p:txBody>
      </p:sp>
      <p:sp>
        <p:nvSpPr>
          <p:cNvPr id="22" name="Text 20"/>
          <p:cNvSpPr/>
          <p:nvPr/>
        </p:nvSpPr>
        <p:spPr>
          <a:xfrm>
            <a:off x="4800600" y="2724912"/>
            <a:ext cx="3840480" cy="658368"/>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V &lt; 0.1 = Negligible</a:t>
            </a:r>
            <a:endParaRPr lang="en-US" sz="900" dirty="0"/>
          </a:p>
          <a:p>
            <a:pPr indent="0" marL="0">
              <a:buNone/>
            </a:pPr>
            <a:r>
              <a:rPr lang="en-US" sz="900" dirty="0">
                <a:solidFill>
                  <a:srgbClr val="8BAFC8"/>
                </a:solidFill>
                <a:latin typeface="Calibri" pitchFamily="34" charset="0"/>
                <a:ea typeface="Calibri" pitchFamily="34" charset="-122"/>
                <a:cs typeface="Calibri" pitchFamily="34" charset="-120"/>
              </a:rPr>
              <a:t>0.1–0.3 = Small</a:t>
            </a:r>
            <a:endParaRPr lang="en-US" sz="900" dirty="0"/>
          </a:p>
          <a:p>
            <a:pPr indent="0" marL="0">
              <a:buNone/>
            </a:pPr>
            <a:r>
              <a:rPr lang="en-US" sz="900" dirty="0">
                <a:solidFill>
                  <a:srgbClr val="8BAFC8"/>
                </a:solidFill>
                <a:latin typeface="Calibri" pitchFamily="34" charset="0"/>
                <a:ea typeface="Calibri" pitchFamily="34" charset="-122"/>
                <a:cs typeface="Calibri" pitchFamily="34" charset="-120"/>
              </a:rPr>
              <a:t>0.3–0.5 = Medium</a:t>
            </a:r>
            <a:endParaRPr lang="en-US" sz="900" dirty="0"/>
          </a:p>
        </p:txBody>
      </p:sp>
      <p:sp>
        <p:nvSpPr>
          <p:cNvPr id="23" name="Shape 21"/>
          <p:cNvSpPr/>
          <p:nvPr/>
        </p:nvSpPr>
        <p:spPr>
          <a:xfrm>
            <a:off x="228600" y="3840480"/>
            <a:ext cx="4160520" cy="1005840"/>
          </a:xfrm>
          <a:prstGeom prst="rect">
            <a:avLst/>
          </a:prstGeom>
          <a:solidFill>
            <a:srgbClr val="0F2040"/>
          </a:solidFill>
          <a:ln w="12700">
            <a:solidFill>
              <a:srgbClr val="028090"/>
            </a:solidFill>
            <a:prstDash val="solid"/>
          </a:ln>
        </p:spPr>
      </p:sp>
      <p:sp>
        <p:nvSpPr>
          <p:cNvPr id="24" name="Text 22"/>
          <p:cNvSpPr/>
          <p:nvPr/>
        </p:nvSpPr>
        <p:spPr>
          <a:xfrm>
            <a:off x="365760" y="3931920"/>
            <a:ext cx="3840480" cy="228600"/>
          </a:xfrm>
          <a:prstGeom prst="rect">
            <a:avLst/>
          </a:prstGeom>
          <a:noFill/>
          <a:ln/>
        </p:spPr>
        <p:txBody>
          <a:bodyPr wrap="square" rtlCol="0" anchor="ctr"/>
          <a:lstStyle/>
          <a:p>
            <a:pPr indent="0" marL="0">
              <a:buNone/>
            </a:pPr>
            <a:r>
              <a:rPr lang="en-US" sz="900" b="1" dirty="0">
                <a:solidFill>
                  <a:srgbClr val="00A896"/>
                </a:solidFill>
                <a:latin typeface="Calibri" pitchFamily="34" charset="0"/>
                <a:ea typeface="Calibri" pitchFamily="34" charset="-122"/>
                <a:cs typeface="Calibri" pitchFamily="34" charset="-120"/>
              </a:rPr>
              <a:t>MANN-WHITNEY U (Weight vs Severity)</a:t>
            </a:r>
            <a:endParaRPr lang="en-US" sz="900" dirty="0"/>
          </a:p>
        </p:txBody>
      </p:sp>
      <p:sp>
        <p:nvSpPr>
          <p:cNvPr id="25" name="Text 23"/>
          <p:cNvSpPr/>
          <p:nvPr/>
        </p:nvSpPr>
        <p:spPr>
          <a:xfrm>
            <a:off x="365760" y="4206240"/>
            <a:ext cx="3840480" cy="502920"/>
          </a:xfrm>
          <a:prstGeom prst="rect">
            <a:avLst/>
          </a:prstGeom>
          <a:noFill/>
          <a:ln/>
        </p:spPr>
        <p:txBody>
          <a:bodyPr wrap="square" rtlCol="0" anchor="ctr"/>
          <a:lstStyle/>
          <a:p>
            <a:pPr indent="0" marL="0">
              <a:buNone/>
            </a:pPr>
            <a:r>
              <a:rPr lang="en-US" sz="950" dirty="0">
                <a:solidFill>
                  <a:srgbClr val="E8F4F8"/>
                </a:solidFill>
                <a:latin typeface="Calibri" pitchFamily="34" charset="0"/>
                <a:ea typeface="Calibri" pitchFamily="34" charset="-122"/>
                <a:cs typeface="Calibri" pitchFamily="34" charset="-120"/>
              </a:rPr>
              <a:t>Severe GI median: 95 kg  vs  Non-severe: 86.6 kg  |  p = 2.74×10⁻⁵²  |  Effect r = -0.118 (Small)</a:t>
            </a:r>
            <a:endParaRPr lang="en-US" sz="950" dirty="0"/>
          </a:p>
        </p:txBody>
      </p:sp>
      <p:sp>
        <p:nvSpPr>
          <p:cNvPr id="26" name="Shape 24"/>
          <p:cNvSpPr/>
          <p:nvPr/>
        </p:nvSpPr>
        <p:spPr>
          <a:xfrm>
            <a:off x="4663440" y="3840480"/>
            <a:ext cx="4160520" cy="1005840"/>
          </a:xfrm>
          <a:prstGeom prst="rect">
            <a:avLst/>
          </a:prstGeom>
          <a:solidFill>
            <a:srgbClr val="0F2040"/>
          </a:solidFill>
          <a:ln w="12700">
            <a:solidFill>
              <a:srgbClr val="FF6B35"/>
            </a:solidFill>
            <a:prstDash val="solid"/>
          </a:ln>
        </p:spPr>
      </p:sp>
      <p:sp>
        <p:nvSpPr>
          <p:cNvPr id="27" name="Text 25"/>
          <p:cNvSpPr/>
          <p:nvPr/>
        </p:nvSpPr>
        <p:spPr>
          <a:xfrm>
            <a:off x="4800600" y="3931920"/>
            <a:ext cx="3840480" cy="228600"/>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THE KEY LESSON</a:t>
            </a:r>
            <a:endParaRPr lang="en-US" sz="900" dirty="0"/>
          </a:p>
        </p:txBody>
      </p:sp>
      <p:sp>
        <p:nvSpPr>
          <p:cNvPr id="28" name="Text 26"/>
          <p:cNvSpPr/>
          <p:nvPr/>
        </p:nvSpPr>
        <p:spPr>
          <a:xfrm>
            <a:off x="4800600" y="4206240"/>
            <a:ext cx="3840480" cy="502920"/>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With 367K cases, even a tiny real difference will be statistically significant. Cramér's V &lt; 0.03 means the GI signal is real but small — per-drug PRR (Slide 12) reveals which agents carry the actual risk.</a:t>
            </a:r>
            <a:endParaRPr lang="en-US" sz="900" dirty="0"/>
          </a:p>
        </p:txBody>
      </p:sp>
      <p:sp>
        <p:nvSpPr>
          <p:cNvPr id="29" name="Text 27"/>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13 / 24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4: STATISTICAL MINING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Association Rules: Apriori Mining</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Market-basket analysis on concurrent drugs + outcome flags</a:t>
            </a:r>
            <a:endParaRPr lang="en-US" sz="1300" dirty="0"/>
          </a:p>
        </p:txBody>
      </p:sp>
      <p:sp>
        <p:nvSpPr>
          <p:cNvPr id="7" name="Shape 5"/>
          <p:cNvSpPr/>
          <p:nvPr/>
        </p:nvSpPr>
        <p:spPr>
          <a:xfrm>
            <a:off x="228600" y="1417320"/>
            <a:ext cx="3200400" cy="1920240"/>
          </a:xfrm>
          <a:prstGeom prst="rect">
            <a:avLst/>
          </a:prstGeom>
          <a:solidFill>
            <a:srgbClr val="0F2040"/>
          </a:solidFill>
          <a:ln w="12700">
            <a:solidFill>
              <a:srgbClr val="028090"/>
            </a:solidFill>
            <a:prstDash val="solid"/>
          </a:ln>
        </p:spPr>
      </p:sp>
      <p:sp>
        <p:nvSpPr>
          <p:cNvPr id="8" name="Text 6"/>
          <p:cNvSpPr/>
          <p:nvPr/>
        </p:nvSpPr>
        <p:spPr>
          <a:xfrm>
            <a:off x="365760" y="1508760"/>
            <a:ext cx="2926080" cy="228600"/>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SETUP</a:t>
            </a:r>
            <a:endParaRPr lang="en-US" sz="900" dirty="0"/>
          </a:p>
        </p:txBody>
      </p:sp>
      <p:sp>
        <p:nvSpPr>
          <p:cNvPr id="9" name="Text 7"/>
          <p:cNvSpPr/>
          <p:nvPr/>
        </p:nvSpPr>
        <p:spPr>
          <a:xfrm>
            <a:off x="365760" y="1810512"/>
            <a:ext cx="2926080" cy="14173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Transaction = patient report</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Items = top-40 drugs + HOSPITALIZED flag + GI_SEVERE_EVENT flag</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Min support: 0.02 (2%)</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Min confidence: 0.40 (40%)</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Min lift: ≥ 1.3</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Frequent itemsets: 68</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Actionable rules: 6</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566160" y="1417320"/>
          <a:ext cx="5349240" cy="2926080"/>
        </p:xfrm>
        <a:graphic>
          <a:graphicData uri="http://schemas.openxmlformats.org/drawingml/2006/table">
            <a:tbl>
              <a:tblPr/>
              <a:tblGrid>
                <a:gridCol w="1463040"/>
                <a:gridCol w="1463040"/>
                <a:gridCol w="594360"/>
                <a:gridCol w="594360"/>
                <a:gridCol w="594360"/>
              </a:tblGrid>
              <a:tr h="347472">
                <a:tc>
                  <a:txBody>
                    <a:bodyPr/>
                    <a:lstStyle/>
                    <a:p>
                      <a:pPr algn="ctr" indent="0" marL="0">
                        <a:buNone/>
                      </a:pPr>
                      <a:r>
                        <a:rPr lang="en-US" sz="950" b="1" dirty="0">
                          <a:solidFill>
                            <a:srgbClr val="0A1628"/>
                          </a:solidFill>
                        </a:rPr>
                        <a:t>Antecedent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50" b="1" dirty="0">
                          <a:solidFill>
                            <a:srgbClr val="0A1628"/>
                          </a:solidFill>
                        </a:rPr>
                        <a:t>→ Consequent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50" b="1" dirty="0">
                          <a:solidFill>
                            <a:srgbClr val="0A1628"/>
                          </a:solidFill>
                        </a:rPr>
                        <a:t>Supp.</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50" b="1" dirty="0">
                          <a:solidFill>
                            <a:srgbClr val="0A1628"/>
                          </a:solidFill>
                        </a:rPr>
                        <a:t>Conf.</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950" b="1" dirty="0">
                          <a:solidFill>
                            <a:srgbClr val="0A1628"/>
                          </a:solidFill>
                        </a:rPr>
                        <a:t>Lift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r>
              <a:tr h="347472">
                <a:tc>
                  <a:txBody>
                    <a:bodyPr/>
                    <a:lstStyle/>
                    <a:p>
                      <a:pPr algn="l" indent="0" marL="0">
                        <a:buNone/>
                      </a:pPr>
                      <a:r>
                        <a:rPr lang="en-US" sz="950" b="1" dirty="0">
                          <a:solidFill>
                            <a:srgbClr val="E8F4F8"/>
                          </a:solidFill>
                        </a:rPr>
                        <a:t>GI_SEVERE_EVENT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algn="l" indent="0" marL="0">
                        <a:buNone/>
                      </a:pPr>
                      <a:r>
                        <a:rPr lang="en-US" sz="950" b="1" dirty="0">
                          <a:solidFill>
                            <a:srgbClr val="E8F4F8"/>
                          </a:solidFill>
                        </a:rPr>
                        <a:t>HOSPITALIZED</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algn="ctr" indent="0" marL="0">
                        <a:buNone/>
                      </a:pPr>
                      <a:r>
                        <a:rPr lang="en-US" sz="950" b="1" dirty="0">
                          <a:solidFill>
                            <a:srgbClr val="E8F4F8"/>
                          </a:solidFill>
                        </a:rPr>
                        <a:t>0.024</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algn="ctr" indent="0" marL="0">
                        <a:buNone/>
                      </a:pPr>
                      <a:r>
                        <a:rPr lang="en-US" sz="950" b="1" dirty="0">
                          <a:solidFill>
                            <a:srgbClr val="E8F4F8"/>
                          </a:solidFill>
                        </a:rPr>
                        <a:t>0.82</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c>
                  <a:txBody>
                    <a:bodyPr/>
                    <a:lstStyle/>
                    <a:p>
                      <a:pPr algn="ctr" indent="0" marL="0">
                        <a:buNone/>
                      </a:pPr>
                      <a:r>
                        <a:rPr lang="en-US" sz="950" b="1" dirty="0">
                          <a:solidFill>
                            <a:srgbClr val="FF6B35"/>
                          </a:solidFill>
                        </a:rPr>
                        <a:t>2.1</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2530"/>
                    </a:solidFill>
                  </a:tcPr>
                </a:tc>
              </a:tr>
              <a:tr h="347472">
                <a:tc>
                  <a:txBody>
                    <a:bodyPr/>
                    <a:lstStyle/>
                    <a:p>
                      <a:pPr algn="l" indent="0" marL="0">
                        <a:buNone/>
                      </a:pPr>
                      <a:r>
                        <a:rPr lang="en-US" sz="950" dirty="0">
                          <a:solidFill>
                            <a:srgbClr val="E8F4F8"/>
                          </a:solidFill>
                        </a:rPr>
                        <a:t>FUROSEMIDE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l" indent="0" marL="0">
                        <a:buNone/>
                      </a:pPr>
                      <a:r>
                        <a:rPr lang="en-US" sz="950" dirty="0">
                          <a:solidFill>
                            <a:srgbClr val="E8F4F8"/>
                          </a:solidFill>
                        </a:rPr>
                        <a:t>HOSPITALIZED</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0.031</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0.71</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02C39A"/>
                          </a:solidFill>
                        </a:rPr>
                        <a:t>1.82</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r h="347472">
                <a:tc>
                  <a:txBody>
                    <a:bodyPr/>
                    <a:lstStyle/>
                    <a:p>
                      <a:pPr algn="l" indent="0" marL="0">
                        <a:buNone/>
                      </a:pPr>
                      <a:r>
                        <a:rPr lang="en-US" sz="950" dirty="0">
                          <a:solidFill>
                            <a:srgbClr val="E8F4F8"/>
                          </a:solidFill>
                        </a:rPr>
                        <a:t>PANTOPRAZOLE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l" indent="0" marL="0">
                        <a:buNone/>
                      </a:pPr>
                      <a:r>
                        <a:rPr lang="en-US" sz="950" dirty="0">
                          <a:solidFill>
                            <a:srgbClr val="E8F4F8"/>
                          </a:solidFill>
                        </a:rPr>
                        <a:t>HOSPITALIZED</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0.028</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0.68</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02C39A"/>
                          </a:solidFill>
                        </a:rPr>
                        <a:t>1.74</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dirty="0">
                          <a:solidFill>
                            <a:srgbClr val="E8F4F8"/>
                          </a:solidFill>
                        </a:rPr>
                        <a:t>INSULIN GLARGINE</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l" indent="0" marL="0">
                        <a:buNone/>
                      </a:pPr>
                      <a:r>
                        <a:rPr lang="en-US" sz="950" dirty="0">
                          <a:solidFill>
                            <a:srgbClr val="E8F4F8"/>
                          </a:solidFill>
                        </a:rPr>
                        <a:t>HOSPITALIZED</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0.022</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0.65</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02C39A"/>
                          </a:solidFill>
                        </a:rPr>
                        <a:t>1.66</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r h="347472">
                <a:tc>
                  <a:txBody>
                    <a:bodyPr/>
                    <a:lstStyle/>
                    <a:p>
                      <a:pPr algn="l" indent="0" marL="0">
                        <a:buNone/>
                      </a:pPr>
                      <a:r>
                        <a:rPr lang="en-US" sz="950" dirty="0">
                          <a:solidFill>
                            <a:srgbClr val="E8F4F8"/>
                          </a:solidFill>
                        </a:rPr>
                        <a:t>OPIOID_FLAG</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l" indent="0" marL="0">
                        <a:buNone/>
                      </a:pPr>
                      <a:r>
                        <a:rPr lang="en-US" sz="950" dirty="0">
                          <a:solidFill>
                            <a:srgbClr val="E8F4F8"/>
                          </a:solidFill>
                        </a:rPr>
                        <a:t>GI_SEVERE_EVENT</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0.013</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E8F4F8"/>
                          </a:solidFill>
                        </a:rPr>
                        <a:t>0.61</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950" dirty="0">
                          <a:solidFill>
                            <a:srgbClr val="02C39A"/>
                          </a:solidFill>
                        </a:rPr>
                        <a:t>1.58</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47472">
                <a:tc>
                  <a:txBody>
                    <a:bodyPr/>
                    <a:lstStyle/>
                    <a:p>
                      <a:pPr algn="l" indent="0" marL="0">
                        <a:buNone/>
                      </a:pPr>
                      <a:r>
                        <a:rPr lang="en-US" sz="950" dirty="0">
                          <a:solidFill>
                            <a:srgbClr val="E8F4F8"/>
                          </a:solidFill>
                        </a:rPr>
                        <a:t>METFORMIN + INSULIN</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l" indent="0" marL="0">
                        <a:buNone/>
                      </a:pPr>
                      <a:r>
                        <a:rPr lang="en-US" sz="950" dirty="0">
                          <a:solidFill>
                            <a:srgbClr val="E8F4F8"/>
                          </a:solidFill>
                        </a:rPr>
                        <a:t>HOSPITALIZED</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0.021</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E8F4F8"/>
                          </a:solidFill>
                        </a:rPr>
                        <a:t>0.58</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c>
                  <a:txBody>
                    <a:bodyPr/>
                    <a:lstStyle/>
                    <a:p>
                      <a:pPr algn="ctr" indent="0" marL="0">
                        <a:buNone/>
                      </a:pPr>
                      <a:r>
                        <a:rPr lang="en-US" sz="950" dirty="0">
                          <a:solidFill>
                            <a:srgbClr val="02C39A"/>
                          </a:solidFill>
                        </a:rPr>
                        <a:t>1.49</a:t>
                      </a:r>
                      <a:endParaRPr lang="en-US" sz="95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A1628"/>
                    </a:solidFill>
                  </a:tcPr>
                </a:tc>
              </a:tr>
            </a:tbl>
          </a:graphicData>
        </a:graphic>
      </p:graphicFrame>
      <p:sp>
        <p:nvSpPr>
          <p:cNvPr id="11" name="Shape 8"/>
          <p:cNvSpPr/>
          <p:nvPr/>
        </p:nvSpPr>
        <p:spPr>
          <a:xfrm>
            <a:off x="228600" y="3474720"/>
            <a:ext cx="3200400" cy="1325880"/>
          </a:xfrm>
          <a:prstGeom prst="rect">
            <a:avLst/>
          </a:prstGeom>
          <a:solidFill>
            <a:srgbClr val="0F2040"/>
          </a:solidFill>
          <a:ln w="12700">
            <a:solidFill>
              <a:srgbClr val="FF6B35"/>
            </a:solidFill>
            <a:prstDash val="solid"/>
          </a:ln>
        </p:spPr>
      </p:sp>
      <p:sp>
        <p:nvSpPr>
          <p:cNvPr id="12" name="Text 9"/>
          <p:cNvSpPr/>
          <p:nvPr/>
        </p:nvSpPr>
        <p:spPr>
          <a:xfrm>
            <a:off x="365760" y="3566160"/>
            <a:ext cx="2926080" cy="228600"/>
          </a:xfrm>
          <a:prstGeom prst="rect">
            <a:avLst/>
          </a:prstGeom>
          <a:noFill/>
          <a:ln/>
        </p:spPr>
        <p:txBody>
          <a:bodyPr wrap="square" rtlCol="0" anchor="ctr"/>
          <a:lstStyle/>
          <a:p>
            <a:pPr indent="0" marL="0">
              <a:buNone/>
            </a:pPr>
            <a:r>
              <a:rPr lang="en-US" sz="900" b="1" dirty="0">
                <a:solidFill>
                  <a:srgbClr val="FF6B35"/>
                </a:solidFill>
                <a:latin typeface="Calibri" pitchFamily="34" charset="0"/>
                <a:ea typeface="Calibri" pitchFamily="34" charset="-122"/>
                <a:cs typeface="Calibri" pitchFamily="34" charset="-120"/>
              </a:rPr>
              <a:t>KEY FINDING</a:t>
            </a:r>
            <a:endParaRPr lang="en-US" sz="900" dirty="0"/>
          </a:p>
        </p:txBody>
      </p:sp>
      <p:sp>
        <p:nvSpPr>
          <p:cNvPr id="13" name="Text 10"/>
          <p:cNvSpPr/>
          <p:nvPr/>
        </p:nvSpPr>
        <p:spPr>
          <a:xfrm>
            <a:off x="365760" y="3840480"/>
            <a:ext cx="2926080" cy="84124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Opioid co-reporting increases GI severe event likelihood by 1.58× over random chance (Lift=1.58). GI_SEVERE_EVENT is a strong predictor of hospitalization (Lift=2.1).</a:t>
            </a:r>
            <a:endParaRPr lang="en-US" sz="1000" dirty="0"/>
          </a:p>
        </p:txBody>
      </p:sp>
      <p:sp>
        <p:nvSpPr>
          <p:cNvPr id="14" name="Text 11"/>
          <p:cNvSpPr/>
          <p:nvPr/>
        </p:nvSpPr>
        <p:spPr>
          <a:xfrm>
            <a:off x="274320" y="4850892"/>
            <a:ext cx="8229600" cy="201168"/>
          </a:xfrm>
          <a:prstGeom prst="rect">
            <a:avLst/>
          </a:prstGeom>
          <a:noFill/>
          <a:ln/>
        </p:spPr>
        <p:txBody>
          <a:bodyPr wrap="square" rtlCol="0" anchor="ctr"/>
          <a:lstStyle/>
          <a:p>
            <a:pPr indent="0" marL="0">
              <a:buNone/>
            </a:pPr>
            <a:r>
              <a:rPr lang="en-US" sz="800" dirty="0">
                <a:solidFill>
                  <a:srgbClr val="4A6D87"/>
                </a:solidFill>
                <a:latin typeface="Calibri" pitchFamily="34" charset="0"/>
                <a:ea typeface="Calibri" pitchFamily="34" charset="-122"/>
                <a:cs typeface="Calibri" pitchFamily="34" charset="-120"/>
              </a:rPr>
              <a:t>Lift &gt; 1.3 = association is stronger than chance  |  Lift &gt; 2.0 = strong clinical co-occurrence</a:t>
            </a:r>
            <a:endParaRPr lang="en-US" sz="800" dirty="0"/>
          </a:p>
        </p:txBody>
      </p:sp>
      <p:sp>
        <p:nvSpPr>
          <p:cNvPr id="15" name="Text 12"/>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14 / 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4: STATISTICAL MINING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Clustering Theory: K-Means vs. DBSCAN</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Two complementary algorithms — one assumes structure, one discovers it</a:t>
            </a:r>
            <a:endParaRPr lang="en-US" sz="1300" dirty="0"/>
          </a:p>
        </p:txBody>
      </p:sp>
      <p:sp>
        <p:nvSpPr>
          <p:cNvPr id="7" name="Shape 5"/>
          <p:cNvSpPr/>
          <p:nvPr/>
        </p:nvSpPr>
        <p:spPr>
          <a:xfrm>
            <a:off x="228600" y="1417320"/>
            <a:ext cx="4114800" cy="3337560"/>
          </a:xfrm>
          <a:prstGeom prst="rect">
            <a:avLst/>
          </a:prstGeom>
          <a:solidFill>
            <a:srgbClr val="0F2040"/>
          </a:solidFill>
          <a:ln w="12700">
            <a:solidFill>
              <a:srgbClr val="00A896"/>
            </a:solidFill>
            <a:prstDash val="solid"/>
          </a:ln>
        </p:spPr>
      </p:sp>
      <p:sp>
        <p:nvSpPr>
          <p:cNvPr id="8" name="Text 6"/>
          <p:cNvSpPr/>
          <p:nvPr/>
        </p:nvSpPr>
        <p:spPr>
          <a:xfrm>
            <a:off x="365760" y="1508760"/>
            <a:ext cx="3840480" cy="256032"/>
          </a:xfrm>
          <a:prstGeom prst="rect">
            <a:avLst/>
          </a:prstGeom>
          <a:noFill/>
          <a:ln/>
        </p:spPr>
        <p:txBody>
          <a:bodyPr wrap="square" rtlCol="0" anchor="ctr"/>
          <a:lstStyle/>
          <a:p>
            <a:pPr indent="0" marL="0">
              <a:buNone/>
            </a:pPr>
            <a:r>
              <a:rPr lang="en-US" sz="1000" b="1" spc="100" kern="0" dirty="0">
                <a:solidFill>
                  <a:srgbClr val="00A896"/>
                </a:solidFill>
                <a:latin typeface="Calibri" pitchFamily="34" charset="0"/>
                <a:ea typeface="Calibri" pitchFamily="34" charset="-122"/>
                <a:cs typeface="Calibri" pitchFamily="34" charset="-120"/>
              </a:rPr>
              <a:t>K-MEANS CLUSTERING</a:t>
            </a:r>
            <a:endParaRPr lang="en-US" sz="1000" dirty="0"/>
          </a:p>
        </p:txBody>
      </p:sp>
      <p:sp>
        <p:nvSpPr>
          <p:cNvPr id="9" name="Text 7"/>
          <p:cNvSpPr/>
          <p:nvPr/>
        </p:nvSpPr>
        <p:spPr>
          <a:xfrm>
            <a:off x="365760" y="1828800"/>
            <a:ext cx="3840480" cy="274320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k = 5 clusters  (default; Davies-Bouldin = 0.6964)</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StandardScaler applied before fitting</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MiniBatchKMeans for scalability</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Clusters found:</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Cluster 0: Moderate-Risk Active (n=76,791)</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Cluster 1: Low-Risk Stable (n=115,606)</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Cluster 2: Critical Risk (n=2,718)</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Cluster 3: High-Risk Vulnerable (n=4,543)</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Cluster 4: Very High-Risk Complex (n=7,316)</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Assumption: Spherical clusters with equal variance</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Strength: Scalable, interpretable centroids</a:t>
            </a:r>
            <a:endParaRPr lang="en-US" sz="1000" dirty="0"/>
          </a:p>
        </p:txBody>
      </p:sp>
      <p:sp>
        <p:nvSpPr>
          <p:cNvPr id="10" name="Shape 8"/>
          <p:cNvSpPr/>
          <p:nvPr/>
        </p:nvSpPr>
        <p:spPr>
          <a:xfrm>
            <a:off x="4572000" y="1417320"/>
            <a:ext cx="4343400" cy="3337560"/>
          </a:xfrm>
          <a:prstGeom prst="rect">
            <a:avLst/>
          </a:prstGeom>
          <a:solidFill>
            <a:srgbClr val="0F2040"/>
          </a:solidFill>
          <a:ln w="12700">
            <a:solidFill>
              <a:srgbClr val="FF6B35"/>
            </a:solidFill>
            <a:prstDash val="solid"/>
          </a:ln>
        </p:spPr>
      </p:sp>
      <p:sp>
        <p:nvSpPr>
          <p:cNvPr id="11" name="Text 9"/>
          <p:cNvSpPr/>
          <p:nvPr/>
        </p:nvSpPr>
        <p:spPr>
          <a:xfrm>
            <a:off x="4709160" y="1508760"/>
            <a:ext cx="4023360" cy="256032"/>
          </a:xfrm>
          <a:prstGeom prst="rect">
            <a:avLst/>
          </a:prstGeom>
          <a:noFill/>
          <a:ln/>
        </p:spPr>
        <p:txBody>
          <a:bodyPr wrap="square" rtlCol="0" anchor="ctr"/>
          <a:lstStyle/>
          <a:p>
            <a:pPr indent="0" marL="0">
              <a:buNone/>
            </a:pPr>
            <a:r>
              <a:rPr lang="en-US" sz="1000" b="1" spc="100" kern="0" dirty="0">
                <a:solidFill>
                  <a:srgbClr val="FF6B35"/>
                </a:solidFill>
                <a:latin typeface="Calibri" pitchFamily="34" charset="0"/>
                <a:ea typeface="Calibri" pitchFamily="34" charset="-122"/>
                <a:cs typeface="Calibri" pitchFamily="34" charset="-120"/>
              </a:rPr>
              <a:t>DBSCAN CLUSTERING</a:t>
            </a:r>
            <a:endParaRPr lang="en-US" sz="1000" dirty="0"/>
          </a:p>
        </p:txBody>
      </p:sp>
      <p:sp>
        <p:nvSpPr>
          <p:cNvPr id="12" name="Text 10"/>
          <p:cNvSpPr/>
          <p:nvPr/>
        </p:nvSpPr>
        <p:spPr>
          <a:xfrm>
            <a:off x="4709160" y="1828800"/>
            <a:ext cx="4023360" cy="274320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Applied to PCA-reduced space (PC1 × PC2)</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Tuned eps and min_samples on a subsample</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Result:</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1 continuous clinical manifold identified</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  No discrete outlier clusters found</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The 'Noise Isolation Story':</a:t>
            </a: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DBSCAN reveals that GLP-1 patient risk is not a binary HIGH/LOW — it exists on a continuous spectrum from low-complexity stable patients to high-complexity critical-risk individuals.</a:t>
            </a:r>
            <a:endParaRPr lang="en-US" sz="1000" dirty="0"/>
          </a:p>
          <a:p>
            <a:pPr indent="0" marL="0">
              <a:buNone/>
            </a:pPr>
            <a:endParaRPr lang="en-US" sz="1000" dirty="0"/>
          </a:p>
          <a:p>
            <a:pPr indent="0" marL="0">
              <a:buNone/>
            </a:pPr>
            <a:r>
              <a:rPr lang="en-US" sz="1000" dirty="0">
                <a:solidFill>
                  <a:srgbClr val="E8F4F8"/>
                </a:solidFill>
                <a:latin typeface="Calibri" pitchFamily="34" charset="0"/>
                <a:ea typeface="Calibri" pitchFamily="34" charset="-122"/>
                <a:cs typeface="Calibri" pitchFamily="34" charset="-120"/>
              </a:rPr>
              <a:t>This validates K-Means profiling rather than contradicting it.</a:t>
            </a:r>
            <a:endParaRPr lang="en-US" sz="1000" dirty="0"/>
          </a:p>
        </p:txBody>
      </p:sp>
      <p:sp>
        <p:nvSpPr>
          <p:cNvPr id="13" name="Text 11"/>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15 / 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4: STATISTICAL MINING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Patient Phenotypes: Cluster Profiles</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K-Means k=5 reveals distinct patient phenotypes with different risk footprints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2926080"/>
        </p:xfrm>
        <a:graphic>
          <a:graphicData uri="http://schemas.openxmlformats.org/drawingml/2006/table">
            <a:tbl>
              <a:tblPr/>
              <a:tblGrid>
                <a:gridCol w="1371600"/>
                <a:gridCol w="1188720"/>
                <a:gridCol w="1097280"/>
                <a:gridCol w="1554480"/>
                <a:gridCol w="1737360"/>
                <a:gridCol w="1737360"/>
              </a:tblGrid>
              <a:tr h="411480">
                <a:tc>
                  <a:txBody>
                    <a:bodyPr/>
                    <a:lstStyle/>
                    <a:p>
                      <a:pPr algn="ctr" indent="0" marL="0">
                        <a:buNone/>
                      </a:pPr>
                      <a:r>
                        <a:rPr lang="en-US" sz="1000" b="1" dirty="0">
                          <a:solidFill>
                            <a:srgbClr val="0A1628"/>
                          </a:solidFill>
                        </a:rPr>
                        <a:t>Cluster</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n</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Age</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Polypharmacy</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Severity Rate</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Opioid Use</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r>
              <a:tr h="411480">
                <a:tc>
                  <a:txBody>
                    <a:bodyPr/>
                    <a:lstStyle/>
                    <a:p>
                      <a:pPr indent="0" marL="0">
                        <a:buNone/>
                      </a:pPr>
                      <a:r>
                        <a:rPr lang="en-US" sz="1000" b="1" dirty="0">
                          <a:solidFill>
                            <a:srgbClr val="00A896"/>
                          </a:solidFill>
                        </a:rPr>
                        <a:t>Cluster 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115,606</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54 yrs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1 drugs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b="1" dirty="0">
                          <a:solidFill>
                            <a:srgbClr val="00A896"/>
                          </a:solidFill>
                        </a:rPr>
                        <a:t>4%</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0A896"/>
                          </a:solidFill>
                        </a:rPr>
                        <a:t>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411480">
                <a:tc>
                  <a:txBody>
                    <a:bodyPr/>
                    <a:lstStyle/>
                    <a:p>
                      <a:pPr indent="0" marL="0">
                        <a:buNone/>
                      </a:pPr>
                      <a:r>
                        <a:rPr lang="en-US" sz="1000" b="1" dirty="0">
                          <a:solidFill>
                            <a:srgbClr val="02C39A"/>
                          </a:solidFill>
                        </a:rPr>
                        <a:t>Cluster 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76,791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57 yrs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3 drugs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b="1" dirty="0">
                          <a:solidFill>
                            <a:srgbClr val="02C39A"/>
                          </a:solidFill>
                        </a:rPr>
                        <a:t>9%</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411480">
                <a:tc>
                  <a:txBody>
                    <a:bodyPr/>
                    <a:lstStyle/>
                    <a:p>
                      <a:pPr indent="0" marL="0">
                        <a:buNone/>
                      </a:pPr>
                      <a:r>
                        <a:rPr lang="en-US" sz="1000" b="1" dirty="0">
                          <a:solidFill>
                            <a:srgbClr val="FF6B35"/>
                          </a:solidFill>
                        </a:rPr>
                        <a:t>Cluster 4</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7,316</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63 yrs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11 drugs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b="1" dirty="0">
                          <a:solidFill>
                            <a:srgbClr val="FF6B35"/>
                          </a:solidFill>
                        </a:rPr>
                        <a:t>42%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FF6B35"/>
                          </a:solidFill>
                        </a:rPr>
                        <a:t>45%</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411480">
                <a:tc>
                  <a:txBody>
                    <a:bodyPr/>
                    <a:lstStyle/>
                    <a:p>
                      <a:pPr indent="0" marL="0">
                        <a:buNone/>
                      </a:pPr>
                      <a:r>
                        <a:rPr lang="en-US" sz="1000" b="1" dirty="0">
                          <a:solidFill>
                            <a:srgbClr val="FF8C5A"/>
                          </a:solidFill>
                        </a:rPr>
                        <a:t>Cluster 3</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4,543</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72 yrs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8 drugs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b="1" dirty="0">
                          <a:solidFill>
                            <a:srgbClr val="FF8C5A"/>
                          </a:solidFill>
                        </a:rPr>
                        <a:t>55%</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FF8C5A"/>
                          </a:solidFill>
                        </a:rPr>
                        <a:t>25%</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411480">
                <a:tc>
                  <a:txBody>
                    <a:bodyPr/>
                    <a:lstStyle/>
                    <a:p>
                      <a:pPr indent="0" marL="0">
                        <a:buNone/>
                      </a:pPr>
                      <a:r>
                        <a:rPr lang="en-US" sz="1000" b="1" dirty="0">
                          <a:solidFill>
                            <a:srgbClr val="EF476F"/>
                          </a:solidFill>
                        </a:rPr>
                        <a:t>Cluster 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2,718</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68 yrs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15+ drugs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b="1" dirty="0">
                          <a:solidFill>
                            <a:srgbClr val="EF476F"/>
                          </a:solidFill>
                        </a:rPr>
                        <a:t>89%</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00A0A"/>
                    </a:solidFill>
                  </a:tcPr>
                </a:tc>
                <a:tc>
                  <a:txBody>
                    <a:bodyPr/>
                    <a:lstStyle/>
                    <a:p>
                      <a:pPr algn="ctr" indent="0" marL="0">
                        <a:buNone/>
                      </a:pPr>
                      <a:r>
                        <a:rPr lang="en-US" sz="1000" b="1" dirty="0">
                          <a:solidFill>
                            <a:srgbClr val="EF476F"/>
                          </a:solidFill>
                        </a:rPr>
                        <a:t>100%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200A0A"/>
                    </a:solidFill>
                  </a:tcPr>
                </a:tc>
              </a:tr>
            </a:tbl>
          </a:graphicData>
        </a:graphic>
      </p:graphicFrame>
      <p:sp>
        <p:nvSpPr>
          <p:cNvPr id="8" name="Shape 5"/>
          <p:cNvSpPr/>
          <p:nvPr/>
        </p:nvSpPr>
        <p:spPr>
          <a:xfrm>
            <a:off x="228600" y="4480560"/>
            <a:ext cx="8686800" cy="384048"/>
          </a:xfrm>
          <a:prstGeom prst="rect">
            <a:avLst/>
          </a:prstGeom>
          <a:solidFill>
            <a:srgbClr val="0F2040"/>
          </a:solidFill>
          <a:ln w="12700">
            <a:solidFill>
              <a:srgbClr val="EF476F"/>
            </a:solidFill>
            <a:prstDash val="solid"/>
          </a:ln>
        </p:spPr>
      </p:sp>
      <p:sp>
        <p:nvSpPr>
          <p:cNvPr id="9" name="Text 6"/>
          <p:cNvSpPr/>
          <p:nvPr/>
        </p:nvSpPr>
        <p:spPr>
          <a:xfrm>
            <a:off x="365760" y="4544568"/>
            <a:ext cx="8412480" cy="256032"/>
          </a:xfrm>
          <a:prstGeom prst="rect">
            <a:avLst/>
          </a:prstGeom>
          <a:noFill/>
          <a:ln/>
        </p:spPr>
        <p:txBody>
          <a:bodyPr wrap="square" rtlCol="0" anchor="ctr"/>
          <a:lstStyle/>
          <a:p>
            <a:pPr indent="0" marL="0">
              <a:buNone/>
            </a:pPr>
            <a:r>
              <a:rPr lang="en-US" sz="1000" b="1" dirty="0">
                <a:solidFill>
                  <a:srgbClr val="EF476F"/>
                </a:solidFill>
                <a:latin typeface="Calibri" pitchFamily="34" charset="0"/>
                <a:ea typeface="Calibri" pitchFamily="34" charset="-122"/>
                <a:cs typeface="Calibri" pitchFamily="34" charset="-120"/>
              </a:rPr>
              <a:t>★ Cluster 2 — CRITICAL RISK: 100% concurrent opioid use + 15+ concurrent drugs + 89% severity rate. Highest-priority for clinical review.</a:t>
            </a:r>
            <a:endParaRPr lang="en-US" sz="1000" dirty="0"/>
          </a:p>
        </p:txBody>
      </p:sp>
      <p:sp>
        <p:nvSpPr>
          <p:cNvPr id="10" name="Text 7"/>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16 / 24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2C39A"/>
          </a:solidFill>
          <a:ln w="12700">
            <a:solidFill>
              <a:srgbClr val="02C39A"/>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5: SUPERVISED LEARNING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The Algorithm Suite</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Five classification algorithms tested — breadth of methodology</a:t>
            </a:r>
            <a:endParaRPr lang="en-US" sz="1300" dirty="0"/>
          </a:p>
        </p:txBody>
      </p:sp>
      <p:sp>
        <p:nvSpPr>
          <p:cNvPr id="7" name="Shape 5"/>
          <p:cNvSpPr/>
          <p:nvPr/>
        </p:nvSpPr>
        <p:spPr>
          <a:xfrm>
            <a:off x="228600" y="1463040"/>
            <a:ext cx="4206240" cy="1207008"/>
          </a:xfrm>
          <a:prstGeom prst="rect">
            <a:avLst/>
          </a:prstGeom>
          <a:solidFill>
            <a:srgbClr val="0F2040"/>
          </a:solidFill>
          <a:ln w="12700">
            <a:solidFill>
              <a:srgbClr val="00A896"/>
            </a:solidFill>
            <a:prstDash val="solid"/>
          </a:ln>
        </p:spPr>
      </p:sp>
      <p:sp>
        <p:nvSpPr>
          <p:cNvPr id="8" name="Shape 6"/>
          <p:cNvSpPr/>
          <p:nvPr/>
        </p:nvSpPr>
        <p:spPr>
          <a:xfrm>
            <a:off x="228600" y="1463040"/>
            <a:ext cx="502920" cy="1207008"/>
          </a:xfrm>
          <a:prstGeom prst="rect">
            <a:avLst/>
          </a:prstGeom>
          <a:solidFill>
            <a:srgbClr val="00A896"/>
          </a:solidFill>
          <a:ln w="12700">
            <a:solidFill>
              <a:srgbClr val="00A896"/>
            </a:solidFill>
            <a:prstDash val="solid"/>
          </a:ln>
        </p:spPr>
      </p:sp>
      <p:sp>
        <p:nvSpPr>
          <p:cNvPr id="9" name="Text 7"/>
          <p:cNvSpPr/>
          <p:nvPr/>
        </p:nvSpPr>
        <p:spPr>
          <a:xfrm>
            <a:off x="228600" y="1463040"/>
            <a:ext cx="502920" cy="1207008"/>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RF</a:t>
            </a:r>
            <a:endParaRPr lang="en-US" sz="1300" dirty="0"/>
          </a:p>
        </p:txBody>
      </p:sp>
      <p:sp>
        <p:nvSpPr>
          <p:cNvPr id="10" name="Text 8"/>
          <p:cNvSpPr/>
          <p:nvPr/>
        </p:nvSpPr>
        <p:spPr>
          <a:xfrm>
            <a:off x="822960" y="1572768"/>
            <a:ext cx="3474720" cy="256032"/>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Random Forest  |  Ensemble</a:t>
            </a:r>
            <a:endParaRPr lang="en-US" sz="1100" dirty="0"/>
          </a:p>
        </p:txBody>
      </p:sp>
      <p:sp>
        <p:nvSpPr>
          <p:cNvPr id="11" name="Text 9"/>
          <p:cNvSpPr/>
          <p:nvPr/>
        </p:nvSpPr>
        <p:spPr>
          <a:xfrm>
            <a:off x="822960" y="1865376"/>
            <a:ext cx="3474720" cy="38404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100 decision trees, majority vote. Tuned for recall with custom 0.15 threshold.</a:t>
            </a:r>
            <a:endParaRPr lang="en-US" sz="1000" dirty="0"/>
          </a:p>
        </p:txBody>
      </p:sp>
      <p:sp>
        <p:nvSpPr>
          <p:cNvPr id="12" name="Text 10"/>
          <p:cNvSpPr/>
          <p:nvPr/>
        </p:nvSpPr>
        <p:spPr>
          <a:xfrm>
            <a:off x="822960" y="2286000"/>
            <a:ext cx="3474720" cy="256032"/>
          </a:xfrm>
          <a:prstGeom prst="rect">
            <a:avLst/>
          </a:prstGeom>
          <a:noFill/>
          <a:ln/>
        </p:spPr>
        <p:txBody>
          <a:bodyPr wrap="square" rtlCol="0" anchor="ctr"/>
          <a:lstStyle/>
          <a:p>
            <a:pPr indent="0" marL="0">
              <a:buNone/>
            </a:pPr>
            <a:r>
              <a:rPr lang="en-US" sz="900" i="1" dirty="0">
                <a:solidFill>
                  <a:srgbClr val="00A896"/>
                </a:solidFill>
                <a:latin typeface="Calibri" pitchFamily="34" charset="0"/>
                <a:ea typeface="Calibri" pitchFamily="34" charset="-122"/>
                <a:cs typeface="Calibri" pitchFamily="34" charset="-120"/>
              </a:rPr>
              <a:t>✓ High recall, handles class imbalance</a:t>
            </a:r>
            <a:endParaRPr lang="en-US" sz="900" dirty="0"/>
          </a:p>
        </p:txBody>
      </p:sp>
      <p:sp>
        <p:nvSpPr>
          <p:cNvPr id="13" name="Shape 11"/>
          <p:cNvSpPr/>
          <p:nvPr/>
        </p:nvSpPr>
        <p:spPr>
          <a:xfrm>
            <a:off x="4663440" y="1463040"/>
            <a:ext cx="4206240" cy="1207008"/>
          </a:xfrm>
          <a:prstGeom prst="rect">
            <a:avLst/>
          </a:prstGeom>
          <a:solidFill>
            <a:srgbClr val="0F2040"/>
          </a:solidFill>
          <a:ln w="12700">
            <a:solidFill>
              <a:srgbClr val="02C39A"/>
            </a:solidFill>
            <a:prstDash val="solid"/>
          </a:ln>
        </p:spPr>
      </p:sp>
      <p:sp>
        <p:nvSpPr>
          <p:cNvPr id="14" name="Shape 12"/>
          <p:cNvSpPr/>
          <p:nvPr/>
        </p:nvSpPr>
        <p:spPr>
          <a:xfrm>
            <a:off x="4663440" y="1463040"/>
            <a:ext cx="502920" cy="1207008"/>
          </a:xfrm>
          <a:prstGeom prst="rect">
            <a:avLst/>
          </a:prstGeom>
          <a:solidFill>
            <a:srgbClr val="02C39A"/>
          </a:solidFill>
          <a:ln w="12700">
            <a:solidFill>
              <a:srgbClr val="02C39A"/>
            </a:solidFill>
            <a:prstDash val="solid"/>
          </a:ln>
        </p:spPr>
      </p:sp>
      <p:sp>
        <p:nvSpPr>
          <p:cNvPr id="15" name="Text 13"/>
          <p:cNvSpPr/>
          <p:nvPr/>
        </p:nvSpPr>
        <p:spPr>
          <a:xfrm>
            <a:off x="4663440" y="1463040"/>
            <a:ext cx="502920" cy="1207008"/>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LR</a:t>
            </a:r>
            <a:endParaRPr lang="en-US" sz="1300" dirty="0"/>
          </a:p>
        </p:txBody>
      </p:sp>
      <p:sp>
        <p:nvSpPr>
          <p:cNvPr id="16" name="Text 14"/>
          <p:cNvSpPr/>
          <p:nvPr/>
        </p:nvSpPr>
        <p:spPr>
          <a:xfrm>
            <a:off x="5257800" y="1572768"/>
            <a:ext cx="3474720" cy="256032"/>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Logistic Regression  |  Linear</a:t>
            </a:r>
            <a:endParaRPr lang="en-US" sz="1100" dirty="0"/>
          </a:p>
        </p:txBody>
      </p:sp>
      <p:sp>
        <p:nvSpPr>
          <p:cNvPr id="17" name="Text 15"/>
          <p:cNvSpPr/>
          <p:nvPr/>
        </p:nvSpPr>
        <p:spPr>
          <a:xfrm>
            <a:off x="5257800" y="1865376"/>
            <a:ext cx="3474720" cy="38404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L2-regularized logistic model. Coefficients interpreted as odds ratios.</a:t>
            </a:r>
            <a:endParaRPr lang="en-US" sz="1000" dirty="0"/>
          </a:p>
        </p:txBody>
      </p:sp>
      <p:sp>
        <p:nvSpPr>
          <p:cNvPr id="18" name="Text 16"/>
          <p:cNvSpPr/>
          <p:nvPr/>
        </p:nvSpPr>
        <p:spPr>
          <a:xfrm>
            <a:off x="5257800" y="2286000"/>
            <a:ext cx="3474720" cy="256032"/>
          </a:xfrm>
          <a:prstGeom prst="rect">
            <a:avLst/>
          </a:prstGeom>
          <a:noFill/>
          <a:ln/>
        </p:spPr>
        <p:txBody>
          <a:bodyPr wrap="square" rtlCol="0" anchor="ctr"/>
          <a:lstStyle/>
          <a:p>
            <a:pPr indent="0" marL="0">
              <a:buNone/>
            </a:pPr>
            <a:r>
              <a:rPr lang="en-US" sz="900" i="1" dirty="0">
                <a:solidFill>
                  <a:srgbClr val="02C39A"/>
                </a:solidFill>
                <a:latin typeface="Calibri" pitchFamily="34" charset="0"/>
                <a:ea typeface="Calibri" pitchFamily="34" charset="-122"/>
                <a:cs typeface="Calibri" pitchFamily="34" charset="-120"/>
              </a:rPr>
              <a:t>✓ Interpretable, fast, good AUC</a:t>
            </a:r>
            <a:endParaRPr lang="en-US" sz="900" dirty="0"/>
          </a:p>
        </p:txBody>
      </p:sp>
      <p:sp>
        <p:nvSpPr>
          <p:cNvPr id="19" name="Shape 17"/>
          <p:cNvSpPr/>
          <p:nvPr/>
        </p:nvSpPr>
        <p:spPr>
          <a:xfrm>
            <a:off x="228600" y="2834640"/>
            <a:ext cx="4206240" cy="1207008"/>
          </a:xfrm>
          <a:prstGeom prst="rect">
            <a:avLst/>
          </a:prstGeom>
          <a:solidFill>
            <a:srgbClr val="0F2040"/>
          </a:solidFill>
          <a:ln w="12700">
            <a:solidFill>
              <a:srgbClr val="FFD166"/>
            </a:solidFill>
            <a:prstDash val="solid"/>
          </a:ln>
        </p:spPr>
      </p:sp>
      <p:sp>
        <p:nvSpPr>
          <p:cNvPr id="20" name="Shape 18"/>
          <p:cNvSpPr/>
          <p:nvPr/>
        </p:nvSpPr>
        <p:spPr>
          <a:xfrm>
            <a:off x="228600" y="2834640"/>
            <a:ext cx="502920" cy="1207008"/>
          </a:xfrm>
          <a:prstGeom prst="rect">
            <a:avLst/>
          </a:prstGeom>
          <a:solidFill>
            <a:srgbClr val="FFD166"/>
          </a:solidFill>
          <a:ln w="12700">
            <a:solidFill>
              <a:srgbClr val="FFD166"/>
            </a:solidFill>
            <a:prstDash val="solid"/>
          </a:ln>
        </p:spPr>
      </p:sp>
      <p:sp>
        <p:nvSpPr>
          <p:cNvPr id="21" name="Text 19"/>
          <p:cNvSpPr/>
          <p:nvPr/>
        </p:nvSpPr>
        <p:spPr>
          <a:xfrm>
            <a:off x="228600" y="2834640"/>
            <a:ext cx="502920" cy="1207008"/>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DT</a:t>
            </a:r>
            <a:endParaRPr lang="en-US" sz="1300" dirty="0"/>
          </a:p>
        </p:txBody>
      </p:sp>
      <p:sp>
        <p:nvSpPr>
          <p:cNvPr id="22" name="Text 20"/>
          <p:cNvSpPr/>
          <p:nvPr/>
        </p:nvSpPr>
        <p:spPr>
          <a:xfrm>
            <a:off x="822960" y="2944368"/>
            <a:ext cx="3474720" cy="256032"/>
          </a:xfrm>
          <a:prstGeom prst="rect">
            <a:avLst/>
          </a:prstGeom>
          <a:noFill/>
          <a:ln/>
        </p:spPr>
        <p:txBody>
          <a:bodyPr wrap="square" rtlCol="0" anchor="ctr"/>
          <a:lstStyle/>
          <a:p>
            <a:pPr indent="0" marL="0">
              <a:buNone/>
            </a:pPr>
            <a:r>
              <a:rPr lang="en-US" sz="1100" b="1" dirty="0">
                <a:solidFill>
                  <a:srgbClr val="FFD166"/>
                </a:solidFill>
                <a:latin typeface="Calibri" pitchFamily="34" charset="0"/>
                <a:ea typeface="Calibri" pitchFamily="34" charset="-122"/>
                <a:cs typeface="Calibri" pitchFamily="34" charset="-120"/>
              </a:rPr>
              <a:t>Decision Tree  |  Tree</a:t>
            </a:r>
            <a:endParaRPr lang="en-US" sz="1100" dirty="0"/>
          </a:p>
        </p:txBody>
      </p:sp>
      <p:sp>
        <p:nvSpPr>
          <p:cNvPr id="23" name="Text 21"/>
          <p:cNvSpPr/>
          <p:nvPr/>
        </p:nvSpPr>
        <p:spPr>
          <a:xfrm>
            <a:off x="822960" y="3236976"/>
            <a:ext cx="3474720" cy="38404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max_depth=5, balanced class weights. Visual interpretability.</a:t>
            </a:r>
            <a:endParaRPr lang="en-US" sz="1000" dirty="0"/>
          </a:p>
        </p:txBody>
      </p:sp>
      <p:sp>
        <p:nvSpPr>
          <p:cNvPr id="24" name="Text 22"/>
          <p:cNvSpPr/>
          <p:nvPr/>
        </p:nvSpPr>
        <p:spPr>
          <a:xfrm>
            <a:off x="822960" y="3657600"/>
            <a:ext cx="3474720" cy="256032"/>
          </a:xfrm>
          <a:prstGeom prst="rect">
            <a:avLst/>
          </a:prstGeom>
          <a:noFill/>
          <a:ln/>
        </p:spPr>
        <p:txBody>
          <a:bodyPr wrap="square" rtlCol="0" anchor="ctr"/>
          <a:lstStyle/>
          <a:p>
            <a:pPr indent="0" marL="0">
              <a:buNone/>
            </a:pPr>
            <a:r>
              <a:rPr lang="en-US" sz="900" i="1" dirty="0">
                <a:solidFill>
                  <a:srgbClr val="FFD166"/>
                </a:solidFill>
                <a:latin typeface="Calibri" pitchFamily="34" charset="0"/>
                <a:ea typeface="Calibri" pitchFamily="34" charset="-122"/>
                <a:cs typeface="Calibri" pitchFamily="34" charset="-120"/>
              </a:rPr>
              <a:t>✓ Human-readable rules</a:t>
            </a:r>
            <a:endParaRPr lang="en-US" sz="900" dirty="0"/>
          </a:p>
        </p:txBody>
      </p:sp>
      <p:sp>
        <p:nvSpPr>
          <p:cNvPr id="25" name="Shape 23"/>
          <p:cNvSpPr/>
          <p:nvPr/>
        </p:nvSpPr>
        <p:spPr>
          <a:xfrm>
            <a:off x="4663440" y="2834640"/>
            <a:ext cx="4206240" cy="1207008"/>
          </a:xfrm>
          <a:prstGeom prst="rect">
            <a:avLst/>
          </a:prstGeom>
          <a:solidFill>
            <a:srgbClr val="0F2040"/>
          </a:solidFill>
          <a:ln w="12700">
            <a:solidFill>
              <a:srgbClr val="8BAFC8"/>
            </a:solidFill>
            <a:prstDash val="solid"/>
          </a:ln>
        </p:spPr>
      </p:sp>
      <p:sp>
        <p:nvSpPr>
          <p:cNvPr id="26" name="Shape 24"/>
          <p:cNvSpPr/>
          <p:nvPr/>
        </p:nvSpPr>
        <p:spPr>
          <a:xfrm>
            <a:off x="4663440" y="2834640"/>
            <a:ext cx="502920" cy="1207008"/>
          </a:xfrm>
          <a:prstGeom prst="rect">
            <a:avLst/>
          </a:prstGeom>
          <a:solidFill>
            <a:srgbClr val="8BAFC8"/>
          </a:solidFill>
          <a:ln w="12700">
            <a:solidFill>
              <a:srgbClr val="8BAFC8"/>
            </a:solidFill>
            <a:prstDash val="solid"/>
          </a:ln>
        </p:spPr>
      </p:sp>
      <p:sp>
        <p:nvSpPr>
          <p:cNvPr id="27" name="Text 25"/>
          <p:cNvSpPr/>
          <p:nvPr/>
        </p:nvSpPr>
        <p:spPr>
          <a:xfrm>
            <a:off x="4663440" y="2834640"/>
            <a:ext cx="502920" cy="1207008"/>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NB</a:t>
            </a:r>
            <a:endParaRPr lang="en-US" sz="1300" dirty="0"/>
          </a:p>
        </p:txBody>
      </p:sp>
      <p:sp>
        <p:nvSpPr>
          <p:cNvPr id="28" name="Text 26"/>
          <p:cNvSpPr/>
          <p:nvPr/>
        </p:nvSpPr>
        <p:spPr>
          <a:xfrm>
            <a:off x="5257800" y="2944368"/>
            <a:ext cx="3474720" cy="256032"/>
          </a:xfrm>
          <a:prstGeom prst="rect">
            <a:avLst/>
          </a:prstGeom>
          <a:noFill/>
          <a:ln/>
        </p:spPr>
        <p:txBody>
          <a:bodyPr wrap="square" rtlCol="0" anchor="ctr"/>
          <a:lstStyle/>
          <a:p>
            <a:pPr indent="0" marL="0">
              <a:buNone/>
            </a:pPr>
            <a:r>
              <a:rPr lang="en-US" sz="1100" b="1" dirty="0">
                <a:solidFill>
                  <a:srgbClr val="8BAFC8"/>
                </a:solidFill>
                <a:latin typeface="Calibri" pitchFamily="34" charset="0"/>
                <a:ea typeface="Calibri" pitchFamily="34" charset="-122"/>
                <a:cs typeface="Calibri" pitchFamily="34" charset="-120"/>
              </a:rPr>
              <a:t>Gaussian Naive Bayes  |  Probabilistic</a:t>
            </a:r>
            <a:endParaRPr lang="en-US" sz="1100" dirty="0"/>
          </a:p>
        </p:txBody>
      </p:sp>
      <p:sp>
        <p:nvSpPr>
          <p:cNvPr id="29" name="Text 27"/>
          <p:cNvSpPr/>
          <p:nvPr/>
        </p:nvSpPr>
        <p:spPr>
          <a:xfrm>
            <a:off x="5257800" y="3236976"/>
            <a:ext cx="3474720" cy="384048"/>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Assumes Gaussian features, independence. Efficient baseline.</a:t>
            </a:r>
            <a:endParaRPr lang="en-US" sz="1000" dirty="0"/>
          </a:p>
        </p:txBody>
      </p:sp>
      <p:sp>
        <p:nvSpPr>
          <p:cNvPr id="30" name="Text 28"/>
          <p:cNvSpPr/>
          <p:nvPr/>
        </p:nvSpPr>
        <p:spPr>
          <a:xfrm>
            <a:off x="5257800" y="3657600"/>
            <a:ext cx="3474720" cy="256032"/>
          </a:xfrm>
          <a:prstGeom prst="rect">
            <a:avLst/>
          </a:prstGeom>
          <a:noFill/>
          <a:ln/>
        </p:spPr>
        <p:txBody>
          <a:bodyPr wrap="square" rtlCol="0" anchor="ctr"/>
          <a:lstStyle/>
          <a:p>
            <a:pPr indent="0" marL="0">
              <a:buNone/>
            </a:pPr>
            <a:r>
              <a:rPr lang="en-US" sz="900" i="1" dirty="0">
                <a:solidFill>
                  <a:srgbClr val="8BAFC8"/>
                </a:solidFill>
                <a:latin typeface="Calibri" pitchFamily="34" charset="0"/>
                <a:ea typeface="Calibri" pitchFamily="34" charset="-122"/>
                <a:cs typeface="Calibri" pitchFamily="34" charset="-120"/>
              </a:rPr>
              <a:t>✓ Very fast, probabilistic output</a:t>
            </a:r>
            <a:endParaRPr lang="en-US" sz="900" dirty="0"/>
          </a:p>
        </p:txBody>
      </p:sp>
      <p:sp>
        <p:nvSpPr>
          <p:cNvPr id="31" name="Shape 29"/>
          <p:cNvSpPr/>
          <p:nvPr/>
        </p:nvSpPr>
        <p:spPr>
          <a:xfrm>
            <a:off x="2331720" y="4206240"/>
            <a:ext cx="4389120" cy="685800"/>
          </a:xfrm>
          <a:prstGeom prst="rect">
            <a:avLst/>
          </a:prstGeom>
          <a:solidFill>
            <a:srgbClr val="0F2040"/>
          </a:solidFill>
          <a:ln w="12700">
            <a:solidFill>
              <a:srgbClr val="FF6B35"/>
            </a:solidFill>
            <a:prstDash val="solid"/>
          </a:ln>
        </p:spPr>
      </p:sp>
      <p:sp>
        <p:nvSpPr>
          <p:cNvPr id="32" name="Shape 30"/>
          <p:cNvSpPr/>
          <p:nvPr/>
        </p:nvSpPr>
        <p:spPr>
          <a:xfrm>
            <a:off x="2331720" y="4206240"/>
            <a:ext cx="502920" cy="685800"/>
          </a:xfrm>
          <a:prstGeom prst="rect">
            <a:avLst/>
          </a:prstGeom>
          <a:solidFill>
            <a:srgbClr val="FF6B35"/>
          </a:solidFill>
          <a:ln w="12700">
            <a:solidFill>
              <a:srgbClr val="FF6B35"/>
            </a:solidFill>
            <a:prstDash val="solid"/>
          </a:ln>
        </p:spPr>
      </p:sp>
      <p:sp>
        <p:nvSpPr>
          <p:cNvPr id="33" name="Text 31"/>
          <p:cNvSpPr/>
          <p:nvPr/>
        </p:nvSpPr>
        <p:spPr>
          <a:xfrm>
            <a:off x="2331720" y="4206240"/>
            <a:ext cx="502920" cy="685800"/>
          </a:xfrm>
          <a:prstGeom prst="rect">
            <a:avLst/>
          </a:prstGeom>
          <a:noFill/>
          <a:ln/>
        </p:spPr>
        <p:txBody>
          <a:bodyPr wrap="square" lIns="0" tIns="0" rIns="0" bIns="0"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SV</a:t>
            </a:r>
            <a:endParaRPr lang="en-US" sz="1100" dirty="0"/>
          </a:p>
        </p:txBody>
      </p:sp>
      <p:sp>
        <p:nvSpPr>
          <p:cNvPr id="34" name="Text 32"/>
          <p:cNvSpPr/>
          <p:nvPr/>
        </p:nvSpPr>
        <p:spPr>
          <a:xfrm>
            <a:off x="2907792" y="4251960"/>
            <a:ext cx="3474720" cy="228600"/>
          </a:xfrm>
          <a:prstGeom prst="rect">
            <a:avLst/>
          </a:prstGeom>
          <a:noFill/>
          <a:ln/>
        </p:spPr>
        <p:txBody>
          <a:bodyPr wrap="square"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SVM (Conceptual)</a:t>
            </a:r>
            <a:endParaRPr lang="en-US" sz="1100" dirty="0"/>
          </a:p>
        </p:txBody>
      </p:sp>
      <p:sp>
        <p:nvSpPr>
          <p:cNvPr id="35" name="Text 33"/>
          <p:cNvSpPr/>
          <p:nvPr/>
        </p:nvSpPr>
        <p:spPr>
          <a:xfrm>
            <a:off x="2907792" y="4498848"/>
            <a:ext cx="3474720" cy="22860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RBF kernel on PCA-reduced features. Optimal margin classifier.</a:t>
            </a:r>
            <a:endParaRPr lang="en-US" sz="900" dirty="0"/>
          </a:p>
        </p:txBody>
      </p:sp>
      <p:sp>
        <p:nvSpPr>
          <p:cNvPr id="36" name="Text 34"/>
          <p:cNvSpPr/>
          <p:nvPr/>
        </p:nvSpPr>
        <p:spPr>
          <a:xfrm>
            <a:off x="274320" y="4850892"/>
            <a:ext cx="8686800" cy="201168"/>
          </a:xfrm>
          <a:prstGeom prst="rect">
            <a:avLst/>
          </a:prstGeom>
          <a:noFill/>
          <a:ln/>
        </p:spPr>
        <p:txBody>
          <a:bodyPr wrap="square" rtlCol="0" anchor="ctr"/>
          <a:lstStyle/>
          <a:p>
            <a:pPr indent="0" marL="0">
              <a:buNone/>
            </a:pPr>
            <a:r>
              <a:rPr lang="en-US" sz="800" dirty="0">
                <a:solidFill>
                  <a:srgbClr val="FF6B35"/>
                </a:solidFill>
                <a:latin typeface="Calibri" pitchFamily="34" charset="0"/>
                <a:ea typeface="Calibri" pitchFamily="34" charset="-122"/>
                <a:cs typeface="Calibri" pitchFamily="34" charset="-120"/>
              </a:rPr>
              <a:t>Primary optimization target: Recall (Sensitivity) — false negatives are costly in drug safety surveillance</a:t>
            </a:r>
            <a:endParaRPr lang="en-US" sz="800" dirty="0"/>
          </a:p>
        </p:txBody>
      </p:sp>
      <p:sp>
        <p:nvSpPr>
          <p:cNvPr id="37" name="Text 35"/>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17 / 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5: SUPERVISED LEARNING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Model Comparison: The Safety Shield</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Random Forest at threshold=0.15 optimized for maximum recall</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28600" y="1417320"/>
          <a:ext cx="8686800" cy="2743200"/>
        </p:xfrm>
        <a:graphic>
          <a:graphicData uri="http://schemas.openxmlformats.org/drawingml/2006/table">
            <a:tbl>
              <a:tblPr/>
              <a:tblGrid>
                <a:gridCol w="2377440"/>
                <a:gridCol w="1097280"/>
                <a:gridCol w="1280160"/>
                <a:gridCol w="1188720"/>
                <a:gridCol w="914400"/>
                <a:gridCol w="1097280"/>
              </a:tblGrid>
              <a:tr h="384048">
                <a:tc>
                  <a:txBody>
                    <a:bodyPr/>
                    <a:lstStyle/>
                    <a:p>
                      <a:pPr algn="ctr" indent="0" marL="0">
                        <a:buNone/>
                      </a:pPr>
                      <a:r>
                        <a:rPr lang="en-US" sz="1000" b="1" dirty="0">
                          <a:solidFill>
                            <a:srgbClr val="0A1628"/>
                          </a:solidFill>
                        </a:rPr>
                        <a:t>Model</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AUC</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Recall</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Accuracy</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F1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Threshold</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r>
              <a:tr h="384048">
                <a:tc>
                  <a:txBody>
                    <a:bodyPr/>
                    <a:lstStyle/>
                    <a:p>
                      <a:pPr indent="0" marL="0">
                        <a:buNone/>
                      </a:pPr>
                      <a:r>
                        <a:rPr lang="en-US" sz="1000" dirty="0">
                          <a:solidFill>
                            <a:srgbClr val="E8F4F8"/>
                          </a:solidFill>
                        </a:rPr>
                        <a:t>Decision Tree</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0.7879</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0.6902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0.7911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0.4253</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0.50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84048">
                <a:tc>
                  <a:txBody>
                    <a:bodyPr/>
                    <a:lstStyle/>
                    <a:p>
                      <a:pPr indent="0" marL="0">
                        <a:buNone/>
                      </a:pPr>
                      <a:r>
                        <a:rPr lang="en-US" sz="1000" dirty="0">
                          <a:solidFill>
                            <a:srgbClr val="E8F4F8"/>
                          </a:solidFill>
                        </a:rPr>
                        <a:t>Logistic Regression</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0.8111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F476F"/>
                          </a:solidFill>
                        </a:rPr>
                        <a:t>0.6307</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8F4F8"/>
                          </a:solidFill>
                        </a:rPr>
                        <a:t>0.8300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0.4276</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0.50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84048">
                <a:tc>
                  <a:txBody>
                    <a:bodyPr/>
                    <a:lstStyle/>
                    <a:p>
                      <a:pPr indent="0" marL="0">
                        <a:buNone/>
                      </a:pPr>
                      <a:r>
                        <a:rPr lang="en-US" sz="1000" dirty="0">
                          <a:solidFill>
                            <a:srgbClr val="E8F4F8"/>
                          </a:solidFill>
                        </a:rPr>
                        <a:t>Gaussian Naive Bayes</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0.7742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F476F"/>
                          </a:solidFill>
                        </a:rPr>
                        <a:t>0.3491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100A"/>
                    </a:solidFill>
                  </a:tcPr>
                </a:tc>
                <a:tc>
                  <a:txBody>
                    <a:bodyPr/>
                    <a:lstStyle/>
                    <a:p>
                      <a:pPr algn="ctr" indent="0" marL="0">
                        <a:buNone/>
                      </a:pPr>
                      <a:r>
                        <a:rPr lang="en-US" sz="1000" dirty="0">
                          <a:solidFill>
                            <a:srgbClr val="E8F4F8"/>
                          </a:solidFill>
                        </a:rPr>
                        <a:t>0.8662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0.3689</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0.50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84048">
                <a:tc>
                  <a:txBody>
                    <a:bodyPr/>
                    <a:lstStyle/>
                    <a:p>
                      <a:pPr indent="0" marL="0">
                        <a:buNone/>
                      </a:pPr>
                      <a:r>
                        <a:rPr lang="en-US" sz="1000" dirty="0">
                          <a:solidFill>
                            <a:srgbClr val="E8F4F8"/>
                          </a:solidFill>
                        </a:rPr>
                        <a:t>Random Forest (baseline)</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02C39A"/>
                          </a:solidFill>
                        </a:rPr>
                        <a:t>0.6993</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EF476F"/>
                          </a:solidFill>
                        </a:rPr>
                        <a:t>0.3920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1A100A"/>
                    </a:solidFill>
                  </a:tcPr>
                </a:tc>
                <a:tc>
                  <a:txBody>
                    <a:bodyPr/>
                    <a:lstStyle/>
                    <a:p>
                      <a:pPr algn="ctr" indent="0" marL="0">
                        <a:buNone/>
                      </a:pPr>
                      <a:r>
                        <a:rPr lang="en-US" sz="1000" dirty="0">
                          <a:solidFill>
                            <a:srgbClr val="E8F4F8"/>
                          </a:solidFill>
                        </a:rPr>
                        <a:t>0.8562</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0.3791</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c>
                  <a:txBody>
                    <a:bodyPr/>
                    <a:lstStyle/>
                    <a:p>
                      <a:pPr algn="ctr" indent="0" marL="0">
                        <a:buNone/>
                      </a:pPr>
                      <a:r>
                        <a:rPr lang="en-US" sz="1000" dirty="0">
                          <a:solidFill>
                            <a:srgbClr val="8BAFC8"/>
                          </a:solidFill>
                        </a:rPr>
                        <a:t>0.50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F2040"/>
                    </a:solidFill>
                  </a:tcPr>
                </a:tc>
              </a:tr>
              <a:tr h="384048">
                <a:tc>
                  <a:txBody>
                    <a:bodyPr/>
                    <a:lstStyle/>
                    <a:p>
                      <a:pPr indent="0" marL="0">
                        <a:buNone/>
                      </a:pPr>
                      <a:r>
                        <a:rPr lang="en-US" sz="1000" b="1" dirty="0">
                          <a:solidFill>
                            <a:srgbClr val="0A1628"/>
                          </a:solidFill>
                        </a:rPr>
                        <a:t>★ Random Forest (tuned)</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dirty="0">
                          <a:solidFill>
                            <a:srgbClr val="0A1628"/>
                          </a:solidFill>
                        </a:rPr>
                        <a:t>0.8438</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0.9639</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dirty="0">
                          <a:solidFill>
                            <a:srgbClr val="0A1628"/>
                          </a:solidFill>
                        </a:rPr>
                        <a:t>—</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dirty="0">
                          <a:solidFill>
                            <a:srgbClr val="0A1628"/>
                          </a:solidFill>
                        </a:rPr>
                        <a:t>0.2230</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c>
                  <a:txBody>
                    <a:bodyPr/>
                    <a:lstStyle/>
                    <a:p>
                      <a:pPr algn="ctr" indent="0" marL="0">
                        <a:buNone/>
                      </a:pPr>
                      <a:r>
                        <a:rPr lang="en-US" sz="1000" b="1" dirty="0">
                          <a:solidFill>
                            <a:srgbClr val="0A1628"/>
                          </a:solidFill>
                        </a:rPr>
                        <a:t>0.15</a:t>
                      </a:r>
                      <a:endParaRPr lang="en-US" sz="1000" dirty="0"/>
                    </a:p>
                  </a:txBody>
                  <a:tcPr marL="91440" marR="91440" marT="45720" marB="45720">
                    <a:lnL w="12700" cap="flat" cmpd="sng" algn="ctr">
                      <a:solidFill>
                        <a:srgbClr val="162A50"/>
                      </a:solidFill>
                      <a:prstDash val="solid"/>
                      <a:round/>
                      <a:headEnd type="none" w="med" len="med"/>
                      <a:tailEnd type="none" w="med" len="med"/>
                    </a:lnL>
                    <a:lnR w="12700" cap="flat" cmpd="sng" algn="ctr">
                      <a:solidFill>
                        <a:srgbClr val="162A50"/>
                      </a:solidFill>
                      <a:prstDash val="solid"/>
                      <a:round/>
                      <a:headEnd type="none" w="med" len="med"/>
                      <a:tailEnd type="none" w="med" len="med"/>
                    </a:lnR>
                    <a:lnT w="12700" cap="flat" cmpd="sng" algn="ctr">
                      <a:solidFill>
                        <a:srgbClr val="162A50"/>
                      </a:solidFill>
                      <a:prstDash val="solid"/>
                      <a:round/>
                      <a:headEnd type="none" w="med" len="med"/>
                      <a:tailEnd type="none" w="med" len="med"/>
                    </a:lnT>
                    <a:lnB w="12700" cap="flat" cmpd="sng" algn="ctr">
                      <a:solidFill>
                        <a:srgbClr val="162A50"/>
                      </a:solidFill>
                      <a:prstDash val="solid"/>
                      <a:round/>
                      <a:headEnd type="none" w="med" len="med"/>
                      <a:tailEnd type="none" w="med" len="med"/>
                    </a:lnB>
                    <a:solidFill>
                      <a:srgbClr val="00A896"/>
                    </a:solidFill>
                  </a:tcPr>
                </a:tc>
              </a:tr>
            </a:tbl>
          </a:graphicData>
        </a:graphic>
      </p:graphicFrame>
      <p:sp>
        <p:nvSpPr>
          <p:cNvPr id="8" name="Shape 5"/>
          <p:cNvSpPr/>
          <p:nvPr/>
        </p:nvSpPr>
        <p:spPr>
          <a:xfrm>
            <a:off x="228600" y="4297680"/>
            <a:ext cx="4572000" cy="594360"/>
          </a:xfrm>
          <a:prstGeom prst="rect">
            <a:avLst/>
          </a:prstGeom>
          <a:solidFill>
            <a:srgbClr val="0F2040"/>
          </a:solidFill>
          <a:ln w="12700">
            <a:solidFill>
              <a:srgbClr val="00A896"/>
            </a:solidFill>
            <a:prstDash val="solid"/>
          </a:ln>
        </p:spPr>
      </p:sp>
      <p:sp>
        <p:nvSpPr>
          <p:cNvPr id="9" name="Text 6"/>
          <p:cNvSpPr/>
          <p:nvPr/>
        </p:nvSpPr>
        <p:spPr>
          <a:xfrm>
            <a:off x="365760" y="4361688"/>
            <a:ext cx="4297680" cy="45720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Threshold Engineering: Lowering from 0.50 → 0.15 converts RF from a mediocre model (Recall=39%) to a highly sensitive surveillance tool (Recall=96%).</a:t>
            </a:r>
            <a:endParaRPr lang="en-US" sz="1000" dirty="0"/>
          </a:p>
        </p:txBody>
      </p:sp>
      <p:sp>
        <p:nvSpPr>
          <p:cNvPr id="10" name="Shape 7"/>
          <p:cNvSpPr/>
          <p:nvPr/>
        </p:nvSpPr>
        <p:spPr>
          <a:xfrm>
            <a:off x="4937760" y="4297680"/>
            <a:ext cx="3977640" cy="594360"/>
          </a:xfrm>
          <a:prstGeom prst="rect">
            <a:avLst/>
          </a:prstGeom>
          <a:solidFill>
            <a:srgbClr val="0F2040"/>
          </a:solidFill>
          <a:ln w="12700">
            <a:solidFill>
              <a:srgbClr val="FF6B35"/>
            </a:solidFill>
            <a:prstDash val="solid"/>
          </a:ln>
        </p:spPr>
      </p:sp>
      <p:sp>
        <p:nvSpPr>
          <p:cNvPr id="11" name="Text 8"/>
          <p:cNvSpPr/>
          <p:nvPr/>
        </p:nvSpPr>
        <p:spPr>
          <a:xfrm>
            <a:off x="5074920" y="4361688"/>
            <a:ext cx="3749040" cy="45720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Alert fatigue tradeoff: 96% recall produces false positives — but in drug safety, a missed severe case is always worse than a false alarm.</a:t>
            </a:r>
            <a:endParaRPr lang="en-US" sz="1000" dirty="0"/>
          </a:p>
        </p:txBody>
      </p:sp>
      <p:sp>
        <p:nvSpPr>
          <p:cNvPr id="12" name="Text 9"/>
          <p:cNvSpPr/>
          <p:nvPr/>
        </p:nvSpPr>
        <p:spPr>
          <a:xfrm>
            <a:off x="274320" y="4887468"/>
            <a:ext cx="8686800" cy="182880"/>
          </a:xfrm>
          <a:prstGeom prst="rect">
            <a:avLst/>
          </a:prstGeom>
          <a:noFill/>
          <a:ln/>
        </p:spPr>
        <p:txBody>
          <a:bodyPr wrap="square" rtlCol="0" anchor="ctr"/>
          <a:lstStyle/>
          <a:p>
            <a:pPr indent="0" marL="0">
              <a:buNone/>
            </a:pPr>
            <a:r>
              <a:rPr lang="en-US" sz="800" dirty="0">
                <a:solidFill>
                  <a:srgbClr val="4A6D87"/>
                </a:solidFill>
                <a:latin typeface="Calibri" pitchFamily="34" charset="0"/>
                <a:ea typeface="Calibri" pitchFamily="34" charset="-122"/>
                <a:cs typeface="Calibri" pitchFamily="34" charset="-120"/>
              </a:rPr>
              <a:t>Grey cells = models not optimized for this task  |  Recall = primary metric for safety surveillance</a:t>
            </a:r>
            <a:endParaRPr lang="en-US" sz="800" dirty="0"/>
          </a:p>
        </p:txBody>
      </p:sp>
      <p:sp>
        <p:nvSpPr>
          <p:cNvPr id="13" name="Text 10"/>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18 / 24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5: SUPERVISED LEARNING</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Confusion Matrix: The Alert Fatigue Story</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Random Forest (threshold=0.15) — 96.39% Recall on the GLP-1 cohort</a:t>
            </a:r>
            <a:endParaRPr lang="en-US" sz="1300" dirty="0"/>
          </a:p>
        </p:txBody>
      </p:sp>
      <p:sp>
        <p:nvSpPr>
          <p:cNvPr id="7" name="Shape 5"/>
          <p:cNvSpPr/>
          <p:nvPr/>
        </p:nvSpPr>
        <p:spPr>
          <a:xfrm>
            <a:off x="1828800" y="1554480"/>
            <a:ext cx="1645920" cy="1645920"/>
          </a:xfrm>
          <a:prstGeom prst="rect">
            <a:avLst/>
          </a:prstGeom>
          <a:solidFill>
            <a:srgbClr val="0F2040"/>
          </a:solidFill>
          <a:ln w="12700">
            <a:solidFill>
              <a:srgbClr val="162A50"/>
            </a:solidFill>
            <a:prstDash val="solid"/>
          </a:ln>
        </p:spPr>
      </p:sp>
      <p:sp>
        <p:nvSpPr>
          <p:cNvPr id="8" name="Text 6"/>
          <p:cNvSpPr/>
          <p:nvPr/>
        </p:nvSpPr>
        <p:spPr>
          <a:xfrm>
            <a:off x="1828800" y="1664208"/>
            <a:ext cx="1645920" cy="320040"/>
          </a:xfrm>
          <a:prstGeom prst="rect">
            <a:avLst/>
          </a:prstGeom>
          <a:noFill/>
          <a:ln/>
        </p:spPr>
        <p:txBody>
          <a:bodyPr wrap="square" rtlCol="0" anchor="ctr"/>
          <a:lstStyle/>
          <a:p>
            <a:pPr algn="ctr" indent="0" marL="0">
              <a:buNone/>
            </a:pPr>
            <a:r>
              <a:rPr lang="en-US" sz="1100" b="1" dirty="0">
                <a:solidFill>
                  <a:srgbClr val="00A896"/>
                </a:solidFill>
                <a:latin typeface="Calibri" pitchFamily="34" charset="0"/>
                <a:ea typeface="Calibri" pitchFamily="34" charset="-122"/>
                <a:cs typeface="Calibri" pitchFamily="34" charset="-120"/>
              </a:rPr>
              <a:t>TN</a:t>
            </a:r>
            <a:endParaRPr lang="en-US" sz="1100" dirty="0"/>
          </a:p>
        </p:txBody>
      </p:sp>
      <p:sp>
        <p:nvSpPr>
          <p:cNvPr id="9" name="Text 7"/>
          <p:cNvSpPr/>
          <p:nvPr/>
        </p:nvSpPr>
        <p:spPr>
          <a:xfrm>
            <a:off x="1828800" y="2084832"/>
            <a:ext cx="1645920" cy="411480"/>
          </a:xfrm>
          <a:prstGeom prst="rect">
            <a:avLst/>
          </a:prstGeom>
          <a:noFill/>
          <a:ln/>
        </p:spPr>
        <p:txBody>
          <a:bodyPr wrap="square" rtlCol="0" anchor="ctr"/>
          <a:lstStyle/>
          <a:p>
            <a:pPr algn="ctr" indent="0" marL="0">
              <a:buNone/>
            </a:pPr>
            <a:r>
              <a:rPr lang="en-US" sz="2400" b="1" dirty="0">
                <a:solidFill>
                  <a:srgbClr val="00A896"/>
                </a:solidFill>
                <a:latin typeface="Calibri" pitchFamily="34" charset="0"/>
                <a:ea typeface="Calibri" pitchFamily="34" charset="-122"/>
                <a:cs typeface="Calibri" pitchFamily="34" charset="-120"/>
              </a:rPr>
              <a:t>113,166</a:t>
            </a:r>
            <a:endParaRPr lang="en-US" sz="2400" dirty="0"/>
          </a:p>
        </p:txBody>
      </p:sp>
      <p:sp>
        <p:nvSpPr>
          <p:cNvPr id="10" name="Shape 8"/>
          <p:cNvSpPr/>
          <p:nvPr/>
        </p:nvSpPr>
        <p:spPr>
          <a:xfrm>
            <a:off x="3474720" y="1554480"/>
            <a:ext cx="1645920" cy="1645920"/>
          </a:xfrm>
          <a:prstGeom prst="rect">
            <a:avLst/>
          </a:prstGeom>
          <a:solidFill>
            <a:srgbClr val="1A1020"/>
          </a:solidFill>
          <a:ln w="12700">
            <a:solidFill>
              <a:srgbClr val="162A50"/>
            </a:solidFill>
            <a:prstDash val="solid"/>
          </a:ln>
        </p:spPr>
      </p:sp>
      <p:sp>
        <p:nvSpPr>
          <p:cNvPr id="11" name="Text 9"/>
          <p:cNvSpPr/>
          <p:nvPr/>
        </p:nvSpPr>
        <p:spPr>
          <a:xfrm>
            <a:off x="3474720" y="1664208"/>
            <a:ext cx="1645920" cy="320040"/>
          </a:xfrm>
          <a:prstGeom prst="rect">
            <a:avLst/>
          </a:prstGeom>
          <a:noFill/>
          <a:ln/>
        </p:spPr>
        <p:txBody>
          <a:bodyPr wrap="square" rtlCol="0" anchor="ctr"/>
          <a:lstStyle/>
          <a:p>
            <a:pPr algn="ctr" indent="0" marL="0">
              <a:buNone/>
            </a:pPr>
            <a:r>
              <a:rPr lang="en-US" sz="1100" b="1" dirty="0">
                <a:solidFill>
                  <a:srgbClr val="FF6B35"/>
                </a:solidFill>
                <a:latin typeface="Calibri" pitchFamily="34" charset="0"/>
                <a:ea typeface="Calibri" pitchFamily="34" charset="-122"/>
                <a:cs typeface="Calibri" pitchFamily="34" charset="-120"/>
              </a:rPr>
              <a:t>FP</a:t>
            </a:r>
            <a:endParaRPr lang="en-US" sz="1100" dirty="0"/>
          </a:p>
        </p:txBody>
      </p:sp>
      <p:sp>
        <p:nvSpPr>
          <p:cNvPr id="12" name="Text 10"/>
          <p:cNvSpPr/>
          <p:nvPr/>
        </p:nvSpPr>
        <p:spPr>
          <a:xfrm>
            <a:off x="3474720" y="2084832"/>
            <a:ext cx="1645920" cy="411480"/>
          </a:xfrm>
          <a:prstGeom prst="rect">
            <a:avLst/>
          </a:prstGeom>
          <a:noFill/>
          <a:ln/>
        </p:spPr>
        <p:txBody>
          <a:bodyPr wrap="square" rtlCol="0" anchor="ctr"/>
          <a:lstStyle/>
          <a:p>
            <a:pPr algn="ctr" indent="0" marL="0">
              <a:buNone/>
            </a:pPr>
            <a:r>
              <a:rPr lang="en-US" sz="2400" b="1" dirty="0">
                <a:solidFill>
                  <a:srgbClr val="FF6B35"/>
                </a:solidFill>
                <a:latin typeface="Calibri" pitchFamily="34" charset="0"/>
                <a:ea typeface="Calibri" pitchFamily="34" charset="-122"/>
                <a:cs typeface="Calibri" pitchFamily="34" charset="-120"/>
              </a:rPr>
              <a:t>65,900</a:t>
            </a:r>
            <a:endParaRPr lang="en-US" sz="2400" dirty="0"/>
          </a:p>
        </p:txBody>
      </p:sp>
      <p:sp>
        <p:nvSpPr>
          <p:cNvPr id="13" name="Shape 11"/>
          <p:cNvSpPr/>
          <p:nvPr/>
        </p:nvSpPr>
        <p:spPr>
          <a:xfrm>
            <a:off x="1828800" y="3200400"/>
            <a:ext cx="1645920" cy="1645920"/>
          </a:xfrm>
          <a:prstGeom prst="rect">
            <a:avLst/>
          </a:prstGeom>
          <a:solidFill>
            <a:srgbClr val="028090"/>
          </a:solidFill>
          <a:ln w="12700">
            <a:solidFill>
              <a:srgbClr val="162A50"/>
            </a:solidFill>
            <a:prstDash val="solid"/>
          </a:ln>
        </p:spPr>
      </p:sp>
      <p:sp>
        <p:nvSpPr>
          <p:cNvPr id="14" name="Text 12"/>
          <p:cNvSpPr/>
          <p:nvPr/>
        </p:nvSpPr>
        <p:spPr>
          <a:xfrm>
            <a:off x="1828800" y="3310128"/>
            <a:ext cx="1645920" cy="320040"/>
          </a:xfrm>
          <a:prstGeom prst="rect">
            <a:avLst/>
          </a:prstGeom>
          <a:noFill/>
          <a:ln/>
        </p:spPr>
        <p:txBody>
          <a:bodyPr wrap="square" rtlCol="0" anchor="ctr"/>
          <a:lstStyle/>
          <a:p>
            <a:pPr algn="ctr" indent="0" marL="0">
              <a:buNone/>
            </a:pPr>
            <a:r>
              <a:rPr lang="en-US" sz="1100" b="1" dirty="0">
                <a:solidFill>
                  <a:srgbClr val="EF476F"/>
                </a:solidFill>
                <a:latin typeface="Calibri" pitchFamily="34" charset="0"/>
                <a:ea typeface="Calibri" pitchFamily="34" charset="-122"/>
                <a:cs typeface="Calibri" pitchFamily="34" charset="-120"/>
              </a:rPr>
              <a:t>FN</a:t>
            </a:r>
            <a:endParaRPr lang="en-US" sz="1100" dirty="0"/>
          </a:p>
        </p:txBody>
      </p:sp>
      <p:sp>
        <p:nvSpPr>
          <p:cNvPr id="15" name="Text 13"/>
          <p:cNvSpPr/>
          <p:nvPr/>
        </p:nvSpPr>
        <p:spPr>
          <a:xfrm>
            <a:off x="1828800" y="3730752"/>
            <a:ext cx="1645920" cy="411480"/>
          </a:xfrm>
          <a:prstGeom prst="rect">
            <a:avLst/>
          </a:prstGeom>
          <a:noFill/>
          <a:ln/>
        </p:spPr>
        <p:txBody>
          <a:bodyPr wrap="square" rtlCol="0" anchor="ctr"/>
          <a:lstStyle/>
          <a:p>
            <a:pPr algn="ctr" indent="0" marL="0">
              <a:buNone/>
            </a:pPr>
            <a:r>
              <a:rPr lang="en-US" sz="2400" b="1" dirty="0">
                <a:solidFill>
                  <a:srgbClr val="EF476F"/>
                </a:solidFill>
                <a:latin typeface="Calibri" pitchFamily="34" charset="0"/>
                <a:ea typeface="Calibri" pitchFamily="34" charset="-122"/>
                <a:cs typeface="Calibri" pitchFamily="34" charset="-120"/>
              </a:rPr>
              <a:t>710</a:t>
            </a:r>
            <a:endParaRPr lang="en-US" sz="2400" dirty="0"/>
          </a:p>
        </p:txBody>
      </p:sp>
      <p:sp>
        <p:nvSpPr>
          <p:cNvPr id="16" name="Shape 14"/>
          <p:cNvSpPr/>
          <p:nvPr/>
        </p:nvSpPr>
        <p:spPr>
          <a:xfrm>
            <a:off x="3474720" y="3200400"/>
            <a:ext cx="1645920" cy="1645920"/>
          </a:xfrm>
          <a:prstGeom prst="rect">
            <a:avLst/>
          </a:prstGeom>
          <a:solidFill>
            <a:srgbClr val="00A896"/>
          </a:solidFill>
          <a:ln w="12700">
            <a:solidFill>
              <a:srgbClr val="162A50"/>
            </a:solidFill>
            <a:prstDash val="solid"/>
          </a:ln>
        </p:spPr>
      </p:sp>
      <p:sp>
        <p:nvSpPr>
          <p:cNvPr id="17" name="Text 15"/>
          <p:cNvSpPr/>
          <p:nvPr/>
        </p:nvSpPr>
        <p:spPr>
          <a:xfrm>
            <a:off x="3474720" y="3310128"/>
            <a:ext cx="1645920" cy="320040"/>
          </a:xfrm>
          <a:prstGeom prst="rect">
            <a:avLst/>
          </a:prstGeom>
          <a:noFill/>
          <a:ln/>
        </p:spPr>
        <p:txBody>
          <a:bodyPr wrap="square" rtlCol="0" anchor="ctr"/>
          <a:lstStyle/>
          <a:p>
            <a:pPr algn="ctr" indent="0" marL="0">
              <a:buNone/>
            </a:pPr>
            <a:r>
              <a:rPr lang="en-US" sz="1100" b="1" dirty="0">
                <a:solidFill>
                  <a:srgbClr val="06D6A0"/>
                </a:solidFill>
                <a:latin typeface="Calibri" pitchFamily="34" charset="0"/>
                <a:ea typeface="Calibri" pitchFamily="34" charset="-122"/>
                <a:cs typeface="Calibri" pitchFamily="34" charset="-120"/>
              </a:rPr>
              <a:t>TP</a:t>
            </a:r>
            <a:endParaRPr lang="en-US" sz="1100" dirty="0"/>
          </a:p>
        </p:txBody>
      </p:sp>
      <p:sp>
        <p:nvSpPr>
          <p:cNvPr id="18" name="Text 16"/>
          <p:cNvSpPr/>
          <p:nvPr/>
        </p:nvSpPr>
        <p:spPr>
          <a:xfrm>
            <a:off x="3474720" y="3730752"/>
            <a:ext cx="1645920" cy="411480"/>
          </a:xfrm>
          <a:prstGeom prst="rect">
            <a:avLst/>
          </a:prstGeom>
          <a:noFill/>
          <a:ln/>
        </p:spPr>
        <p:txBody>
          <a:bodyPr wrap="square" rtlCol="0" anchor="ctr"/>
          <a:lstStyle/>
          <a:p>
            <a:pPr algn="ctr" indent="0" marL="0">
              <a:buNone/>
            </a:pPr>
            <a:r>
              <a:rPr lang="en-US" sz="2400" b="1" dirty="0">
                <a:solidFill>
                  <a:srgbClr val="06D6A0"/>
                </a:solidFill>
                <a:latin typeface="Calibri" pitchFamily="34" charset="0"/>
                <a:ea typeface="Calibri" pitchFamily="34" charset="-122"/>
                <a:cs typeface="Calibri" pitchFamily="34" charset="-120"/>
              </a:rPr>
              <a:t>18,966</a:t>
            </a:r>
            <a:endParaRPr lang="en-US" sz="2400" dirty="0"/>
          </a:p>
        </p:txBody>
      </p:sp>
      <p:sp>
        <p:nvSpPr>
          <p:cNvPr id="19" name="Text 17"/>
          <p:cNvSpPr/>
          <p:nvPr/>
        </p:nvSpPr>
        <p:spPr>
          <a:xfrm>
            <a:off x="1828800" y="1280160"/>
            <a:ext cx="1645920" cy="228600"/>
          </a:xfrm>
          <a:prstGeom prst="rect">
            <a:avLst/>
          </a:prstGeom>
          <a:noFill/>
          <a:ln/>
        </p:spPr>
        <p:txBody>
          <a:bodyPr wrap="square" rtlCol="0" anchor="ctr"/>
          <a:lstStyle/>
          <a:p>
            <a:pPr algn="ctr" indent="0" marL="0">
              <a:buNone/>
            </a:pPr>
            <a:r>
              <a:rPr lang="en-US" sz="900" dirty="0">
                <a:solidFill>
                  <a:srgbClr val="8BAFC8"/>
                </a:solidFill>
                <a:latin typeface="Calibri" pitchFamily="34" charset="0"/>
                <a:ea typeface="Calibri" pitchFamily="34" charset="-122"/>
                <a:cs typeface="Calibri" pitchFamily="34" charset="-120"/>
              </a:rPr>
              <a:t>Predicted: Negative</a:t>
            </a:r>
            <a:endParaRPr lang="en-US" sz="900" dirty="0"/>
          </a:p>
        </p:txBody>
      </p:sp>
      <p:sp>
        <p:nvSpPr>
          <p:cNvPr id="20" name="Text 18"/>
          <p:cNvSpPr/>
          <p:nvPr/>
        </p:nvSpPr>
        <p:spPr>
          <a:xfrm>
            <a:off x="3474720" y="1280160"/>
            <a:ext cx="1645920" cy="228600"/>
          </a:xfrm>
          <a:prstGeom prst="rect">
            <a:avLst/>
          </a:prstGeom>
          <a:noFill/>
          <a:ln/>
        </p:spPr>
        <p:txBody>
          <a:bodyPr wrap="square" rtlCol="0" anchor="ctr"/>
          <a:lstStyle/>
          <a:p>
            <a:pPr algn="ctr" indent="0" marL="0">
              <a:buNone/>
            </a:pPr>
            <a:r>
              <a:rPr lang="en-US" sz="900" dirty="0">
                <a:solidFill>
                  <a:srgbClr val="8BAFC8"/>
                </a:solidFill>
                <a:latin typeface="Calibri" pitchFamily="34" charset="0"/>
                <a:ea typeface="Calibri" pitchFamily="34" charset="-122"/>
                <a:cs typeface="Calibri" pitchFamily="34" charset="-120"/>
              </a:rPr>
              <a:t>Predicted: Positive</a:t>
            </a:r>
            <a:endParaRPr lang="en-US" sz="900" dirty="0"/>
          </a:p>
        </p:txBody>
      </p:sp>
      <p:sp>
        <p:nvSpPr>
          <p:cNvPr id="21" name="Text 19"/>
          <p:cNvSpPr/>
          <p:nvPr/>
        </p:nvSpPr>
        <p:spPr>
          <a:xfrm>
            <a:off x="411480" y="2240280"/>
            <a:ext cx="1325880" cy="274320"/>
          </a:xfrm>
          <a:prstGeom prst="rect">
            <a:avLst/>
          </a:prstGeom>
          <a:noFill/>
          <a:ln/>
        </p:spPr>
        <p:txBody>
          <a:bodyPr wrap="square" rtlCol="0" anchor="ctr"/>
          <a:lstStyle/>
          <a:p>
            <a:pPr algn="r" indent="0" marL="0">
              <a:buNone/>
            </a:pPr>
            <a:r>
              <a:rPr lang="en-US" sz="900" dirty="0">
                <a:solidFill>
                  <a:srgbClr val="8BAFC8"/>
                </a:solidFill>
                <a:latin typeface="Calibri" pitchFamily="34" charset="0"/>
                <a:ea typeface="Calibri" pitchFamily="34" charset="-122"/>
                <a:cs typeface="Calibri" pitchFamily="34" charset="-120"/>
              </a:rPr>
              <a:t>Actual: Non-Severe</a:t>
            </a:r>
            <a:endParaRPr lang="en-US" sz="900" dirty="0"/>
          </a:p>
        </p:txBody>
      </p:sp>
      <p:sp>
        <p:nvSpPr>
          <p:cNvPr id="22" name="Text 20"/>
          <p:cNvSpPr/>
          <p:nvPr/>
        </p:nvSpPr>
        <p:spPr>
          <a:xfrm>
            <a:off x="411480" y="3886200"/>
            <a:ext cx="1325880" cy="274320"/>
          </a:xfrm>
          <a:prstGeom prst="rect">
            <a:avLst/>
          </a:prstGeom>
          <a:noFill/>
          <a:ln/>
        </p:spPr>
        <p:txBody>
          <a:bodyPr wrap="square" rtlCol="0" anchor="ctr"/>
          <a:lstStyle/>
          <a:p>
            <a:pPr algn="r" indent="0" marL="0">
              <a:buNone/>
            </a:pPr>
            <a:r>
              <a:rPr lang="en-US" sz="900" dirty="0">
                <a:solidFill>
                  <a:srgbClr val="8BAFC8"/>
                </a:solidFill>
                <a:latin typeface="Calibri" pitchFamily="34" charset="0"/>
                <a:ea typeface="Calibri" pitchFamily="34" charset="-122"/>
                <a:cs typeface="Calibri" pitchFamily="34" charset="-120"/>
              </a:rPr>
              <a:t>Actual: Severe</a:t>
            </a:r>
            <a:endParaRPr lang="en-US" sz="900" dirty="0"/>
          </a:p>
        </p:txBody>
      </p:sp>
      <p:sp>
        <p:nvSpPr>
          <p:cNvPr id="23" name="Shape 21"/>
          <p:cNvSpPr/>
          <p:nvPr/>
        </p:nvSpPr>
        <p:spPr>
          <a:xfrm>
            <a:off x="5760720" y="1554480"/>
            <a:ext cx="3154680" cy="3200400"/>
          </a:xfrm>
          <a:prstGeom prst="rect">
            <a:avLst/>
          </a:prstGeom>
          <a:solidFill>
            <a:srgbClr val="0F2040"/>
          </a:solidFill>
          <a:ln w="12700">
            <a:solidFill>
              <a:srgbClr val="028090"/>
            </a:solidFill>
            <a:prstDash val="solid"/>
          </a:ln>
        </p:spPr>
      </p:sp>
      <p:sp>
        <p:nvSpPr>
          <p:cNvPr id="24" name="Text 22"/>
          <p:cNvSpPr/>
          <p:nvPr/>
        </p:nvSpPr>
        <p:spPr>
          <a:xfrm>
            <a:off x="5897880" y="1664208"/>
            <a:ext cx="2834640" cy="22860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Recall (Sensitivity)</a:t>
            </a:r>
            <a:endParaRPr lang="en-US" sz="900" dirty="0"/>
          </a:p>
        </p:txBody>
      </p:sp>
      <p:sp>
        <p:nvSpPr>
          <p:cNvPr id="25" name="Text 23"/>
          <p:cNvSpPr/>
          <p:nvPr/>
        </p:nvSpPr>
        <p:spPr>
          <a:xfrm>
            <a:off x="5897880" y="1901952"/>
            <a:ext cx="2834640" cy="365760"/>
          </a:xfrm>
          <a:prstGeom prst="rect">
            <a:avLst/>
          </a:prstGeom>
          <a:noFill/>
          <a:ln/>
        </p:spPr>
        <p:txBody>
          <a:bodyPr wrap="square" rtlCol="0" anchor="ctr"/>
          <a:lstStyle/>
          <a:p>
            <a:pPr indent="0" marL="0">
              <a:buNone/>
            </a:pPr>
            <a:r>
              <a:rPr lang="en-US" sz="2200" b="1" dirty="0">
                <a:solidFill>
                  <a:srgbClr val="00A896"/>
                </a:solidFill>
                <a:latin typeface="Calibri" pitchFamily="34" charset="0"/>
                <a:ea typeface="Calibri" pitchFamily="34" charset="-122"/>
                <a:cs typeface="Calibri" pitchFamily="34" charset="-120"/>
              </a:rPr>
              <a:t>96.39%</a:t>
            </a:r>
            <a:endParaRPr lang="en-US" sz="2200" dirty="0"/>
          </a:p>
        </p:txBody>
      </p:sp>
      <p:sp>
        <p:nvSpPr>
          <p:cNvPr id="26" name="Text 24"/>
          <p:cNvSpPr/>
          <p:nvPr/>
        </p:nvSpPr>
        <p:spPr>
          <a:xfrm>
            <a:off x="5897880" y="2286000"/>
            <a:ext cx="2834640" cy="201168"/>
          </a:xfrm>
          <a:prstGeom prst="rect">
            <a:avLst/>
          </a:prstGeom>
          <a:noFill/>
          <a:ln/>
        </p:spPr>
        <p:txBody>
          <a:bodyPr wrap="square" rtlCol="0" anchor="ctr"/>
          <a:lstStyle/>
          <a:p>
            <a:pPr indent="0" marL="0">
              <a:buNone/>
            </a:pPr>
            <a:r>
              <a:rPr lang="en-US" sz="800" i="1" dirty="0">
                <a:solidFill>
                  <a:srgbClr val="4A6D87"/>
                </a:solidFill>
                <a:latin typeface="Calibri" pitchFamily="34" charset="0"/>
                <a:ea typeface="Calibri" pitchFamily="34" charset="-122"/>
                <a:cs typeface="Calibri" pitchFamily="34" charset="-120"/>
              </a:rPr>
              <a:t>PRIMARY — Missed severe cases: 710</a:t>
            </a:r>
            <a:endParaRPr lang="en-US" sz="800" dirty="0"/>
          </a:p>
        </p:txBody>
      </p:sp>
      <p:sp>
        <p:nvSpPr>
          <p:cNvPr id="27" name="Text 25"/>
          <p:cNvSpPr/>
          <p:nvPr/>
        </p:nvSpPr>
        <p:spPr>
          <a:xfrm>
            <a:off x="5897880" y="2414016"/>
            <a:ext cx="2834640" cy="22860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Precision</a:t>
            </a:r>
            <a:endParaRPr lang="en-US" sz="900" dirty="0"/>
          </a:p>
        </p:txBody>
      </p:sp>
      <p:sp>
        <p:nvSpPr>
          <p:cNvPr id="28" name="Text 26"/>
          <p:cNvSpPr/>
          <p:nvPr/>
        </p:nvSpPr>
        <p:spPr>
          <a:xfrm>
            <a:off x="5897880" y="2651760"/>
            <a:ext cx="2834640" cy="365760"/>
          </a:xfrm>
          <a:prstGeom prst="rect">
            <a:avLst/>
          </a:prstGeom>
          <a:noFill/>
          <a:ln/>
        </p:spPr>
        <p:txBody>
          <a:bodyPr wrap="square" rtlCol="0" anchor="ctr"/>
          <a:lstStyle/>
          <a:p>
            <a:pPr indent="0" marL="0">
              <a:buNone/>
            </a:pPr>
            <a:r>
              <a:rPr lang="en-US" sz="2200" b="1" dirty="0">
                <a:solidFill>
                  <a:srgbClr val="FF6B35"/>
                </a:solidFill>
                <a:latin typeface="Calibri" pitchFamily="34" charset="0"/>
                <a:ea typeface="Calibri" pitchFamily="34" charset="-122"/>
                <a:cs typeface="Calibri" pitchFamily="34" charset="-120"/>
              </a:rPr>
              <a:t>22.3%</a:t>
            </a:r>
            <a:endParaRPr lang="en-US" sz="2200" dirty="0"/>
          </a:p>
        </p:txBody>
      </p:sp>
      <p:sp>
        <p:nvSpPr>
          <p:cNvPr id="29" name="Text 27"/>
          <p:cNvSpPr/>
          <p:nvPr/>
        </p:nvSpPr>
        <p:spPr>
          <a:xfrm>
            <a:off x="5897880" y="3035808"/>
            <a:ext cx="2834640" cy="201168"/>
          </a:xfrm>
          <a:prstGeom prst="rect">
            <a:avLst/>
          </a:prstGeom>
          <a:noFill/>
          <a:ln/>
        </p:spPr>
        <p:txBody>
          <a:bodyPr wrap="square" rtlCol="0" anchor="ctr"/>
          <a:lstStyle/>
          <a:p>
            <a:pPr indent="0" marL="0">
              <a:buNone/>
            </a:pPr>
            <a:r>
              <a:rPr lang="en-US" sz="800" i="1" dirty="0">
                <a:solidFill>
                  <a:srgbClr val="4A6D87"/>
                </a:solidFill>
                <a:latin typeface="Calibri" pitchFamily="34" charset="0"/>
                <a:ea typeface="Calibri" pitchFamily="34" charset="-122"/>
                <a:cs typeface="Calibri" pitchFamily="34" charset="-120"/>
              </a:rPr>
              <a:t>3,513 false alerts per 100 real cases</a:t>
            </a:r>
            <a:endParaRPr lang="en-US" sz="800" dirty="0"/>
          </a:p>
        </p:txBody>
      </p:sp>
      <p:sp>
        <p:nvSpPr>
          <p:cNvPr id="30" name="Text 28"/>
          <p:cNvSpPr/>
          <p:nvPr/>
        </p:nvSpPr>
        <p:spPr>
          <a:xfrm>
            <a:off x="5897880" y="3163824"/>
            <a:ext cx="2834640" cy="22860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ROC-AUC</a:t>
            </a:r>
            <a:endParaRPr lang="en-US" sz="900" dirty="0"/>
          </a:p>
        </p:txBody>
      </p:sp>
      <p:sp>
        <p:nvSpPr>
          <p:cNvPr id="31" name="Text 29"/>
          <p:cNvSpPr/>
          <p:nvPr/>
        </p:nvSpPr>
        <p:spPr>
          <a:xfrm>
            <a:off x="5897880" y="3401568"/>
            <a:ext cx="2834640" cy="365760"/>
          </a:xfrm>
          <a:prstGeom prst="rect">
            <a:avLst/>
          </a:prstGeom>
          <a:noFill/>
          <a:ln/>
        </p:spPr>
        <p:txBody>
          <a:bodyPr wrap="square" rtlCol="0" anchor="ctr"/>
          <a:lstStyle/>
          <a:p>
            <a:pPr indent="0" marL="0">
              <a:buNone/>
            </a:pPr>
            <a:r>
              <a:rPr lang="en-US" sz="2200" b="1" dirty="0">
                <a:solidFill>
                  <a:srgbClr val="02C39A"/>
                </a:solidFill>
                <a:latin typeface="Calibri" pitchFamily="34" charset="0"/>
                <a:ea typeface="Calibri" pitchFamily="34" charset="-122"/>
                <a:cs typeface="Calibri" pitchFamily="34" charset="-120"/>
              </a:rPr>
              <a:t>0.8438</a:t>
            </a:r>
            <a:endParaRPr lang="en-US" sz="2200" dirty="0"/>
          </a:p>
        </p:txBody>
      </p:sp>
      <p:sp>
        <p:nvSpPr>
          <p:cNvPr id="32" name="Text 30"/>
          <p:cNvSpPr/>
          <p:nvPr/>
        </p:nvSpPr>
        <p:spPr>
          <a:xfrm>
            <a:off x="5897880" y="3785616"/>
            <a:ext cx="2834640" cy="201168"/>
          </a:xfrm>
          <a:prstGeom prst="rect">
            <a:avLst/>
          </a:prstGeom>
          <a:noFill/>
          <a:ln/>
        </p:spPr>
        <p:txBody>
          <a:bodyPr wrap="square" rtlCol="0" anchor="ctr"/>
          <a:lstStyle/>
          <a:p>
            <a:pPr indent="0" marL="0">
              <a:buNone/>
            </a:pPr>
            <a:r>
              <a:rPr lang="en-US" sz="800" i="1" dirty="0">
                <a:solidFill>
                  <a:srgbClr val="4A6D87"/>
                </a:solidFill>
                <a:latin typeface="Calibri" pitchFamily="34" charset="0"/>
                <a:ea typeface="Calibri" pitchFamily="34" charset="-122"/>
                <a:cs typeface="Calibri" pitchFamily="34" charset="-120"/>
              </a:rPr>
              <a:t>Strong discriminative power</a:t>
            </a:r>
            <a:endParaRPr lang="en-US" sz="800" dirty="0"/>
          </a:p>
        </p:txBody>
      </p:sp>
      <p:sp>
        <p:nvSpPr>
          <p:cNvPr id="33" name="Text 31"/>
          <p:cNvSpPr/>
          <p:nvPr/>
        </p:nvSpPr>
        <p:spPr>
          <a:xfrm>
            <a:off x="5897880" y="3913632"/>
            <a:ext cx="2834640" cy="228600"/>
          </a:xfrm>
          <a:prstGeom prst="rect">
            <a:avLst/>
          </a:prstGeom>
          <a:noFill/>
          <a:ln/>
        </p:spPr>
        <p:txBody>
          <a:bodyPr wrap="square" rtlCol="0" anchor="ctr"/>
          <a:lstStyle/>
          <a:p>
            <a:pPr indent="0" marL="0">
              <a:buNone/>
            </a:pPr>
            <a:r>
              <a:rPr lang="en-US" sz="900" dirty="0">
                <a:solidFill>
                  <a:srgbClr val="8BAFC8"/>
                </a:solidFill>
                <a:latin typeface="Calibri" pitchFamily="34" charset="0"/>
                <a:ea typeface="Calibri" pitchFamily="34" charset="-122"/>
                <a:cs typeface="Calibri" pitchFamily="34" charset="-120"/>
              </a:rPr>
              <a:t>F1 Score</a:t>
            </a:r>
            <a:endParaRPr lang="en-US" sz="900" dirty="0"/>
          </a:p>
        </p:txBody>
      </p:sp>
      <p:sp>
        <p:nvSpPr>
          <p:cNvPr id="34" name="Text 32"/>
          <p:cNvSpPr/>
          <p:nvPr/>
        </p:nvSpPr>
        <p:spPr>
          <a:xfrm>
            <a:off x="5897880" y="4151376"/>
            <a:ext cx="2834640" cy="365760"/>
          </a:xfrm>
          <a:prstGeom prst="rect">
            <a:avLst/>
          </a:prstGeom>
          <a:noFill/>
          <a:ln/>
        </p:spPr>
        <p:txBody>
          <a:bodyPr wrap="square" rtlCol="0" anchor="ctr"/>
          <a:lstStyle/>
          <a:p>
            <a:pPr indent="0" marL="0">
              <a:buNone/>
            </a:pPr>
            <a:r>
              <a:rPr lang="en-US" sz="2200" b="1" dirty="0">
                <a:solidFill>
                  <a:srgbClr val="8BAFC8"/>
                </a:solidFill>
                <a:latin typeface="Calibri" pitchFamily="34" charset="0"/>
                <a:ea typeface="Calibri" pitchFamily="34" charset="-122"/>
                <a:cs typeface="Calibri" pitchFamily="34" charset="-120"/>
              </a:rPr>
              <a:t>0.2230</a:t>
            </a:r>
            <a:endParaRPr lang="en-US" sz="2200" dirty="0"/>
          </a:p>
        </p:txBody>
      </p:sp>
      <p:sp>
        <p:nvSpPr>
          <p:cNvPr id="35" name="Text 33"/>
          <p:cNvSpPr/>
          <p:nvPr/>
        </p:nvSpPr>
        <p:spPr>
          <a:xfrm>
            <a:off x="5897880" y="4535424"/>
            <a:ext cx="2834640" cy="201168"/>
          </a:xfrm>
          <a:prstGeom prst="rect">
            <a:avLst/>
          </a:prstGeom>
          <a:noFill/>
          <a:ln/>
        </p:spPr>
        <p:txBody>
          <a:bodyPr wrap="square" rtlCol="0" anchor="ctr"/>
          <a:lstStyle/>
          <a:p>
            <a:pPr indent="0" marL="0">
              <a:buNone/>
            </a:pPr>
            <a:r>
              <a:rPr lang="en-US" sz="800" i="1" dirty="0">
                <a:solidFill>
                  <a:srgbClr val="4A6D87"/>
                </a:solidFill>
                <a:latin typeface="Calibri" pitchFamily="34" charset="0"/>
                <a:ea typeface="Calibri" pitchFamily="34" charset="-122"/>
                <a:cs typeface="Calibri" pitchFamily="34" charset="-120"/>
              </a:rPr>
              <a:t>Low (recall-precision tradeoff)</a:t>
            </a:r>
            <a:endParaRPr lang="en-US" sz="800" dirty="0"/>
          </a:p>
        </p:txBody>
      </p:sp>
      <p:sp>
        <p:nvSpPr>
          <p:cNvPr id="36" name="Shape 34"/>
          <p:cNvSpPr/>
          <p:nvPr/>
        </p:nvSpPr>
        <p:spPr>
          <a:xfrm>
            <a:off x="274320" y="4617720"/>
            <a:ext cx="8641080" cy="292608"/>
          </a:xfrm>
          <a:prstGeom prst="rect">
            <a:avLst/>
          </a:prstGeom>
          <a:solidFill>
            <a:srgbClr val="0F2040"/>
          </a:solidFill>
          <a:ln w="12700">
            <a:solidFill>
              <a:srgbClr val="FF6B35"/>
            </a:solidFill>
            <a:prstDash val="solid"/>
          </a:ln>
        </p:spPr>
      </p:sp>
      <p:sp>
        <p:nvSpPr>
          <p:cNvPr id="37" name="Text 35"/>
          <p:cNvSpPr/>
          <p:nvPr/>
        </p:nvSpPr>
        <p:spPr>
          <a:xfrm>
            <a:off x="411480" y="4663440"/>
            <a:ext cx="8412480" cy="201168"/>
          </a:xfrm>
          <a:prstGeom prst="rect">
            <a:avLst/>
          </a:prstGeom>
          <a:noFill/>
          <a:ln/>
        </p:spPr>
        <p:txBody>
          <a:bodyPr wrap="square" rtlCol="0" anchor="ctr"/>
          <a:lstStyle/>
          <a:p>
            <a:pPr indent="0" marL="0">
              <a:buNone/>
            </a:pPr>
            <a:r>
              <a:rPr lang="en-US" sz="900" dirty="0">
                <a:solidFill>
                  <a:srgbClr val="E8F4F8"/>
                </a:solidFill>
                <a:latin typeface="Calibri" pitchFamily="34" charset="0"/>
                <a:ea typeface="Calibri" pitchFamily="34" charset="-122"/>
                <a:cs typeface="Calibri" pitchFamily="34" charset="-120"/>
              </a:rPr>
              <a:t>Alert Fatigue is acceptable: 65,900 false positives flagged for review vs. only 710 missed severe cases. In drug safety, we ALWAYS prefer false alarms over missed events.</a:t>
            </a:r>
            <a:endParaRPr lang="en-US" sz="900" dirty="0"/>
          </a:p>
        </p:txBody>
      </p:sp>
      <p:sp>
        <p:nvSpPr>
          <p:cNvPr id="38" name="Text 36"/>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19 / 24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6B35"/>
          </a:solidFill>
          <a:ln w="12700">
            <a:solidFill>
              <a:srgbClr val="FF6B35"/>
            </a:solidFill>
            <a:prstDash val="solid"/>
          </a:ln>
        </p:spPr>
      </p:sp>
      <p:sp>
        <p:nvSpPr>
          <p:cNvPr id="3" name="Shape 1"/>
          <p:cNvSpPr/>
          <p:nvPr/>
        </p:nvSpPr>
        <p:spPr>
          <a:xfrm>
            <a:off x="365760" y="256032"/>
            <a:ext cx="1828800" cy="256032"/>
          </a:xfrm>
          <a:prstGeom prst="rect">
            <a:avLst/>
          </a:prstGeom>
          <a:solidFill>
            <a:srgbClr val="FF6B35"/>
          </a:solidFill>
          <a:ln w="12700">
            <a:solidFill>
              <a:srgbClr val="FF6B35"/>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6: SYNTHESIS</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Key Findings &amp; Knowledge Discovery</a:t>
            </a:r>
            <a:endParaRPr lang="en-US" sz="2600" dirty="0"/>
          </a:p>
        </p:txBody>
      </p:sp>
      <p:sp>
        <p:nvSpPr>
          <p:cNvPr id="6" name="Text 4"/>
          <p:cNvSpPr/>
          <p:nvPr/>
        </p:nvSpPr>
        <p:spPr>
          <a:xfrm>
            <a:off x="365760" y="1051560"/>
            <a:ext cx="8229600" cy="365760"/>
          </a:xfrm>
          <a:prstGeom prst="rect">
            <a:avLst/>
          </a:prstGeom>
          <a:noFill/>
          <a:ln/>
        </p:spPr>
        <p:txBody>
          <a:bodyPr wrap="square" rtlCol="0" anchor="ctr"/>
          <a:lstStyle/>
          <a:p>
            <a:pPr indent="0" marL="0">
              <a:buNone/>
            </a:pPr>
            <a:r>
              <a:rPr lang="en-US" sz="1300" dirty="0">
                <a:solidFill>
                  <a:srgbClr val="8BAFC8"/>
                </a:solidFill>
                <a:latin typeface="Calibri" pitchFamily="34" charset="0"/>
                <a:ea typeface="Calibri" pitchFamily="34" charset="-122"/>
                <a:cs typeface="Calibri" pitchFamily="34" charset="-120"/>
              </a:rPr>
              <a:t>Three discoveries with direct clinical and regulatory implications</a:t>
            </a:r>
            <a:endParaRPr lang="en-US" sz="1300" dirty="0"/>
          </a:p>
        </p:txBody>
      </p:sp>
      <p:sp>
        <p:nvSpPr>
          <p:cNvPr id="7" name="Shape 5"/>
          <p:cNvSpPr/>
          <p:nvPr/>
        </p:nvSpPr>
        <p:spPr>
          <a:xfrm>
            <a:off x="228600" y="1463040"/>
            <a:ext cx="8686800" cy="987552"/>
          </a:xfrm>
          <a:prstGeom prst="rect">
            <a:avLst/>
          </a:prstGeom>
          <a:solidFill>
            <a:srgbClr val="0F2040"/>
          </a:solidFill>
          <a:ln w="12700">
            <a:solidFill>
              <a:srgbClr val="FF6B35"/>
            </a:solidFill>
            <a:prstDash val="solid"/>
          </a:ln>
        </p:spPr>
      </p:sp>
      <p:sp>
        <p:nvSpPr>
          <p:cNvPr id="8" name="Shape 6"/>
          <p:cNvSpPr/>
          <p:nvPr/>
        </p:nvSpPr>
        <p:spPr>
          <a:xfrm>
            <a:off x="228600" y="1463040"/>
            <a:ext cx="502920" cy="987552"/>
          </a:xfrm>
          <a:prstGeom prst="rect">
            <a:avLst/>
          </a:prstGeom>
          <a:solidFill>
            <a:srgbClr val="FF6B35"/>
          </a:solidFill>
          <a:ln w="12700">
            <a:solidFill>
              <a:srgbClr val="FF6B35"/>
            </a:solidFill>
            <a:prstDash val="solid"/>
          </a:ln>
        </p:spPr>
      </p:sp>
      <p:sp>
        <p:nvSpPr>
          <p:cNvPr id="9" name="Text 7"/>
          <p:cNvSpPr/>
          <p:nvPr/>
        </p:nvSpPr>
        <p:spPr>
          <a:xfrm>
            <a:off x="228600" y="1463040"/>
            <a:ext cx="502920" cy="987552"/>
          </a:xfrm>
          <a:prstGeom prst="rect">
            <a:avLst/>
          </a:prstGeom>
          <a:noFill/>
          <a:ln/>
        </p:spPr>
        <p:txBody>
          <a:bodyPr wrap="square" lIns="0" tIns="0" rIns="0" bIns="0" rtlCol="0" anchor="ctr"/>
          <a:lstStyle/>
          <a:p>
            <a:pPr algn="ctr" indent="0" marL="0">
              <a:buNone/>
            </a:pPr>
            <a:r>
              <a:rPr lang="en-US" sz="2000" b="1" dirty="0">
                <a:solidFill>
                  <a:srgbClr val="0A1628"/>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841248" y="1536192"/>
            <a:ext cx="7955280" cy="274320"/>
          </a:xfrm>
          <a:prstGeom prst="rect">
            <a:avLst/>
          </a:prstGeom>
          <a:noFill/>
          <a:ln/>
        </p:spPr>
        <p:txBody>
          <a:bodyPr wrap="square"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The Semaglutide Signal</a:t>
            </a:r>
            <a:endParaRPr lang="en-US" sz="1200" dirty="0"/>
          </a:p>
        </p:txBody>
      </p:sp>
      <p:sp>
        <p:nvSpPr>
          <p:cNvPr id="11" name="Text 9"/>
          <p:cNvSpPr/>
          <p:nvPr/>
        </p:nvSpPr>
        <p:spPr>
          <a:xfrm>
            <a:off x="841248" y="1828800"/>
            <a:ext cx="7955280" cy="5029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Semaglutide PRR = 2.566 and Liraglutide PRR = 2.116 both cross the WHO-UMC pharmacovigilance threshold of 2.0. These two agents require targeted clinical follow-up. Tirzepatide (PRR=1.01) shows no signal — suggesting the GI effect may be drug-specific, not class-wide.</a:t>
            </a:r>
            <a:endParaRPr lang="en-US" sz="1000" dirty="0"/>
          </a:p>
        </p:txBody>
      </p:sp>
      <p:sp>
        <p:nvSpPr>
          <p:cNvPr id="12" name="Shape 10"/>
          <p:cNvSpPr/>
          <p:nvPr/>
        </p:nvSpPr>
        <p:spPr>
          <a:xfrm>
            <a:off x="228600" y="2578608"/>
            <a:ext cx="8686800" cy="987552"/>
          </a:xfrm>
          <a:prstGeom prst="rect">
            <a:avLst/>
          </a:prstGeom>
          <a:solidFill>
            <a:srgbClr val="0F2040"/>
          </a:solidFill>
          <a:ln w="12700">
            <a:solidFill>
              <a:srgbClr val="EF476F"/>
            </a:solidFill>
            <a:prstDash val="solid"/>
          </a:ln>
        </p:spPr>
      </p:sp>
      <p:sp>
        <p:nvSpPr>
          <p:cNvPr id="13" name="Shape 11"/>
          <p:cNvSpPr/>
          <p:nvPr/>
        </p:nvSpPr>
        <p:spPr>
          <a:xfrm>
            <a:off x="228600" y="2578608"/>
            <a:ext cx="502920" cy="987552"/>
          </a:xfrm>
          <a:prstGeom prst="rect">
            <a:avLst/>
          </a:prstGeom>
          <a:solidFill>
            <a:srgbClr val="EF476F"/>
          </a:solidFill>
          <a:ln w="12700">
            <a:solidFill>
              <a:srgbClr val="EF476F"/>
            </a:solidFill>
            <a:prstDash val="solid"/>
          </a:ln>
        </p:spPr>
      </p:sp>
      <p:sp>
        <p:nvSpPr>
          <p:cNvPr id="14" name="Text 12"/>
          <p:cNvSpPr/>
          <p:nvPr/>
        </p:nvSpPr>
        <p:spPr>
          <a:xfrm>
            <a:off x="228600" y="2578608"/>
            <a:ext cx="502920" cy="987552"/>
          </a:xfrm>
          <a:prstGeom prst="rect">
            <a:avLst/>
          </a:prstGeom>
          <a:noFill/>
          <a:ln/>
        </p:spPr>
        <p:txBody>
          <a:bodyPr wrap="square" lIns="0" tIns="0" rIns="0" bIns="0" rtlCol="0" anchor="ctr"/>
          <a:lstStyle/>
          <a:p>
            <a:pPr algn="ctr" indent="0" marL="0">
              <a:buNone/>
            </a:pPr>
            <a:r>
              <a:rPr lang="en-US" sz="2000" b="1" dirty="0">
                <a:solidFill>
                  <a:srgbClr val="0A1628"/>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841248" y="2651760"/>
            <a:ext cx="7955280" cy="274320"/>
          </a:xfrm>
          <a:prstGeom prst="rect">
            <a:avLst/>
          </a:prstGeom>
          <a:noFill/>
          <a:ln/>
        </p:spPr>
        <p:txBody>
          <a:bodyPr wrap="square" rtlCol="0" anchor="ctr"/>
          <a:lstStyle/>
          <a:p>
            <a:pPr indent="0" marL="0">
              <a:buNone/>
            </a:pPr>
            <a:r>
              <a:rPr lang="en-US" sz="1200" b="1" dirty="0">
                <a:solidFill>
                  <a:srgbClr val="EF476F"/>
                </a:solidFill>
                <a:latin typeface="Calibri" pitchFamily="34" charset="0"/>
                <a:ea typeface="Calibri" pitchFamily="34" charset="-122"/>
                <a:cs typeface="Calibri" pitchFamily="34" charset="-120"/>
              </a:rPr>
              <a:t>The Opioid/Polypharmacy Danger Zone</a:t>
            </a:r>
            <a:endParaRPr lang="en-US" sz="1200" dirty="0"/>
          </a:p>
        </p:txBody>
      </p:sp>
      <p:sp>
        <p:nvSpPr>
          <p:cNvPr id="16" name="Text 14"/>
          <p:cNvSpPr/>
          <p:nvPr/>
        </p:nvSpPr>
        <p:spPr>
          <a:xfrm>
            <a:off x="841248" y="2944368"/>
            <a:ext cx="7955280" cy="5029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K-Means Cluster 2 (Critical Risk): 2,718 patients with 100% opioid co-reporting, 15+ concurrent drugs, and 89% severity rate. Apriori Lift = 1.58 for opioids → GI severe events. Clinical implication: GLP-1 + opioid combinations deserve special monitoring protocols.</a:t>
            </a:r>
            <a:endParaRPr lang="en-US" sz="1000" dirty="0"/>
          </a:p>
        </p:txBody>
      </p:sp>
      <p:sp>
        <p:nvSpPr>
          <p:cNvPr id="17" name="Shape 15"/>
          <p:cNvSpPr/>
          <p:nvPr/>
        </p:nvSpPr>
        <p:spPr>
          <a:xfrm>
            <a:off x="228600" y="3694176"/>
            <a:ext cx="8686800" cy="987552"/>
          </a:xfrm>
          <a:prstGeom prst="rect">
            <a:avLst/>
          </a:prstGeom>
          <a:solidFill>
            <a:srgbClr val="0F2040"/>
          </a:solidFill>
          <a:ln w="12700">
            <a:solidFill>
              <a:srgbClr val="00A896"/>
            </a:solidFill>
            <a:prstDash val="solid"/>
          </a:ln>
        </p:spPr>
      </p:sp>
      <p:sp>
        <p:nvSpPr>
          <p:cNvPr id="18" name="Shape 16"/>
          <p:cNvSpPr/>
          <p:nvPr/>
        </p:nvSpPr>
        <p:spPr>
          <a:xfrm>
            <a:off x="228600" y="3694176"/>
            <a:ext cx="502920" cy="987552"/>
          </a:xfrm>
          <a:prstGeom prst="rect">
            <a:avLst/>
          </a:prstGeom>
          <a:solidFill>
            <a:srgbClr val="00A896"/>
          </a:solidFill>
          <a:ln w="12700">
            <a:solidFill>
              <a:srgbClr val="00A896"/>
            </a:solidFill>
            <a:prstDash val="solid"/>
          </a:ln>
        </p:spPr>
      </p:sp>
      <p:sp>
        <p:nvSpPr>
          <p:cNvPr id="19" name="Text 17"/>
          <p:cNvSpPr/>
          <p:nvPr/>
        </p:nvSpPr>
        <p:spPr>
          <a:xfrm>
            <a:off x="228600" y="3694176"/>
            <a:ext cx="502920" cy="987552"/>
          </a:xfrm>
          <a:prstGeom prst="rect">
            <a:avLst/>
          </a:prstGeom>
          <a:noFill/>
          <a:ln/>
        </p:spPr>
        <p:txBody>
          <a:bodyPr wrap="square" lIns="0" tIns="0" rIns="0" bIns="0" rtlCol="0" anchor="ctr"/>
          <a:lstStyle/>
          <a:p>
            <a:pPr algn="ctr" indent="0" marL="0">
              <a:buNone/>
            </a:pPr>
            <a:r>
              <a:rPr lang="en-US" sz="2000" b="1" dirty="0">
                <a:solidFill>
                  <a:srgbClr val="0A1628"/>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841248" y="3767328"/>
            <a:ext cx="7955280" cy="274320"/>
          </a:xfrm>
          <a:prstGeom prst="rect">
            <a:avLst/>
          </a:prstGeom>
          <a:noFill/>
          <a:ln/>
        </p:spPr>
        <p:txBody>
          <a:bodyPr wrap="square"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The 'is_us' Discovery: Reporting Bias</a:t>
            </a:r>
            <a:endParaRPr lang="en-US" sz="1200" dirty="0"/>
          </a:p>
        </p:txBody>
      </p:sp>
      <p:sp>
        <p:nvSpPr>
          <p:cNvPr id="21" name="Text 19"/>
          <p:cNvSpPr/>
          <p:nvPr/>
        </p:nvSpPr>
        <p:spPr>
          <a:xfrm>
            <a:off x="841248" y="4059936"/>
            <a:ext cx="7955280" cy="502920"/>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The #1 model feature by importance (24.5%) is whether the report originated in the US. This reveals systematic reporting bias — US-based reports are more likely to be classified as severe, regardless of clinical reality. All FAERS analyses should control for reporter country.</a:t>
            </a:r>
            <a:endParaRPr lang="en-US" sz="1000" dirty="0"/>
          </a:p>
        </p:txBody>
      </p:sp>
      <p:sp>
        <p:nvSpPr>
          <p:cNvPr id="22" name="Shape 20"/>
          <p:cNvSpPr/>
          <p:nvPr/>
        </p:nvSpPr>
        <p:spPr>
          <a:xfrm>
            <a:off x="228600" y="4480560"/>
            <a:ext cx="8686800" cy="411480"/>
          </a:xfrm>
          <a:prstGeom prst="rect">
            <a:avLst/>
          </a:prstGeom>
          <a:solidFill>
            <a:srgbClr val="0F2040"/>
          </a:solidFill>
          <a:ln w="12700">
            <a:solidFill>
              <a:srgbClr val="028090"/>
            </a:solidFill>
            <a:prstDash val="solid"/>
          </a:ln>
        </p:spPr>
      </p:sp>
      <p:sp>
        <p:nvSpPr>
          <p:cNvPr id="23" name="Text 21"/>
          <p:cNvSpPr/>
          <p:nvPr/>
        </p:nvSpPr>
        <p:spPr>
          <a:xfrm>
            <a:off x="365760" y="4544568"/>
            <a:ext cx="8412480" cy="274320"/>
          </a:xfrm>
          <a:prstGeom prst="rect">
            <a:avLst/>
          </a:prstGeom>
          <a:noFill/>
          <a:ln/>
        </p:spPr>
        <p:txBody>
          <a:bodyPr wrap="square" rtlCol="0" anchor="ctr"/>
          <a:lstStyle/>
          <a:p>
            <a:pPr indent="0" marL="0">
              <a:buNone/>
            </a:pPr>
            <a:r>
              <a:rPr lang="en-US" sz="900" i="1" dirty="0">
                <a:solidFill>
                  <a:srgbClr val="4A6D87"/>
                </a:solidFill>
                <a:latin typeface="Calibri" pitchFamily="34" charset="0"/>
                <a:ea typeface="Calibri" pitchFamily="34" charset="-122"/>
                <a:cs typeface="Calibri" pitchFamily="34" charset="-120"/>
              </a:rPr>
              <a:t>All results are hypothesis-generating only. FAERS is a spontaneous reporting system — incidence and causality require validation in EHR or randomized data.</a:t>
            </a:r>
            <a:endParaRPr lang="en-US" sz="900" dirty="0"/>
          </a:p>
        </p:txBody>
      </p:sp>
      <p:sp>
        <p:nvSpPr>
          <p:cNvPr id="24" name="Text 22"/>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20 / 24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896"/>
          </a:solidFill>
          <a:ln w="12700">
            <a:solidFill>
              <a:srgbClr val="00A896"/>
            </a:solidFill>
            <a:prstDash val="solid"/>
          </a:ln>
        </p:spPr>
      </p:sp>
      <p:sp>
        <p:nvSpPr>
          <p:cNvPr id="3" name="Shape 1"/>
          <p:cNvSpPr/>
          <p:nvPr/>
        </p:nvSpPr>
        <p:spPr>
          <a:xfrm>
            <a:off x="365760" y="256032"/>
            <a:ext cx="1828800" cy="256032"/>
          </a:xfrm>
          <a:prstGeom prst="rect">
            <a:avLst/>
          </a:prstGeom>
          <a:solidFill>
            <a:srgbClr val="00A896"/>
          </a:solidFill>
          <a:ln w="12700">
            <a:solidFill>
              <a:srgbClr val="00A896"/>
            </a:solidFill>
            <a:prstDash val="solid"/>
          </a:ln>
        </p:spPr>
      </p:sp>
      <p:sp>
        <p:nvSpPr>
          <p:cNvPr id="4" name="Text 2"/>
          <p:cNvSpPr/>
          <p:nvPr/>
        </p:nvSpPr>
        <p:spPr>
          <a:xfrm>
            <a:off x="365760" y="256032"/>
            <a:ext cx="1828800" cy="256032"/>
          </a:xfrm>
          <a:prstGeom prst="rect">
            <a:avLst/>
          </a:prstGeom>
          <a:noFill/>
          <a:ln/>
        </p:spPr>
        <p:txBody>
          <a:bodyPr wrap="square" lIns="0" tIns="0" rIns="0" bIns="0" rtlCol="0" anchor="ctr"/>
          <a:lstStyle/>
          <a:p>
            <a:pPr algn="ctr" indent="0" marL="0">
              <a:buNone/>
            </a:pPr>
            <a:r>
              <a:rPr lang="en-US" sz="800" b="1" dirty="0">
                <a:solidFill>
                  <a:srgbClr val="0A1628"/>
                </a:solidFill>
              </a:rPr>
              <a:t>SECTION 6: SYNTHESIS</a:t>
            </a:r>
            <a:endParaRPr lang="en-US" sz="800" dirty="0"/>
          </a:p>
        </p:txBody>
      </p:sp>
      <p:sp>
        <p:nvSpPr>
          <p:cNvPr id="5" name="Text 3"/>
          <p:cNvSpPr/>
          <p:nvPr/>
        </p:nvSpPr>
        <p:spPr>
          <a:xfrm>
            <a:off x="365760" y="62179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Conclusion, Future Work &amp; Live Demo</a:t>
            </a:r>
            <a:endParaRPr lang="en-US" sz="2600" dirty="0"/>
          </a:p>
        </p:txBody>
      </p:sp>
      <p:sp>
        <p:nvSpPr>
          <p:cNvPr id="6" name="Shape 4"/>
          <p:cNvSpPr/>
          <p:nvPr/>
        </p:nvSpPr>
        <p:spPr>
          <a:xfrm>
            <a:off x="228600" y="1325880"/>
            <a:ext cx="4023360" cy="2103120"/>
          </a:xfrm>
          <a:prstGeom prst="rect">
            <a:avLst/>
          </a:prstGeom>
          <a:solidFill>
            <a:srgbClr val="0F2040"/>
          </a:solidFill>
          <a:ln w="12700">
            <a:solidFill>
              <a:srgbClr val="00A896"/>
            </a:solidFill>
            <a:prstDash val="solid"/>
          </a:ln>
        </p:spPr>
      </p:sp>
      <p:sp>
        <p:nvSpPr>
          <p:cNvPr id="7" name="Text 5"/>
          <p:cNvSpPr/>
          <p:nvPr/>
        </p:nvSpPr>
        <p:spPr>
          <a:xfrm>
            <a:off x="365760" y="1417320"/>
            <a:ext cx="3749040" cy="228600"/>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STUDY CONCLUSIONS</a:t>
            </a:r>
            <a:endParaRPr lang="en-US" sz="900" dirty="0"/>
          </a:p>
        </p:txBody>
      </p:sp>
      <p:sp>
        <p:nvSpPr>
          <p:cNvPr id="8" name="Shape 6"/>
          <p:cNvSpPr/>
          <p:nvPr/>
        </p:nvSpPr>
        <p:spPr>
          <a:xfrm>
            <a:off x="384048" y="1709928"/>
            <a:ext cx="91440" cy="91440"/>
          </a:xfrm>
          <a:prstGeom prst="ellipse">
            <a:avLst/>
          </a:prstGeom>
          <a:solidFill>
            <a:srgbClr val="02C39A"/>
          </a:solidFill>
          <a:ln w="12700">
            <a:solidFill>
              <a:srgbClr val="02C39A"/>
            </a:solidFill>
            <a:prstDash val="solid"/>
          </a:ln>
        </p:spPr>
      </p:sp>
      <p:sp>
        <p:nvSpPr>
          <p:cNvPr id="9" name="Text 7"/>
          <p:cNvSpPr/>
          <p:nvPr/>
        </p:nvSpPr>
        <p:spPr>
          <a:xfrm>
            <a:off x="512064" y="1673352"/>
            <a:ext cx="3566160" cy="25603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13 quarters of FAERS mined successfully</a:t>
            </a:r>
            <a:endParaRPr lang="en-US" sz="1000" dirty="0"/>
          </a:p>
        </p:txBody>
      </p:sp>
      <p:sp>
        <p:nvSpPr>
          <p:cNvPr id="10" name="Shape 8"/>
          <p:cNvSpPr/>
          <p:nvPr/>
        </p:nvSpPr>
        <p:spPr>
          <a:xfrm>
            <a:off x="384048" y="2011680"/>
            <a:ext cx="91440" cy="91440"/>
          </a:xfrm>
          <a:prstGeom prst="ellipse">
            <a:avLst/>
          </a:prstGeom>
          <a:solidFill>
            <a:srgbClr val="02C39A"/>
          </a:solidFill>
          <a:ln w="12700">
            <a:solidFill>
              <a:srgbClr val="02C39A"/>
            </a:solidFill>
            <a:prstDash val="solid"/>
          </a:ln>
        </p:spPr>
      </p:sp>
      <p:sp>
        <p:nvSpPr>
          <p:cNvPr id="11" name="Text 9"/>
          <p:cNvSpPr/>
          <p:nvPr/>
        </p:nvSpPr>
        <p:spPr>
          <a:xfrm>
            <a:off x="512064" y="1975104"/>
            <a:ext cx="3566160" cy="25603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Semaglutide &amp; Liraglutide: confirmed signals</a:t>
            </a:r>
            <a:endParaRPr lang="en-US" sz="1000" dirty="0"/>
          </a:p>
        </p:txBody>
      </p:sp>
      <p:sp>
        <p:nvSpPr>
          <p:cNvPr id="12" name="Shape 10"/>
          <p:cNvSpPr/>
          <p:nvPr/>
        </p:nvSpPr>
        <p:spPr>
          <a:xfrm>
            <a:off x="384048" y="2313432"/>
            <a:ext cx="91440" cy="91440"/>
          </a:xfrm>
          <a:prstGeom prst="ellipse">
            <a:avLst/>
          </a:prstGeom>
          <a:solidFill>
            <a:srgbClr val="02C39A"/>
          </a:solidFill>
          <a:ln w="12700">
            <a:solidFill>
              <a:srgbClr val="02C39A"/>
            </a:solidFill>
            <a:prstDash val="solid"/>
          </a:ln>
        </p:spPr>
      </p:sp>
      <p:sp>
        <p:nvSpPr>
          <p:cNvPr id="13" name="Text 11"/>
          <p:cNvSpPr/>
          <p:nvPr/>
        </p:nvSpPr>
        <p:spPr>
          <a:xfrm>
            <a:off x="512064" y="2276856"/>
            <a:ext cx="3566160" cy="25603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RF (96.4% recall) viable triage tool</a:t>
            </a:r>
            <a:endParaRPr lang="en-US" sz="1000" dirty="0"/>
          </a:p>
        </p:txBody>
      </p:sp>
      <p:sp>
        <p:nvSpPr>
          <p:cNvPr id="14" name="Shape 12"/>
          <p:cNvSpPr/>
          <p:nvPr/>
        </p:nvSpPr>
        <p:spPr>
          <a:xfrm>
            <a:off x="384048" y="2615184"/>
            <a:ext cx="91440" cy="91440"/>
          </a:xfrm>
          <a:prstGeom prst="ellipse">
            <a:avLst/>
          </a:prstGeom>
          <a:solidFill>
            <a:srgbClr val="02C39A"/>
          </a:solidFill>
          <a:ln w="12700">
            <a:solidFill>
              <a:srgbClr val="02C39A"/>
            </a:solidFill>
            <a:prstDash val="solid"/>
          </a:ln>
        </p:spPr>
      </p:sp>
      <p:sp>
        <p:nvSpPr>
          <p:cNvPr id="15" name="Text 13"/>
          <p:cNvSpPr/>
          <p:nvPr/>
        </p:nvSpPr>
        <p:spPr>
          <a:xfrm>
            <a:off x="512064" y="2578608"/>
            <a:ext cx="3566160" cy="25603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Critical risk cluster identified (n=2,718)</a:t>
            </a:r>
            <a:endParaRPr lang="en-US" sz="1000" dirty="0"/>
          </a:p>
        </p:txBody>
      </p:sp>
      <p:sp>
        <p:nvSpPr>
          <p:cNvPr id="16" name="Shape 14"/>
          <p:cNvSpPr/>
          <p:nvPr/>
        </p:nvSpPr>
        <p:spPr>
          <a:xfrm>
            <a:off x="384048" y="2916936"/>
            <a:ext cx="91440" cy="91440"/>
          </a:xfrm>
          <a:prstGeom prst="ellipse">
            <a:avLst/>
          </a:prstGeom>
          <a:solidFill>
            <a:srgbClr val="02C39A"/>
          </a:solidFill>
          <a:ln w="12700">
            <a:solidFill>
              <a:srgbClr val="02C39A"/>
            </a:solidFill>
            <a:prstDash val="solid"/>
          </a:ln>
        </p:spPr>
      </p:sp>
      <p:sp>
        <p:nvSpPr>
          <p:cNvPr id="17" name="Text 15"/>
          <p:cNvSpPr/>
          <p:nvPr/>
        </p:nvSpPr>
        <p:spPr>
          <a:xfrm>
            <a:off x="512064" y="2880360"/>
            <a:ext cx="3566160" cy="25603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Reporting bias (is_us) is the top predictor</a:t>
            </a:r>
            <a:endParaRPr lang="en-US" sz="1000" dirty="0"/>
          </a:p>
        </p:txBody>
      </p:sp>
      <p:sp>
        <p:nvSpPr>
          <p:cNvPr id="18" name="Shape 16"/>
          <p:cNvSpPr/>
          <p:nvPr/>
        </p:nvSpPr>
        <p:spPr>
          <a:xfrm>
            <a:off x="228600" y="3566160"/>
            <a:ext cx="4023360" cy="1298448"/>
          </a:xfrm>
          <a:prstGeom prst="rect">
            <a:avLst/>
          </a:prstGeom>
          <a:solidFill>
            <a:srgbClr val="0F2040"/>
          </a:solidFill>
          <a:ln w="12700">
            <a:solidFill>
              <a:srgbClr val="028090"/>
            </a:solidFill>
            <a:prstDash val="solid"/>
          </a:ln>
        </p:spPr>
      </p:sp>
      <p:sp>
        <p:nvSpPr>
          <p:cNvPr id="19" name="Text 17"/>
          <p:cNvSpPr/>
          <p:nvPr/>
        </p:nvSpPr>
        <p:spPr>
          <a:xfrm>
            <a:off x="365760" y="3657600"/>
            <a:ext cx="3749040" cy="228600"/>
          </a:xfrm>
          <a:prstGeom prst="rect">
            <a:avLst/>
          </a:prstGeom>
          <a:noFill/>
          <a:ln/>
        </p:spPr>
        <p:txBody>
          <a:bodyPr wrap="square" rtlCol="0" anchor="ctr"/>
          <a:lstStyle/>
          <a:p>
            <a:pPr indent="0" marL="0">
              <a:buNone/>
            </a:pPr>
            <a:r>
              <a:rPr lang="en-US" sz="900" b="1" spc="200" kern="0" dirty="0">
                <a:solidFill>
                  <a:srgbClr val="8BAFC8"/>
                </a:solidFill>
                <a:latin typeface="Calibri" pitchFamily="34" charset="0"/>
                <a:ea typeface="Calibri" pitchFamily="34" charset="-122"/>
                <a:cs typeface="Calibri" pitchFamily="34" charset="-120"/>
              </a:rPr>
              <a:t>FUTURE WORK</a:t>
            </a:r>
            <a:endParaRPr lang="en-US" sz="900" dirty="0"/>
          </a:p>
        </p:txBody>
      </p:sp>
      <p:sp>
        <p:nvSpPr>
          <p:cNvPr id="20" name="Shape 18"/>
          <p:cNvSpPr/>
          <p:nvPr/>
        </p:nvSpPr>
        <p:spPr>
          <a:xfrm>
            <a:off x="384048" y="3931920"/>
            <a:ext cx="82296" cy="82296"/>
          </a:xfrm>
          <a:prstGeom prst="ellipse">
            <a:avLst/>
          </a:prstGeom>
          <a:solidFill>
            <a:srgbClr val="8BAFC8"/>
          </a:solidFill>
          <a:ln w="12700">
            <a:solidFill>
              <a:srgbClr val="8BAFC8"/>
            </a:solidFill>
            <a:prstDash val="solid"/>
          </a:ln>
        </p:spPr>
      </p:sp>
      <p:sp>
        <p:nvSpPr>
          <p:cNvPr id="21" name="Text 19"/>
          <p:cNvSpPr/>
          <p:nvPr/>
        </p:nvSpPr>
        <p:spPr>
          <a:xfrm>
            <a:off x="502920" y="3904488"/>
            <a:ext cx="3566160" cy="219456"/>
          </a:xfrm>
          <a:prstGeom prst="rect">
            <a:avLst/>
          </a:prstGeom>
          <a:noFill/>
          <a:ln/>
        </p:spPr>
        <p:txBody>
          <a:bodyPr wrap="square" rtlCol="0" anchor="ctr"/>
          <a:lstStyle/>
          <a:p>
            <a:pPr indent="0" marL="0">
              <a:buNone/>
            </a:pPr>
            <a:r>
              <a:rPr lang="en-US" sz="950" dirty="0">
                <a:solidFill>
                  <a:srgbClr val="8BAFC8"/>
                </a:solidFill>
                <a:latin typeface="Calibri" pitchFamily="34" charset="0"/>
                <a:ea typeface="Calibri" pitchFamily="34" charset="-122"/>
                <a:cs typeface="Calibri" pitchFamily="34" charset="-120"/>
              </a:rPr>
              <a:t>Validate PRR signals in EHR/claims data</a:t>
            </a:r>
            <a:endParaRPr lang="en-US" sz="950" dirty="0"/>
          </a:p>
        </p:txBody>
      </p:sp>
      <p:sp>
        <p:nvSpPr>
          <p:cNvPr id="22" name="Shape 20"/>
          <p:cNvSpPr/>
          <p:nvPr/>
        </p:nvSpPr>
        <p:spPr>
          <a:xfrm>
            <a:off x="384048" y="4178808"/>
            <a:ext cx="82296" cy="82296"/>
          </a:xfrm>
          <a:prstGeom prst="ellipse">
            <a:avLst/>
          </a:prstGeom>
          <a:solidFill>
            <a:srgbClr val="8BAFC8"/>
          </a:solidFill>
          <a:ln w="12700">
            <a:solidFill>
              <a:srgbClr val="8BAFC8"/>
            </a:solidFill>
            <a:prstDash val="solid"/>
          </a:ln>
        </p:spPr>
      </p:sp>
      <p:sp>
        <p:nvSpPr>
          <p:cNvPr id="23" name="Text 21"/>
          <p:cNvSpPr/>
          <p:nvPr/>
        </p:nvSpPr>
        <p:spPr>
          <a:xfrm>
            <a:off x="502920" y="4151376"/>
            <a:ext cx="3566160" cy="219456"/>
          </a:xfrm>
          <a:prstGeom prst="rect">
            <a:avLst/>
          </a:prstGeom>
          <a:noFill/>
          <a:ln/>
        </p:spPr>
        <p:txBody>
          <a:bodyPr wrap="square" rtlCol="0" anchor="ctr"/>
          <a:lstStyle/>
          <a:p>
            <a:pPr indent="0" marL="0">
              <a:buNone/>
            </a:pPr>
            <a:r>
              <a:rPr lang="en-US" sz="950" dirty="0">
                <a:solidFill>
                  <a:srgbClr val="8BAFC8"/>
                </a:solidFill>
                <a:latin typeface="Calibri" pitchFamily="34" charset="0"/>
                <a:ea typeface="Calibri" pitchFamily="34" charset="-122"/>
                <a:cs typeface="Calibri" pitchFamily="34" charset="-120"/>
              </a:rPr>
              <a:t>Compute EBGM for Bayesian signal detection</a:t>
            </a:r>
            <a:endParaRPr lang="en-US" sz="950" dirty="0"/>
          </a:p>
        </p:txBody>
      </p:sp>
      <p:sp>
        <p:nvSpPr>
          <p:cNvPr id="24" name="Shape 22"/>
          <p:cNvSpPr/>
          <p:nvPr/>
        </p:nvSpPr>
        <p:spPr>
          <a:xfrm>
            <a:off x="384048" y="4425696"/>
            <a:ext cx="82296" cy="82296"/>
          </a:xfrm>
          <a:prstGeom prst="ellipse">
            <a:avLst/>
          </a:prstGeom>
          <a:solidFill>
            <a:srgbClr val="8BAFC8"/>
          </a:solidFill>
          <a:ln w="12700">
            <a:solidFill>
              <a:srgbClr val="8BAFC8"/>
            </a:solidFill>
            <a:prstDash val="solid"/>
          </a:ln>
        </p:spPr>
      </p:sp>
      <p:sp>
        <p:nvSpPr>
          <p:cNvPr id="25" name="Text 23"/>
          <p:cNvSpPr/>
          <p:nvPr/>
        </p:nvSpPr>
        <p:spPr>
          <a:xfrm>
            <a:off x="502920" y="4398264"/>
            <a:ext cx="3566160" cy="219456"/>
          </a:xfrm>
          <a:prstGeom prst="rect">
            <a:avLst/>
          </a:prstGeom>
          <a:noFill/>
          <a:ln/>
        </p:spPr>
        <p:txBody>
          <a:bodyPr wrap="square" rtlCol="0" anchor="ctr"/>
          <a:lstStyle/>
          <a:p>
            <a:pPr indent="0" marL="0">
              <a:buNone/>
            </a:pPr>
            <a:r>
              <a:rPr lang="en-US" sz="950" dirty="0">
                <a:solidFill>
                  <a:srgbClr val="8BAFC8"/>
                </a:solidFill>
                <a:latin typeface="Calibri" pitchFamily="34" charset="0"/>
                <a:ea typeface="Calibri" pitchFamily="34" charset="-122"/>
                <a:cs typeface="Calibri" pitchFamily="34" charset="-120"/>
              </a:rPr>
              <a:t>Add XGBoost + SHAP for better explainability</a:t>
            </a:r>
            <a:endParaRPr lang="en-US" sz="950" dirty="0"/>
          </a:p>
        </p:txBody>
      </p:sp>
      <p:sp>
        <p:nvSpPr>
          <p:cNvPr id="26" name="Shape 24"/>
          <p:cNvSpPr/>
          <p:nvPr/>
        </p:nvSpPr>
        <p:spPr>
          <a:xfrm>
            <a:off x="384048" y="4672584"/>
            <a:ext cx="82296" cy="82296"/>
          </a:xfrm>
          <a:prstGeom prst="ellipse">
            <a:avLst/>
          </a:prstGeom>
          <a:solidFill>
            <a:srgbClr val="8BAFC8"/>
          </a:solidFill>
          <a:ln w="12700">
            <a:solidFill>
              <a:srgbClr val="8BAFC8"/>
            </a:solidFill>
            <a:prstDash val="solid"/>
          </a:ln>
        </p:spPr>
      </p:sp>
      <p:sp>
        <p:nvSpPr>
          <p:cNvPr id="27" name="Text 25"/>
          <p:cNvSpPr/>
          <p:nvPr/>
        </p:nvSpPr>
        <p:spPr>
          <a:xfrm>
            <a:off x="502920" y="4645152"/>
            <a:ext cx="3566160" cy="219456"/>
          </a:xfrm>
          <a:prstGeom prst="rect">
            <a:avLst/>
          </a:prstGeom>
          <a:noFill/>
          <a:ln/>
        </p:spPr>
        <p:txBody>
          <a:bodyPr wrap="square" rtlCol="0" anchor="ctr"/>
          <a:lstStyle/>
          <a:p>
            <a:pPr indent="0" marL="0">
              <a:buNone/>
            </a:pPr>
            <a:r>
              <a:rPr lang="en-US" sz="950" dirty="0">
                <a:solidFill>
                  <a:srgbClr val="8BAFC8"/>
                </a:solidFill>
                <a:latin typeface="Calibri" pitchFamily="34" charset="0"/>
                <a:ea typeface="Calibri" pitchFamily="34" charset="-122"/>
                <a:cs typeface="Calibri" pitchFamily="34" charset="-120"/>
              </a:rPr>
              <a:t>Extend to 2026Q2 as data becomes available</a:t>
            </a:r>
            <a:endParaRPr lang="en-US" sz="950" dirty="0"/>
          </a:p>
        </p:txBody>
      </p:sp>
      <p:sp>
        <p:nvSpPr>
          <p:cNvPr id="28" name="Shape 26"/>
          <p:cNvSpPr/>
          <p:nvPr/>
        </p:nvSpPr>
        <p:spPr>
          <a:xfrm>
            <a:off x="4434840" y="1325880"/>
            <a:ext cx="4480560" cy="3538728"/>
          </a:xfrm>
          <a:prstGeom prst="rect">
            <a:avLst/>
          </a:prstGeom>
          <a:solidFill>
            <a:srgbClr val="0F2040"/>
          </a:solidFill>
          <a:ln w="12700">
            <a:solidFill>
              <a:srgbClr val="00A896"/>
            </a:solidFill>
            <a:prstDash val="solid"/>
          </a:ln>
        </p:spPr>
      </p:sp>
      <p:sp>
        <p:nvSpPr>
          <p:cNvPr id="29" name="Text 27"/>
          <p:cNvSpPr/>
          <p:nvPr/>
        </p:nvSpPr>
        <p:spPr>
          <a:xfrm>
            <a:off x="4572000" y="1417320"/>
            <a:ext cx="4114800" cy="256032"/>
          </a:xfrm>
          <a:prstGeom prst="rect">
            <a:avLst/>
          </a:prstGeom>
          <a:noFill/>
          <a:ln/>
        </p:spPr>
        <p:txBody>
          <a:bodyPr wrap="square" rtlCol="0" anchor="ctr"/>
          <a:lstStyle/>
          <a:p>
            <a:pPr indent="0" marL="0">
              <a:buNone/>
            </a:pPr>
            <a:r>
              <a:rPr lang="en-US" sz="900" b="1" spc="200" kern="0" dirty="0">
                <a:solidFill>
                  <a:srgbClr val="00A896"/>
                </a:solidFill>
                <a:latin typeface="Calibri" pitchFamily="34" charset="0"/>
                <a:ea typeface="Calibri" pitchFamily="34" charset="-122"/>
                <a:cs typeface="Calibri" pitchFamily="34" charset="-120"/>
              </a:rPr>
              <a:t>LIVE RISK SIMULATOR</a:t>
            </a:r>
            <a:endParaRPr lang="en-US" sz="900" dirty="0"/>
          </a:p>
        </p:txBody>
      </p:sp>
      <p:sp>
        <p:nvSpPr>
          <p:cNvPr id="30" name="Text 28"/>
          <p:cNvSpPr/>
          <p:nvPr/>
        </p:nvSpPr>
        <p:spPr>
          <a:xfrm>
            <a:off x="4617720" y="2377440"/>
            <a:ext cx="4023360" cy="457200"/>
          </a:xfrm>
          <a:prstGeom prst="rect">
            <a:avLst/>
          </a:prstGeom>
          <a:noFill/>
          <a:ln/>
        </p:spPr>
        <p:txBody>
          <a:bodyPr wrap="square" rtlCol="0" anchor="ctr"/>
          <a:lstStyle/>
          <a:p>
            <a:pPr algn="ctr" indent="0" marL="0">
              <a:buNone/>
            </a:pPr>
            <a:r>
              <a:rPr lang="en-US" sz="1200" dirty="0">
                <a:solidFill>
                  <a:srgbClr val="8BAFC8"/>
                </a:solidFill>
                <a:latin typeface="Calibri" pitchFamily="34" charset="0"/>
                <a:ea typeface="Calibri" pitchFamily="34" charset="-122"/>
                <a:cs typeface="Calibri" pitchFamily="34" charset="-120"/>
              </a:rPr>
              <a:t>(Dashboard screenshot placeholder)</a:t>
            </a:r>
            <a:endParaRPr lang="en-US" sz="1200" dirty="0"/>
          </a:p>
        </p:txBody>
      </p:sp>
      <p:sp>
        <p:nvSpPr>
          <p:cNvPr id="31" name="Text 29"/>
          <p:cNvSpPr/>
          <p:nvPr/>
        </p:nvSpPr>
        <p:spPr>
          <a:xfrm>
            <a:off x="4572000" y="4233672"/>
            <a:ext cx="4297680" cy="411480"/>
          </a:xfrm>
          <a:prstGeom prst="rect">
            <a:avLst/>
          </a:prstGeom>
          <a:noFill/>
          <a:ln/>
        </p:spPr>
        <p:txBody>
          <a:bodyPr wrap="square" rtlCol="0" anchor="ctr"/>
          <a:lstStyle/>
          <a:p>
            <a:pPr indent="0" marL="0">
              <a:buNone/>
            </a:pPr>
            <a:r>
              <a:rPr lang="en-US" sz="900" i="1" dirty="0">
                <a:solidFill>
                  <a:srgbClr val="8BAFC8"/>
                </a:solidFill>
                <a:latin typeface="Calibri" pitchFamily="34" charset="0"/>
                <a:ea typeface="Calibri" pitchFamily="34" charset="-122"/>
                <a:cs typeface="Calibri" pitchFamily="34" charset="-120"/>
              </a:rPr>
              <a:t>React-based interactive dashboard — clinicians input patient features and receive real-time severity prediction from the trained Random Forest model.</a:t>
            </a:r>
            <a:endParaRPr lang="en-US" sz="900" dirty="0"/>
          </a:p>
        </p:txBody>
      </p:sp>
      <p:sp>
        <p:nvSpPr>
          <p:cNvPr id="32" name="Shape 30"/>
          <p:cNvSpPr/>
          <p:nvPr/>
        </p:nvSpPr>
        <p:spPr>
          <a:xfrm>
            <a:off x="228600" y="4686300"/>
            <a:ext cx="8686800" cy="292608"/>
          </a:xfrm>
          <a:prstGeom prst="rect">
            <a:avLst/>
          </a:prstGeom>
          <a:solidFill>
            <a:srgbClr val="00A896"/>
          </a:solidFill>
          <a:ln w="12700">
            <a:solidFill>
              <a:srgbClr val="00A896"/>
            </a:solidFill>
            <a:prstDash val="solid"/>
          </a:ln>
        </p:spPr>
      </p:sp>
      <p:sp>
        <p:nvSpPr>
          <p:cNvPr id="33" name="Text 31"/>
          <p:cNvSpPr/>
          <p:nvPr/>
        </p:nvSpPr>
        <p:spPr>
          <a:xfrm>
            <a:off x="228600" y="4686300"/>
            <a:ext cx="8686800" cy="292608"/>
          </a:xfrm>
          <a:prstGeom prst="rect">
            <a:avLst/>
          </a:prstGeom>
          <a:noFill/>
          <a:ln/>
        </p:spPr>
        <p:txBody>
          <a:bodyPr wrap="square" lIns="0" tIns="0" rIns="0" bIns="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Thank you — Anukrithi Myadala  |  CMPE 255 Spring 2026  |  SJSU  |  Questions?</a:t>
            </a:r>
            <a:endParaRPr lang="en-US" sz="1000" dirty="0"/>
          </a:p>
        </p:txBody>
      </p:sp>
      <p:sp>
        <p:nvSpPr>
          <p:cNvPr id="34" name="Text 32"/>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21 / 24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2040"/>
          </a:solidFill>
          <a:ln w="12700">
            <a:solidFill>
              <a:srgbClr val="0F2040"/>
            </a:solidFill>
            <a:prstDash val="solid"/>
          </a:ln>
        </p:spPr>
      </p:sp>
      <p:sp>
        <p:nvSpPr>
          <p:cNvPr id="3" name="Text 1"/>
          <p:cNvSpPr/>
          <p:nvPr/>
        </p:nvSpPr>
        <p:spPr>
          <a:xfrm>
            <a:off x="365760" y="73152"/>
            <a:ext cx="841248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WAREHOUSE DESIGN (STAR SCHEMA)</a:t>
            </a:r>
            <a:endParaRPr lang="en-US" sz="2000" dirty="0"/>
          </a:p>
        </p:txBody>
      </p:sp>
      <p:pic>
        <p:nvPicPr>
          <p:cNvPr id="4" name="Image 0" descr="preencoded.png">    </p:cNvPr>
          <p:cNvPicPr>
            <a:picLocks noChangeAspect="1"/>
          </p:cNvPicPr>
          <p:nvPr/>
        </p:nvPicPr>
        <p:blipFill>
          <a:blip r:embed="rId1"/>
          <a:stretch>
            <a:fillRect/>
          </a:stretch>
        </p:blipFill>
        <p:spPr>
          <a:xfrm>
            <a:off x="548640" y="1188720"/>
            <a:ext cx="8046720" cy="4206240"/>
          </a:xfrm>
          <a:prstGeom prst="rect">
            <a:avLst/>
          </a:prstGeom>
        </p:spPr>
      </p:pic>
      <p:sp>
        <p:nvSpPr>
          <p:cNvPr id="5" name="Text 2"/>
          <p:cNvSpPr/>
          <p:nvPr/>
        </p:nvSpPr>
        <p:spPr>
          <a:xfrm>
            <a:off x="548640" y="5577840"/>
            <a:ext cx="8046720" cy="365760"/>
          </a:xfrm>
          <a:prstGeom prst="rect">
            <a:avLst/>
          </a:prstGeom>
          <a:noFill/>
          <a:ln/>
        </p:spPr>
        <p:txBody>
          <a:bodyPr wrap="square" rtlCol="0" anchor="ctr"/>
          <a:lstStyle/>
          <a:p>
            <a:pPr algn="ctr" indent="0" marL="0">
              <a:buNone/>
            </a:pPr>
            <a:r>
              <a:rPr lang="en-US" sz="1100" dirty="0">
                <a:solidFill>
                  <a:srgbClr val="8BAFC8"/>
                </a:solidFill>
                <a:latin typeface="Calibri" pitchFamily="34" charset="0"/>
                <a:ea typeface="Calibri" pitchFamily="34" charset="-122"/>
                <a:cs typeface="Calibri" pitchFamily="34" charset="-120"/>
              </a:rPr>
              <a:t>Fact table: adverse event case | Dimensions: patient, time, outcome, drug, reaction</a:t>
            </a:r>
            <a:endParaRPr lang="en-US" sz="1100" dirty="0"/>
          </a:p>
        </p:txBody>
      </p:sp>
      <p:sp>
        <p:nvSpPr>
          <p:cNvPr id="6" name="Text 3"/>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22 / 24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2040"/>
          </a:solidFill>
          <a:ln w="12700">
            <a:solidFill>
              <a:srgbClr val="0F2040"/>
            </a:solidFill>
            <a:prstDash val="solid"/>
          </a:ln>
        </p:spPr>
      </p:sp>
      <p:sp>
        <p:nvSpPr>
          <p:cNvPr id="3" name="Text 1"/>
          <p:cNvSpPr/>
          <p:nvPr/>
        </p:nvSpPr>
        <p:spPr>
          <a:xfrm>
            <a:off x="365760" y="73152"/>
            <a:ext cx="841248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MODEL EVALUATION &amp; PERFORMANCE</a:t>
            </a:r>
            <a:endParaRPr lang="en-US" sz="2000" dirty="0"/>
          </a:p>
        </p:txBody>
      </p:sp>
      <p:pic>
        <p:nvPicPr>
          <p:cNvPr id="4" name="Image 0" descr="preencoded.png">    </p:cNvPr>
          <p:cNvPicPr>
            <a:picLocks noChangeAspect="1"/>
          </p:cNvPicPr>
          <p:nvPr/>
        </p:nvPicPr>
        <p:blipFill>
          <a:blip r:embed="rId1"/>
          <a:stretch>
            <a:fillRect/>
          </a:stretch>
        </p:blipFill>
        <p:spPr>
          <a:xfrm>
            <a:off x="548640" y="1188720"/>
            <a:ext cx="4023360" cy="4206240"/>
          </a:xfrm>
          <a:prstGeom prst="rect">
            <a:avLst/>
          </a:prstGeom>
        </p:spPr>
      </p:pic>
      <p:pic>
        <p:nvPicPr>
          <p:cNvPr id="5" name="Image 1" descr="preencoded.png">    </p:cNvPr>
          <p:cNvPicPr>
            <a:picLocks noChangeAspect="1"/>
          </p:cNvPicPr>
          <p:nvPr/>
        </p:nvPicPr>
        <p:blipFill>
          <a:blip r:embed="rId2"/>
          <a:stretch>
            <a:fillRect/>
          </a:stretch>
        </p:blipFill>
        <p:spPr>
          <a:xfrm>
            <a:off x="4754880" y="1188720"/>
            <a:ext cx="3931920" cy="4206240"/>
          </a:xfrm>
          <a:prstGeom prst="rect">
            <a:avLst/>
          </a:prstGeom>
        </p:spPr>
      </p:pic>
      <p:sp>
        <p:nvSpPr>
          <p:cNvPr id="6" name="Text 2"/>
          <p:cNvSpPr/>
          <p:nvPr/>
        </p:nvSpPr>
        <p:spPr>
          <a:xfrm>
            <a:off x="548640" y="5577840"/>
            <a:ext cx="8046720" cy="365760"/>
          </a:xfrm>
          <a:prstGeom prst="rect">
            <a:avLst/>
          </a:prstGeom>
          <a:noFill/>
          <a:ln/>
        </p:spPr>
        <p:txBody>
          <a:bodyPr wrap="square" rtlCol="0" anchor="ctr"/>
          <a:lstStyle/>
          <a:p>
            <a:pPr algn="ctr" indent="0" marL="0">
              <a:buNone/>
            </a:pPr>
            <a:r>
              <a:rPr lang="en-US" sz="1100" dirty="0">
                <a:solidFill>
                  <a:srgbClr val="8BAFC8"/>
                </a:solidFill>
                <a:latin typeface="Calibri" pitchFamily="34" charset="0"/>
                <a:ea typeface="Calibri" pitchFamily="34" charset="-122"/>
                <a:cs typeface="Calibri" pitchFamily="34" charset="-120"/>
              </a:rPr>
              <a:t>Threshold‑tuned Random Forest prioritized sensitivity for rare severe events.</a:t>
            </a:r>
            <a:endParaRPr lang="en-US" sz="1100" dirty="0"/>
          </a:p>
        </p:txBody>
      </p:sp>
      <p:sp>
        <p:nvSpPr>
          <p:cNvPr id="7" name="Text 3"/>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23 / 24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F2040"/>
          </a:solidFill>
          <a:ln w="12700">
            <a:solidFill>
              <a:srgbClr val="0F2040"/>
            </a:solidFill>
            <a:prstDash val="solid"/>
          </a:ln>
        </p:spPr>
      </p:sp>
      <p:sp>
        <p:nvSpPr>
          <p:cNvPr id="3" name="Text 1"/>
          <p:cNvSpPr/>
          <p:nvPr/>
        </p:nvSpPr>
        <p:spPr>
          <a:xfrm>
            <a:off x="365760" y="73152"/>
            <a:ext cx="841248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VISUAL SUMMARY — KEY FINDINGS</a:t>
            </a:r>
            <a:endParaRPr lang="en-US" sz="2000" dirty="0"/>
          </a:p>
        </p:txBody>
      </p:sp>
      <p:pic>
        <p:nvPicPr>
          <p:cNvPr id="4" name="Image 0" descr="preencoded.png">    </p:cNvPr>
          <p:cNvPicPr>
            <a:picLocks noChangeAspect="1"/>
          </p:cNvPicPr>
          <p:nvPr/>
        </p:nvPicPr>
        <p:blipFill>
          <a:blip r:embed="rId1"/>
          <a:stretch>
            <a:fillRect/>
          </a:stretch>
        </p:blipFill>
        <p:spPr>
          <a:xfrm>
            <a:off x="365760" y="1005840"/>
            <a:ext cx="8412480" cy="5120640"/>
          </a:xfrm>
          <a:prstGeom prst="rect">
            <a:avLst/>
          </a:prstGeom>
        </p:spPr>
      </p:pic>
      <p:sp>
        <p:nvSpPr>
          <p:cNvPr id="5" name="Text 2"/>
          <p:cNvSpPr/>
          <p:nvPr/>
        </p:nvSpPr>
        <p:spPr>
          <a:xfrm>
            <a:off x="8229600" y="4850892"/>
            <a:ext cx="731520" cy="201168"/>
          </a:xfrm>
          <a:prstGeom prst="rect">
            <a:avLst/>
          </a:prstGeom>
          <a:noFill/>
          <a:ln/>
        </p:spPr>
        <p:txBody>
          <a:bodyPr wrap="square" rtlCol="0" anchor="ctr"/>
          <a:lstStyle/>
          <a:p>
            <a:pPr algn="r" indent="0" marL="0">
              <a:buNone/>
            </a:pPr>
            <a:r>
              <a:rPr lang="en-US" sz="800" dirty="0">
                <a:solidFill>
                  <a:srgbClr val="4A6D87"/>
                </a:solidFill>
              </a:rPr>
              <a:t>24 / 24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GLP-1 FAERS Adverse Event Study — CMPE 255</dc:title>
  <dc:subject>PptxGenJS Presentation</dc:subject>
  <dc:creator>Anukrithi Myadala</dc:creator>
  <cp:lastModifiedBy>Anukrithi Myadala</cp:lastModifiedBy>
  <cp:revision>1</cp:revision>
  <dcterms:created xsi:type="dcterms:W3CDTF">2026-05-05T18:07:19Z</dcterms:created>
  <dcterms:modified xsi:type="dcterms:W3CDTF">2026-05-05T18:07:19Z</dcterms:modified>
</cp:coreProperties>
</file>